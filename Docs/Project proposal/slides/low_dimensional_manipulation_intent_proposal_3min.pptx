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Hi everyone. My project asks one question: how much information does a high-level intent need to carry to a dexterous robot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I split dexterous manipulation into three layers. At the top, a planner such as an LLM or VLM decides what to do, and it is slow. At the bottom, an RL controller moves sixteen finger joints at thirty hertz or more. The open question is what the middle layer should carry. So I ask two questions. First, how many dimensions of intent does the controller need, and should they describe the hand or the object? Second, does that budget grow when the goal is hidden and contact gets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Recent systems each pick one interface. On the hand side, DexUMI transfers full hand pose, TypeTele lets an LLM choose among manipulation types, and CrossDex uses eigengrasps as a shared action space. On the object side, Human2Sim2Robot and LUCID pass object motion plus a palm pose. InDex goes to the extreme with a single progress scalar. But each system fixes one representation. Nobody has swept the content and the dimension of the interface under the same controller. That is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I first train an expert that sees the goal. At every step, I query it on the student’s own state and compress its output in two ways. Hand intent is the PCA projection of the expert’s finger action. Object intent is a cube sub-goal or a progress value. In the main setting the student cannot see the goal, so the intent is its only source of task information. I sweep k from zero to sixteen. This avoids aligning offline human recordings with simulation. Human hand data from a camera is used only to build a human synergy basis, which I compare against the robot’s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The main metric is recovery: how much of the gap between no intent and seeing the goal each condition closes. I also report success rate, steps to reach 80 percent of the expert, and learning-curve area, over three seeds. The deliverable is a curve like this one. Where it bends tells us how much information the interface actually needs, for hand intent versus object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The final report is due the week of December first, so I have about nine weeks. The first two set up the environment and the expert. Stage one, by October twenty-fifth, is the must-finish core: hand versus object intent at a few values of k. Stage two hides the goal and runs the full sweep, and the last two weeks are for writing. Slow intent updates and an LLM planner are future work. The result would be a measured information budget for the interface between a planner and a dexterous hand.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33"/>
        </a:solidFill>
      </p:bgPr>
    </p:bg>
    <p:spTree>
      <p:nvGrpSpPr>
        <p:cNvPr id="1" name=""/>
        <p:cNvGrpSpPr/>
        <p:nvPr/>
      </p:nvGrpSpPr>
      <p:grpSpPr>
        <a:xfrm>
          <a:off x="0" y="0"/>
          <a:ext cx="0" cy="0"/>
          <a:chOff x="0" y="0"/>
          <a:chExt cx="0" cy="0"/>
        </a:xfrm>
      </p:grpSpPr>
      <p:sp>
        <p:nvSpPr>
          <p:cNvPr id="2" name="Text 0"/>
          <p:cNvSpPr txBox="1"/>
          <p:nvPr/>
        </p:nvSpPr>
        <p:spPr>
          <a:xfrm>
            <a:off x="548640" y="685800"/>
            <a:ext cx="5120640" cy="91440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LOW-DIMENSIONAL</a:t>
            </a:r>
            <a:endParaRPr lang="en-US" sz="2800" dirty="0"/>
          </a:p>
          <a:p>
            <a:pPr indent="0" marL="0">
              <a:buNone/>
            </a:pPr>
            <a:r>
              <a:rPr lang="en-US" sz="2800" b="1" dirty="0">
                <a:solidFill>
                  <a:srgbClr val="FFFFFF"/>
                </a:solidFill>
                <a:latin typeface="Arial" pitchFamily="34" charset="0"/>
                <a:ea typeface="Arial" pitchFamily="34" charset="-122"/>
                <a:cs typeface="Arial" pitchFamily="34" charset="-120"/>
              </a:rPr>
              <a:t>MANIPULATION INTENT</a:t>
            </a:r>
            <a:endParaRPr lang="en-US" sz="2800" dirty="0"/>
          </a:p>
        </p:txBody>
      </p:sp>
      <p:sp>
        <p:nvSpPr>
          <p:cNvPr id="3" name="Text 1"/>
          <p:cNvSpPr txBox="1"/>
          <p:nvPr/>
        </p:nvSpPr>
        <p:spPr>
          <a:xfrm>
            <a:off x="548640" y="1691640"/>
            <a:ext cx="5120640" cy="274320"/>
          </a:xfrm>
          <a:prstGeom prst="rect">
            <a:avLst/>
          </a:prstGeom>
          <a:noFill/>
          <a:ln/>
        </p:spPr>
        <p:txBody>
          <a:bodyPr wrap="square" lIns="0" tIns="0" rIns="0" bIns="0" rtlCol="0" anchor="ctr"/>
          <a:lstStyle/>
          <a:p>
            <a:pPr indent="0" marL="0">
              <a:buNone/>
            </a:pPr>
            <a:r>
              <a:rPr lang="en-US" sz="1300" dirty="0">
                <a:solidFill>
                  <a:srgbClr val="34D5E5"/>
                </a:solidFill>
                <a:latin typeface="Arial" pitchFamily="34" charset="0"/>
                <a:ea typeface="Arial" pitchFamily="34" charset="-122"/>
                <a:cs typeface="Arial" pitchFamily="34" charset="-120"/>
              </a:rPr>
              <a:t>An information budget for hierarchical dexterous control</a:t>
            </a:r>
            <a:endParaRPr lang="en-US" sz="1300" dirty="0"/>
          </a:p>
        </p:txBody>
      </p:sp>
      <p:sp>
        <p:nvSpPr>
          <p:cNvPr id="4" name="Text 2"/>
          <p:cNvSpPr txBox="1"/>
          <p:nvPr/>
        </p:nvSpPr>
        <p:spPr>
          <a:xfrm>
            <a:off x="548640" y="2331720"/>
            <a:ext cx="4937760" cy="6858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How much information must a high-level intent carry to a dexterous controller?</a:t>
            </a:r>
            <a:endParaRPr lang="en-US" sz="1700" dirty="0"/>
          </a:p>
        </p:txBody>
      </p:sp>
      <p:sp>
        <p:nvSpPr>
          <p:cNvPr id="5" name="Shape 3"/>
          <p:cNvSpPr/>
          <p:nvPr/>
        </p:nvSpPr>
        <p:spPr>
          <a:xfrm>
            <a:off x="548640" y="3200400"/>
            <a:ext cx="4846320" cy="0"/>
          </a:xfrm>
          <a:prstGeom prst="line">
            <a:avLst/>
          </a:prstGeom>
          <a:noFill/>
          <a:ln w="9525">
            <a:solidFill>
              <a:srgbClr val="FF8A5B"/>
            </a:solidFill>
            <a:prstDash val="solid"/>
          </a:ln>
        </p:spPr>
      </p:sp>
      <p:sp>
        <p:nvSpPr>
          <p:cNvPr id="6" name="Text 4"/>
          <p:cNvSpPr txBox="1"/>
          <p:nvPr/>
        </p:nvSpPr>
        <p:spPr>
          <a:xfrm>
            <a:off x="548640" y="3383280"/>
            <a:ext cx="4846320" cy="548640"/>
          </a:xfrm>
          <a:prstGeom prst="rect">
            <a:avLst/>
          </a:prstGeom>
          <a:noFill/>
          <a:ln/>
        </p:spPr>
        <p:txBody>
          <a:bodyPr wrap="square" lIns="0" tIns="0" rIns="0" bIns="0" rtlCol="0" anchor="ctr"/>
          <a:lstStyle/>
          <a:p>
            <a:pPr indent="0" marL="0">
              <a:buNone/>
            </a:pPr>
            <a:r>
              <a:rPr lang="en-US" sz="1100" dirty="0">
                <a:solidFill>
                  <a:srgbClr val="C7D2EA"/>
                </a:solidFill>
                <a:latin typeface="Arial" pitchFamily="34" charset="0"/>
                <a:ea typeface="Arial" pitchFamily="34" charset="-122"/>
                <a:cs typeface="Arial" pitchFamily="34" charset="-120"/>
              </a:rPr>
              <a:t>Planners such as LLMs and VLMs can say what to do. We measure how compact the signal they pass to a 16-DoF controller can be.</a:t>
            </a:r>
            <a:endParaRPr lang="en-US" sz="1100" dirty="0"/>
          </a:p>
        </p:txBody>
      </p:sp>
      <p:sp>
        <p:nvSpPr>
          <p:cNvPr id="7" name="Text 5"/>
          <p:cNvSpPr txBox="1"/>
          <p:nvPr/>
        </p:nvSpPr>
        <p:spPr>
          <a:xfrm>
            <a:off x="548640" y="4526280"/>
            <a:ext cx="2743200" cy="228600"/>
          </a:xfrm>
          <a:prstGeom prst="rect">
            <a:avLst/>
          </a:prstGeom>
          <a:noFill/>
          <a:ln/>
        </p:spPr>
        <p:txBody>
          <a:bodyPr wrap="square" lIns="0" tIns="0" rIns="0" bIns="0" rtlCol="0" anchor="ctr"/>
          <a:lstStyle/>
          <a:p>
            <a:pPr indent="0" marL="0">
              <a:buNone/>
            </a:pPr>
            <a:r>
              <a:rPr lang="en-US" sz="900" b="1" dirty="0">
                <a:solidFill>
                  <a:srgbClr val="8EA3CA"/>
                </a:solidFill>
                <a:latin typeface="Arial" pitchFamily="34" charset="0"/>
                <a:ea typeface="Arial" pitchFamily="34" charset="-122"/>
                <a:cs typeface="Arial" pitchFamily="34" charset="-120"/>
              </a:rPr>
              <a:t>Proposal · 3-minute pitch</a:t>
            </a:r>
            <a:endParaRPr lang="en-US" sz="900" dirty="0"/>
          </a:p>
        </p:txBody>
      </p:sp>
      <p:sp>
        <p:nvSpPr>
          <p:cNvPr id="8" name="Shape 6"/>
          <p:cNvSpPr/>
          <p:nvPr/>
        </p:nvSpPr>
        <p:spPr>
          <a:xfrm>
            <a:off x="6309360" y="731520"/>
            <a:ext cx="2103120" cy="685800"/>
          </a:xfrm>
          <a:prstGeom prst="roundRect">
            <a:avLst>
              <a:gd name="adj" fmla="val 10667"/>
            </a:avLst>
          </a:prstGeom>
          <a:solidFill>
            <a:srgbClr val="182A54"/>
          </a:solidFill>
          <a:ln w="12700">
            <a:solidFill>
              <a:srgbClr val="36528B"/>
            </a:solidFill>
            <a:prstDash val="solid"/>
          </a:ln>
        </p:spPr>
      </p:sp>
      <p:sp>
        <p:nvSpPr>
          <p:cNvPr id="9" name="Text 7"/>
          <p:cNvSpPr txBox="1"/>
          <p:nvPr/>
        </p:nvSpPr>
        <p:spPr>
          <a:xfrm>
            <a:off x="6309360" y="731520"/>
            <a:ext cx="210312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PLANNER</a:t>
            </a:r>
            <a:endParaRPr lang="en-US" sz="1200" dirty="0"/>
          </a:p>
          <a:p>
            <a:pPr algn="ctr" indent="0" marL="0">
              <a:buNone/>
            </a:pPr>
            <a:r>
              <a:rPr lang="en-US" sz="950" dirty="0">
                <a:solidFill>
                  <a:srgbClr val="9CB0D7"/>
                </a:solidFill>
                <a:latin typeface="Arial" pitchFamily="34" charset="0"/>
                <a:ea typeface="Arial" pitchFamily="34" charset="-122"/>
                <a:cs typeface="Arial" pitchFamily="34" charset="-120"/>
              </a:rPr>
              <a:t>LLM / VLM · slow</a:t>
            </a:r>
            <a:endParaRPr lang="en-US" sz="1200" dirty="0"/>
          </a:p>
        </p:txBody>
      </p:sp>
      <p:sp>
        <p:nvSpPr>
          <p:cNvPr id="10" name="Shape 8"/>
          <p:cNvSpPr/>
          <p:nvPr/>
        </p:nvSpPr>
        <p:spPr>
          <a:xfrm>
            <a:off x="7360920" y="1417320"/>
            <a:ext cx="0" cy="457200"/>
          </a:xfrm>
          <a:prstGeom prst="line">
            <a:avLst/>
          </a:prstGeom>
          <a:noFill/>
          <a:ln w="15875">
            <a:solidFill>
              <a:srgbClr val="34D5E5"/>
            </a:solidFill>
            <a:prstDash val="solid"/>
            <a:tailEnd type="triangle"/>
          </a:ln>
        </p:spPr>
      </p:sp>
      <p:sp>
        <p:nvSpPr>
          <p:cNvPr id="11" name="Shape 9"/>
          <p:cNvSpPr/>
          <p:nvPr/>
        </p:nvSpPr>
        <p:spPr>
          <a:xfrm>
            <a:off x="6309360" y="1874520"/>
            <a:ext cx="2103120" cy="685800"/>
          </a:xfrm>
          <a:prstGeom prst="roundRect">
            <a:avLst>
              <a:gd name="adj" fmla="val 10667"/>
            </a:avLst>
          </a:prstGeom>
          <a:solidFill>
            <a:srgbClr val="FF8A5B"/>
          </a:solidFill>
          <a:ln w="12700">
            <a:solidFill>
              <a:srgbClr val="FF8A5B"/>
            </a:solidFill>
            <a:prstDash val="solid"/>
          </a:ln>
        </p:spPr>
      </p:sp>
      <p:sp>
        <p:nvSpPr>
          <p:cNvPr id="12" name="Text 10"/>
          <p:cNvSpPr txBox="1"/>
          <p:nvPr/>
        </p:nvSpPr>
        <p:spPr>
          <a:xfrm>
            <a:off x="6309360" y="1874520"/>
            <a:ext cx="2103120" cy="685800"/>
          </a:xfrm>
          <a:prstGeom prst="rect">
            <a:avLst/>
          </a:prstGeom>
          <a:noFill/>
          <a:ln/>
        </p:spPr>
        <p:txBody>
          <a:bodyPr wrap="square" lIns="0" tIns="0" rIns="0" bIns="0" rtlCol="0" anchor="ctr"/>
          <a:lstStyle/>
          <a:p>
            <a:pPr algn="ctr" indent="0" marL="0">
              <a:buNone/>
            </a:pPr>
            <a:r>
              <a:rPr lang="en-US" sz="1200" b="1" dirty="0">
                <a:solidFill>
                  <a:srgbClr val="0B1633"/>
                </a:solidFill>
                <a:latin typeface="Arial" pitchFamily="34" charset="0"/>
                <a:ea typeface="Arial" pitchFamily="34" charset="-122"/>
                <a:cs typeface="Arial" pitchFamily="34" charset="-120"/>
              </a:rPr>
              <a:t>INTENT</a:t>
            </a:r>
            <a:endParaRPr lang="en-US" sz="1200" dirty="0"/>
          </a:p>
          <a:p>
            <a:pPr algn="ctr" indent="0" marL="0">
              <a:buNone/>
            </a:pPr>
            <a:r>
              <a:rPr lang="en-US" sz="950" dirty="0">
                <a:solidFill>
                  <a:srgbClr val="0B1633"/>
                </a:solidFill>
                <a:latin typeface="Arial" pitchFamily="34" charset="0"/>
                <a:ea typeface="Arial" pitchFamily="34" charset="-122"/>
                <a:cs typeface="Arial" pitchFamily="34" charset="-120"/>
              </a:rPr>
              <a:t>k dimensions · f Hz</a:t>
            </a:r>
            <a:endParaRPr lang="en-US" sz="1200" dirty="0"/>
          </a:p>
        </p:txBody>
      </p:sp>
      <p:sp>
        <p:nvSpPr>
          <p:cNvPr id="13" name="Shape 11"/>
          <p:cNvSpPr/>
          <p:nvPr/>
        </p:nvSpPr>
        <p:spPr>
          <a:xfrm>
            <a:off x="7360920" y="2560320"/>
            <a:ext cx="0" cy="457200"/>
          </a:xfrm>
          <a:prstGeom prst="line">
            <a:avLst/>
          </a:prstGeom>
          <a:noFill/>
          <a:ln w="15875">
            <a:solidFill>
              <a:srgbClr val="34D5E5"/>
            </a:solidFill>
            <a:prstDash val="solid"/>
            <a:tailEnd type="triangle"/>
          </a:ln>
        </p:spPr>
      </p:sp>
      <p:sp>
        <p:nvSpPr>
          <p:cNvPr id="14" name="Shape 12"/>
          <p:cNvSpPr/>
          <p:nvPr/>
        </p:nvSpPr>
        <p:spPr>
          <a:xfrm>
            <a:off x="6309360" y="3017520"/>
            <a:ext cx="2103120" cy="685800"/>
          </a:xfrm>
          <a:prstGeom prst="roundRect">
            <a:avLst>
              <a:gd name="adj" fmla="val 10667"/>
            </a:avLst>
          </a:prstGeom>
          <a:solidFill>
            <a:srgbClr val="182A54"/>
          </a:solidFill>
          <a:ln w="12700">
            <a:solidFill>
              <a:srgbClr val="36528B"/>
            </a:solidFill>
            <a:prstDash val="solid"/>
          </a:ln>
        </p:spPr>
      </p:sp>
      <p:sp>
        <p:nvSpPr>
          <p:cNvPr id="15" name="Text 13"/>
          <p:cNvSpPr txBox="1"/>
          <p:nvPr/>
        </p:nvSpPr>
        <p:spPr>
          <a:xfrm>
            <a:off x="6309360" y="3017520"/>
            <a:ext cx="210312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ACTION</a:t>
            </a:r>
            <a:endParaRPr lang="en-US" sz="1200" dirty="0"/>
          </a:p>
          <a:p>
            <a:pPr algn="ctr" indent="0" marL="0">
              <a:buNone/>
            </a:pPr>
            <a:r>
              <a:rPr lang="en-US" sz="950" dirty="0">
                <a:solidFill>
                  <a:srgbClr val="9CB0D7"/>
                </a:solidFill>
                <a:latin typeface="Arial" pitchFamily="34" charset="0"/>
                <a:ea typeface="Arial" pitchFamily="34" charset="-122"/>
                <a:cs typeface="Arial" pitchFamily="34" charset="-120"/>
              </a:rPr>
              <a:t>RL policy · 16-DoF Allegro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02920"/>
          </a:xfrm>
          <a:prstGeom prst="rect">
            <a:avLst/>
          </a:prstGeom>
          <a:noFill/>
          <a:ln/>
        </p:spPr>
        <p:txBody>
          <a:bodyPr wrap="square" lIns="0" tIns="0" rIns="0" bIns="0" rtlCol="0" anchor="ctr"/>
          <a:lstStyle/>
          <a:p>
            <a:pPr indent="0" marL="0">
              <a:buNone/>
            </a:pPr>
            <a:r>
              <a:rPr lang="en-US" sz="2100" b="1" dirty="0">
                <a:solidFill>
                  <a:srgbClr val="17213A"/>
                </a:solidFill>
                <a:latin typeface="Arial" pitchFamily="34" charset="0"/>
                <a:ea typeface="Arial" pitchFamily="34" charset="-122"/>
                <a:cs typeface="Arial" pitchFamily="34" charset="-120"/>
              </a:rPr>
              <a:t>Problem: what should the intent interface carry?</a:t>
            </a:r>
            <a:endParaRPr lang="en-US" sz="2100" dirty="0"/>
          </a:p>
        </p:txBody>
      </p:sp>
      <p:sp>
        <p:nvSpPr>
          <p:cNvPr id="3" name="Text 1"/>
          <p:cNvSpPr txBox="1"/>
          <p:nvPr/>
        </p:nvSpPr>
        <p:spPr>
          <a:xfrm>
            <a:off x="8321040" y="274320"/>
            <a:ext cx="365760" cy="274320"/>
          </a:xfrm>
          <a:prstGeom prst="rect">
            <a:avLst/>
          </a:prstGeom>
          <a:noFill/>
          <a:ln/>
        </p:spPr>
        <p:txBody>
          <a:bodyPr wrap="square" lIns="0" tIns="0" rIns="0" bIns="0" rtlCol="0" anchor="ctr"/>
          <a:lstStyle/>
          <a:p>
            <a:pPr algn="r" indent="0" marL="0">
              <a:buNone/>
            </a:pPr>
            <a:r>
              <a:rPr lang="en-US" sz="800" b="1" dirty="0">
                <a:solidFill>
                  <a:srgbClr val="2C67F2"/>
                </a:solidFill>
                <a:latin typeface="Arial" pitchFamily="34" charset="0"/>
                <a:ea typeface="Arial" pitchFamily="34" charset="-122"/>
                <a:cs typeface="Arial" pitchFamily="34" charset="-120"/>
              </a:rPr>
              <a:t>01</a:t>
            </a:r>
            <a:endParaRPr lang="en-US" sz="800" dirty="0"/>
          </a:p>
        </p:txBody>
      </p:sp>
      <p:sp>
        <p:nvSpPr>
          <p:cNvPr id="4" name="Shape 2"/>
          <p:cNvSpPr/>
          <p:nvPr/>
        </p:nvSpPr>
        <p:spPr>
          <a:xfrm>
            <a:off x="457200" y="960120"/>
            <a:ext cx="2331720" cy="960120"/>
          </a:xfrm>
          <a:prstGeom prst="roundRect">
            <a:avLst>
              <a:gd name="adj" fmla="val 7619"/>
            </a:avLst>
          </a:prstGeom>
          <a:solidFill>
            <a:srgbClr val="EAF0FF"/>
          </a:solidFill>
          <a:ln w="12700">
            <a:solidFill>
              <a:srgbClr val="2C67F2"/>
            </a:solidFill>
            <a:prstDash val="solid"/>
          </a:ln>
        </p:spPr>
      </p:sp>
      <p:sp>
        <p:nvSpPr>
          <p:cNvPr id="5" name="Text 3"/>
          <p:cNvSpPr txBox="1"/>
          <p:nvPr/>
        </p:nvSpPr>
        <p:spPr>
          <a:xfrm>
            <a:off x="457200" y="960120"/>
            <a:ext cx="2331720" cy="960120"/>
          </a:xfrm>
          <a:prstGeom prst="rect">
            <a:avLst/>
          </a:prstGeom>
          <a:noFill/>
          <a:ln/>
        </p:spPr>
        <p:txBody>
          <a:bodyPr wrap="square" lIns="0" tIns="0" rIns="0" bIns="0" rtlCol="0" anchor="ctr"/>
          <a:lstStyle/>
          <a:p>
            <a:pPr algn="ctr" indent="0" marL="0">
              <a:buNone/>
            </a:pPr>
            <a:r>
              <a:rPr lang="en-US" sz="1300" b="1" dirty="0">
                <a:solidFill>
                  <a:srgbClr val="17213A"/>
                </a:solidFill>
                <a:latin typeface="Arial" pitchFamily="34" charset="0"/>
                <a:ea typeface="Arial" pitchFamily="34" charset="-122"/>
                <a:cs typeface="Arial" pitchFamily="34" charset="-120"/>
              </a:rPr>
              <a:t>High-level planner</a:t>
            </a:r>
            <a:endParaRPr lang="en-US" sz="1300" dirty="0"/>
          </a:p>
          <a:p>
            <a:pPr algn="ctr" indent="0" marL="0">
              <a:buNone/>
            </a:pPr>
            <a:r>
              <a:rPr lang="en-US" sz="1050" dirty="0">
                <a:solidFill>
                  <a:srgbClr val="62708D"/>
                </a:solidFill>
                <a:latin typeface="Arial" pitchFamily="34" charset="0"/>
                <a:ea typeface="Arial" pitchFamily="34" charset="-122"/>
                <a:cs typeface="Arial" pitchFamily="34" charset="-120"/>
              </a:rPr>
              <a:t>LLM / VLM</a:t>
            </a:r>
            <a:endParaRPr lang="en-US" sz="1300" dirty="0"/>
          </a:p>
        </p:txBody>
      </p:sp>
      <p:sp>
        <p:nvSpPr>
          <p:cNvPr id="6" name="Text 4"/>
          <p:cNvSpPr txBox="1"/>
          <p:nvPr/>
        </p:nvSpPr>
        <p:spPr>
          <a:xfrm>
            <a:off x="457200" y="2011680"/>
            <a:ext cx="2331720" cy="228600"/>
          </a:xfrm>
          <a:prstGeom prst="rect">
            <a:avLst/>
          </a:prstGeom>
          <a:noFill/>
          <a:ln/>
        </p:spPr>
        <p:txBody>
          <a:bodyPr wrap="square" lIns="0" tIns="0" rIns="0" bIns="0" rtlCol="0" anchor="ctr"/>
          <a:lstStyle/>
          <a:p>
            <a:pPr algn="ctr" indent="0" marL="0">
              <a:buNone/>
            </a:pPr>
            <a:r>
              <a:rPr lang="en-US" sz="950" b="1" dirty="0">
                <a:solidFill>
                  <a:srgbClr val="2C67F2"/>
                </a:solidFill>
                <a:latin typeface="Arial" pitchFamily="34" charset="0"/>
                <a:ea typeface="Arial" pitchFamily="34" charset="-122"/>
                <a:cs typeface="Arial" pitchFamily="34" charset="-120"/>
              </a:rPr>
              <a:t>what to do · updates in seconds</a:t>
            </a:r>
            <a:endParaRPr lang="en-US" sz="950" dirty="0"/>
          </a:p>
        </p:txBody>
      </p:sp>
      <p:sp>
        <p:nvSpPr>
          <p:cNvPr id="7" name="Shape 5"/>
          <p:cNvSpPr/>
          <p:nvPr/>
        </p:nvSpPr>
        <p:spPr>
          <a:xfrm>
            <a:off x="3401568" y="960120"/>
            <a:ext cx="2331720" cy="960120"/>
          </a:xfrm>
          <a:prstGeom prst="roundRect">
            <a:avLst>
              <a:gd name="adj" fmla="val 7619"/>
            </a:avLst>
          </a:prstGeom>
          <a:solidFill>
            <a:srgbClr val="FFF0EA"/>
          </a:solidFill>
          <a:ln w="12700">
            <a:solidFill>
              <a:srgbClr val="FF8A5B"/>
            </a:solidFill>
            <a:prstDash val="solid"/>
          </a:ln>
        </p:spPr>
      </p:sp>
      <p:sp>
        <p:nvSpPr>
          <p:cNvPr id="8" name="Text 6"/>
          <p:cNvSpPr txBox="1"/>
          <p:nvPr/>
        </p:nvSpPr>
        <p:spPr>
          <a:xfrm>
            <a:off x="3401568" y="960120"/>
            <a:ext cx="2331720" cy="960120"/>
          </a:xfrm>
          <a:prstGeom prst="rect">
            <a:avLst/>
          </a:prstGeom>
          <a:noFill/>
          <a:ln/>
        </p:spPr>
        <p:txBody>
          <a:bodyPr wrap="square" lIns="0" tIns="0" rIns="0" bIns="0" rtlCol="0" anchor="ctr"/>
          <a:lstStyle/>
          <a:p>
            <a:pPr algn="ctr" indent="0" marL="0">
              <a:buNone/>
            </a:pPr>
            <a:r>
              <a:rPr lang="en-US" sz="1300" b="1" dirty="0">
                <a:solidFill>
                  <a:srgbClr val="17213A"/>
                </a:solidFill>
                <a:latin typeface="Arial" pitchFamily="34" charset="0"/>
                <a:ea typeface="Arial" pitchFamily="34" charset="-122"/>
                <a:cs typeface="Arial" pitchFamily="34" charset="-120"/>
              </a:rPr>
              <a:t>Manipulation intent  ?</a:t>
            </a:r>
            <a:endParaRPr lang="en-US" sz="1300" dirty="0"/>
          </a:p>
          <a:p>
            <a:pPr algn="ctr" indent="0" marL="0">
              <a:buNone/>
            </a:pPr>
            <a:r>
              <a:rPr lang="en-US" sz="1050" dirty="0">
                <a:solidFill>
                  <a:srgbClr val="62708D"/>
                </a:solidFill>
                <a:latin typeface="Arial" pitchFamily="34" charset="0"/>
                <a:ea typeface="Arial" pitchFamily="34" charset="-122"/>
                <a:cs typeface="Arial" pitchFamily="34" charset="-120"/>
              </a:rPr>
              <a:t>content · dimension · rate</a:t>
            </a:r>
            <a:endParaRPr lang="en-US" sz="1300" dirty="0"/>
          </a:p>
        </p:txBody>
      </p:sp>
      <p:sp>
        <p:nvSpPr>
          <p:cNvPr id="9" name="Text 7"/>
          <p:cNvSpPr txBox="1"/>
          <p:nvPr/>
        </p:nvSpPr>
        <p:spPr>
          <a:xfrm>
            <a:off x="3401568" y="2011680"/>
            <a:ext cx="2331720" cy="228600"/>
          </a:xfrm>
          <a:prstGeom prst="rect">
            <a:avLst/>
          </a:prstGeom>
          <a:noFill/>
          <a:ln/>
        </p:spPr>
        <p:txBody>
          <a:bodyPr wrap="square" lIns="0" tIns="0" rIns="0" bIns="0" rtlCol="0" anchor="ctr"/>
          <a:lstStyle/>
          <a:p>
            <a:pPr algn="ctr" indent="0" marL="0">
              <a:buNone/>
            </a:pPr>
            <a:r>
              <a:rPr lang="en-US" sz="950" b="1" dirty="0">
                <a:solidFill>
                  <a:srgbClr val="D9602F"/>
                </a:solidFill>
                <a:latin typeface="Arial" pitchFamily="34" charset="0"/>
                <a:ea typeface="Arial" pitchFamily="34" charset="-122"/>
                <a:cs typeface="Arial" pitchFamily="34" charset="-120"/>
              </a:rPr>
              <a:t>the interface we study</a:t>
            </a:r>
            <a:endParaRPr lang="en-US" sz="950" dirty="0"/>
          </a:p>
        </p:txBody>
      </p:sp>
      <p:sp>
        <p:nvSpPr>
          <p:cNvPr id="10" name="Shape 8"/>
          <p:cNvSpPr/>
          <p:nvPr/>
        </p:nvSpPr>
        <p:spPr>
          <a:xfrm>
            <a:off x="6355080" y="960120"/>
            <a:ext cx="2331720" cy="960120"/>
          </a:xfrm>
          <a:prstGeom prst="roundRect">
            <a:avLst>
              <a:gd name="adj" fmla="val 7619"/>
            </a:avLst>
          </a:prstGeom>
          <a:solidFill>
            <a:srgbClr val="E7FAFC"/>
          </a:solidFill>
          <a:ln w="12700">
            <a:solidFill>
              <a:srgbClr val="34D5E5"/>
            </a:solidFill>
            <a:prstDash val="solid"/>
          </a:ln>
        </p:spPr>
      </p:sp>
      <p:sp>
        <p:nvSpPr>
          <p:cNvPr id="11" name="Text 9"/>
          <p:cNvSpPr txBox="1"/>
          <p:nvPr/>
        </p:nvSpPr>
        <p:spPr>
          <a:xfrm>
            <a:off x="6355080" y="960120"/>
            <a:ext cx="2331720" cy="960120"/>
          </a:xfrm>
          <a:prstGeom prst="rect">
            <a:avLst/>
          </a:prstGeom>
          <a:noFill/>
          <a:ln/>
        </p:spPr>
        <p:txBody>
          <a:bodyPr wrap="square" lIns="0" tIns="0" rIns="0" bIns="0" rtlCol="0" anchor="ctr"/>
          <a:lstStyle/>
          <a:p>
            <a:pPr algn="ctr" indent="0" marL="0">
              <a:buNone/>
            </a:pPr>
            <a:r>
              <a:rPr lang="en-US" sz="1300" b="1" dirty="0">
                <a:solidFill>
                  <a:srgbClr val="17213A"/>
                </a:solidFill>
                <a:latin typeface="Arial" pitchFamily="34" charset="0"/>
                <a:ea typeface="Arial" pitchFamily="34" charset="-122"/>
                <a:cs typeface="Arial" pitchFamily="34" charset="-120"/>
              </a:rPr>
              <a:t>Dexterous controller</a:t>
            </a:r>
            <a:endParaRPr lang="en-US" sz="1300" dirty="0"/>
          </a:p>
          <a:p>
            <a:pPr algn="ctr" indent="0" marL="0">
              <a:buNone/>
            </a:pPr>
            <a:r>
              <a:rPr lang="en-US" sz="1050" dirty="0">
                <a:solidFill>
                  <a:srgbClr val="62708D"/>
                </a:solidFill>
                <a:latin typeface="Arial" pitchFamily="34" charset="0"/>
                <a:ea typeface="Arial" pitchFamily="34" charset="-122"/>
                <a:cs typeface="Arial" pitchFamily="34" charset="-120"/>
              </a:rPr>
              <a:t>RL policy, 16-DoF Allegro</a:t>
            </a:r>
            <a:endParaRPr lang="en-US" sz="1300" dirty="0"/>
          </a:p>
        </p:txBody>
      </p:sp>
      <p:sp>
        <p:nvSpPr>
          <p:cNvPr id="12" name="Text 10"/>
          <p:cNvSpPr txBox="1"/>
          <p:nvPr/>
        </p:nvSpPr>
        <p:spPr>
          <a:xfrm>
            <a:off x="6355080" y="2011680"/>
            <a:ext cx="2331720" cy="228600"/>
          </a:xfrm>
          <a:prstGeom prst="rect">
            <a:avLst/>
          </a:prstGeom>
          <a:noFill/>
          <a:ln/>
        </p:spPr>
        <p:txBody>
          <a:bodyPr wrap="square" lIns="0" tIns="0" rIns="0" bIns="0" rtlCol="0" anchor="ctr"/>
          <a:lstStyle/>
          <a:p>
            <a:pPr algn="ctr" indent="0" marL="0">
              <a:buNone/>
            </a:pPr>
            <a:r>
              <a:rPr lang="en-US" sz="950" b="1" dirty="0">
                <a:solidFill>
                  <a:srgbClr val="1A9AA8"/>
                </a:solidFill>
                <a:latin typeface="Arial" pitchFamily="34" charset="0"/>
                <a:ea typeface="Arial" pitchFamily="34" charset="-122"/>
                <a:cs typeface="Arial" pitchFamily="34" charset="-120"/>
              </a:rPr>
              <a:t>how to do it · 30+ Hz contact control</a:t>
            </a:r>
            <a:endParaRPr lang="en-US" sz="950" dirty="0"/>
          </a:p>
        </p:txBody>
      </p:sp>
      <p:sp>
        <p:nvSpPr>
          <p:cNvPr id="13" name="Shape 11"/>
          <p:cNvSpPr/>
          <p:nvPr/>
        </p:nvSpPr>
        <p:spPr>
          <a:xfrm>
            <a:off x="2788920" y="1440180"/>
            <a:ext cx="612648" cy="0"/>
          </a:xfrm>
          <a:prstGeom prst="line">
            <a:avLst/>
          </a:prstGeom>
          <a:noFill/>
          <a:ln w="15875">
            <a:solidFill>
              <a:srgbClr val="2C67F2"/>
            </a:solidFill>
            <a:prstDash val="solid"/>
            <a:tailEnd type="triangle"/>
          </a:ln>
        </p:spPr>
      </p:sp>
      <p:sp>
        <p:nvSpPr>
          <p:cNvPr id="14" name="Shape 12"/>
          <p:cNvSpPr/>
          <p:nvPr/>
        </p:nvSpPr>
        <p:spPr>
          <a:xfrm>
            <a:off x="5733288" y="1440180"/>
            <a:ext cx="621792" cy="0"/>
          </a:xfrm>
          <a:prstGeom prst="line">
            <a:avLst/>
          </a:prstGeom>
          <a:noFill/>
          <a:ln w="15875">
            <a:solidFill>
              <a:srgbClr val="2C67F2"/>
            </a:solidFill>
            <a:prstDash val="solid"/>
            <a:tailEnd type="triangle"/>
          </a:ln>
        </p:spPr>
      </p:sp>
      <p:sp>
        <p:nvSpPr>
          <p:cNvPr id="15" name="Shape 13"/>
          <p:cNvSpPr/>
          <p:nvPr/>
        </p:nvSpPr>
        <p:spPr>
          <a:xfrm>
            <a:off x="457200" y="2514600"/>
            <a:ext cx="8229600" cy="0"/>
          </a:xfrm>
          <a:prstGeom prst="line">
            <a:avLst/>
          </a:prstGeom>
          <a:noFill/>
          <a:ln w="9525">
            <a:solidFill>
              <a:srgbClr val="D9E0EC"/>
            </a:solidFill>
            <a:prstDash val="solid"/>
          </a:ln>
        </p:spPr>
      </p:sp>
      <p:sp>
        <p:nvSpPr>
          <p:cNvPr id="16" name="Text 14"/>
          <p:cNvSpPr txBox="1"/>
          <p:nvPr/>
        </p:nvSpPr>
        <p:spPr>
          <a:xfrm>
            <a:off x="457200" y="2743200"/>
            <a:ext cx="548640" cy="457200"/>
          </a:xfrm>
          <a:prstGeom prst="rect">
            <a:avLst/>
          </a:prstGeom>
          <a:noFill/>
          <a:ln/>
        </p:spPr>
        <p:txBody>
          <a:bodyPr wrap="square" lIns="0" tIns="0" rIns="0" bIns="0" rtlCol="0" anchor="t"/>
          <a:lstStyle/>
          <a:p>
            <a:pPr indent="0" marL="0">
              <a:buNone/>
            </a:pPr>
            <a:r>
              <a:rPr lang="en-US" sz="1200" b="1" dirty="0">
                <a:solidFill>
                  <a:srgbClr val="FF8A5B"/>
                </a:solidFill>
                <a:latin typeface="Arial" pitchFamily="34" charset="0"/>
                <a:ea typeface="Arial" pitchFamily="34" charset="-122"/>
                <a:cs typeface="Arial" pitchFamily="34" charset="-120"/>
              </a:rPr>
              <a:t>RQ1</a:t>
            </a:r>
            <a:endParaRPr lang="en-US" sz="1200" dirty="0"/>
          </a:p>
        </p:txBody>
      </p:sp>
      <p:sp>
        <p:nvSpPr>
          <p:cNvPr id="17" name="Text 15"/>
          <p:cNvSpPr txBox="1"/>
          <p:nvPr/>
        </p:nvSpPr>
        <p:spPr>
          <a:xfrm>
            <a:off x="1051560" y="2743200"/>
            <a:ext cx="7589520" cy="548640"/>
          </a:xfrm>
          <a:prstGeom prst="rect">
            <a:avLst/>
          </a:prstGeom>
          <a:noFill/>
          <a:ln/>
        </p:spPr>
        <p:txBody>
          <a:bodyPr wrap="square" lIns="0" tIns="0" rIns="0" bIns="0" rtlCol="0" anchor="t"/>
          <a:lstStyle/>
          <a:p>
            <a:pPr indent="0" marL="0">
              <a:buNone/>
            </a:pPr>
            <a:r>
              <a:rPr lang="en-US" sz="1350" dirty="0">
                <a:solidFill>
                  <a:srgbClr val="17213A"/>
                </a:solidFill>
                <a:latin typeface="Arial" pitchFamily="34" charset="0"/>
                <a:ea typeface="Arial" pitchFamily="34" charset="-122"/>
                <a:cs typeface="Arial" pitchFamily="34" charset="-120"/>
              </a:rPr>
              <a:t>How many dimensions of intent does the controller need to reach expert performance, and should those dimensions describe the hand or the object?</a:t>
            </a:r>
            <a:endParaRPr lang="en-US" sz="1350" dirty="0"/>
          </a:p>
        </p:txBody>
      </p:sp>
      <p:sp>
        <p:nvSpPr>
          <p:cNvPr id="18" name="Text 16"/>
          <p:cNvSpPr txBox="1"/>
          <p:nvPr/>
        </p:nvSpPr>
        <p:spPr>
          <a:xfrm>
            <a:off x="457200" y="3520440"/>
            <a:ext cx="548640" cy="457200"/>
          </a:xfrm>
          <a:prstGeom prst="rect">
            <a:avLst/>
          </a:prstGeom>
          <a:noFill/>
          <a:ln/>
        </p:spPr>
        <p:txBody>
          <a:bodyPr wrap="square" lIns="0" tIns="0" rIns="0" bIns="0" rtlCol="0" anchor="t"/>
          <a:lstStyle/>
          <a:p>
            <a:pPr indent="0" marL="0">
              <a:buNone/>
            </a:pPr>
            <a:r>
              <a:rPr lang="en-US" sz="1200" b="1" dirty="0">
                <a:solidFill>
                  <a:srgbClr val="FF8A5B"/>
                </a:solidFill>
                <a:latin typeface="Arial" pitchFamily="34" charset="0"/>
                <a:ea typeface="Arial" pitchFamily="34" charset="-122"/>
                <a:cs typeface="Arial" pitchFamily="34" charset="-120"/>
              </a:rPr>
              <a:t>RQ2</a:t>
            </a:r>
            <a:endParaRPr lang="en-US" sz="1200" dirty="0"/>
          </a:p>
        </p:txBody>
      </p:sp>
      <p:sp>
        <p:nvSpPr>
          <p:cNvPr id="19" name="Text 17"/>
          <p:cNvSpPr txBox="1"/>
          <p:nvPr/>
        </p:nvSpPr>
        <p:spPr>
          <a:xfrm>
            <a:off x="1051560" y="3520440"/>
            <a:ext cx="7589520" cy="548640"/>
          </a:xfrm>
          <a:prstGeom prst="rect">
            <a:avLst/>
          </a:prstGeom>
          <a:noFill/>
          <a:ln/>
        </p:spPr>
        <p:txBody>
          <a:bodyPr wrap="square" lIns="0" tIns="0" rIns="0" bIns="0" rtlCol="0" anchor="t"/>
          <a:lstStyle/>
          <a:p>
            <a:pPr indent="0" marL="0">
              <a:buNone/>
            </a:pPr>
            <a:r>
              <a:rPr lang="en-US" sz="1350" dirty="0">
                <a:solidFill>
                  <a:srgbClr val="17213A"/>
                </a:solidFill>
                <a:latin typeface="Arial" pitchFamily="34" charset="0"/>
                <a:ea typeface="Arial" pitchFamily="34" charset="-122"/>
                <a:cs typeface="Arial" pitchFamily="34" charset="-120"/>
              </a:rPr>
              <a:t>Does that budget grow when the task hides the goal and contact gets harder?</a:t>
            </a:r>
            <a:endParaRPr lang="en-US" sz="1350" dirty="0"/>
          </a:p>
        </p:txBody>
      </p:sp>
      <p:sp>
        <p:nvSpPr>
          <p:cNvPr id="20" name="Text 18"/>
          <p:cNvSpPr txBox="1"/>
          <p:nvPr/>
        </p:nvSpPr>
        <p:spPr>
          <a:xfrm>
            <a:off x="457200" y="4572000"/>
            <a:ext cx="8229600" cy="228600"/>
          </a:xfrm>
          <a:prstGeom prst="rect">
            <a:avLst/>
          </a:prstGeom>
          <a:noFill/>
          <a:ln/>
        </p:spPr>
        <p:txBody>
          <a:bodyPr wrap="square" lIns="0" tIns="0" rIns="0" bIns="0" rtlCol="0" anchor="ctr"/>
          <a:lstStyle/>
          <a:p>
            <a:pPr indent="0" marL="0">
              <a:buNone/>
            </a:pPr>
            <a:r>
              <a:rPr lang="en-US" sz="900" dirty="0">
                <a:solidFill>
                  <a:srgbClr val="62708D"/>
                </a:solidFill>
                <a:latin typeface="Arial" pitchFamily="34" charset="0"/>
                <a:ea typeface="Arial" pitchFamily="34" charset="-122"/>
                <a:cs typeface="Arial" pitchFamily="34" charset="-120"/>
              </a:rPr>
              <a:t>Task: in-hand cube reorientation in Isaac Lab. Everything except the intent signal stays fixed.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02920"/>
          </a:xfrm>
          <a:prstGeom prst="rect">
            <a:avLst/>
          </a:prstGeom>
          <a:noFill/>
          <a:ln/>
        </p:spPr>
        <p:txBody>
          <a:bodyPr wrap="square" lIns="0" tIns="0" rIns="0" bIns="0" rtlCol="0" anchor="ctr"/>
          <a:lstStyle/>
          <a:p>
            <a:pPr indent="0" marL="0">
              <a:buNone/>
            </a:pPr>
            <a:r>
              <a:rPr lang="en-US" sz="2100" b="1" dirty="0">
                <a:solidFill>
                  <a:srgbClr val="17213A"/>
                </a:solidFill>
                <a:latin typeface="Arial" pitchFamily="34" charset="0"/>
                <a:ea typeface="Arial" pitchFamily="34" charset="-122"/>
                <a:cs typeface="Arial" pitchFamily="34" charset="-120"/>
              </a:rPr>
              <a:t>Prior work picks one interface; none measures its budget</a:t>
            </a:r>
            <a:endParaRPr lang="en-US" sz="2100" dirty="0"/>
          </a:p>
        </p:txBody>
      </p:sp>
      <p:sp>
        <p:nvSpPr>
          <p:cNvPr id="3" name="Text 1"/>
          <p:cNvSpPr txBox="1"/>
          <p:nvPr/>
        </p:nvSpPr>
        <p:spPr>
          <a:xfrm>
            <a:off x="8321040" y="274320"/>
            <a:ext cx="365760" cy="274320"/>
          </a:xfrm>
          <a:prstGeom prst="rect">
            <a:avLst/>
          </a:prstGeom>
          <a:noFill/>
          <a:ln/>
        </p:spPr>
        <p:txBody>
          <a:bodyPr wrap="square" lIns="0" tIns="0" rIns="0" bIns="0" rtlCol="0" anchor="ctr"/>
          <a:lstStyle/>
          <a:p>
            <a:pPr algn="r" indent="0" marL="0">
              <a:buNone/>
            </a:pPr>
            <a:r>
              <a:rPr lang="en-US" sz="800" b="1" dirty="0">
                <a:solidFill>
                  <a:srgbClr val="2C67F2"/>
                </a:solidFill>
                <a:latin typeface="Arial" pitchFamily="34" charset="0"/>
                <a:ea typeface="Arial" pitchFamily="34" charset="-122"/>
                <a:cs typeface="Arial" pitchFamily="34" charset="-120"/>
              </a:rPr>
              <a:t>02</a:t>
            </a:r>
            <a:endParaRPr lang="en-US" sz="800" dirty="0"/>
          </a:p>
        </p:txBody>
      </p:sp>
      <p:sp>
        <p:nvSpPr>
          <p:cNvPr id="4" name="Shape 2"/>
          <p:cNvSpPr/>
          <p:nvPr/>
        </p:nvSpPr>
        <p:spPr>
          <a:xfrm>
            <a:off x="457200" y="1005840"/>
            <a:ext cx="2606040" cy="2103120"/>
          </a:xfrm>
          <a:prstGeom prst="roundRect">
            <a:avLst>
              <a:gd name="adj" fmla="val 3478"/>
            </a:avLst>
          </a:prstGeom>
          <a:solidFill>
            <a:srgbClr val="FFFFFF"/>
          </a:solidFill>
          <a:ln w="12700">
            <a:solidFill>
              <a:srgbClr val="D9E0EC"/>
            </a:solidFill>
            <a:prstDash val="solid"/>
          </a:ln>
        </p:spPr>
      </p:sp>
      <p:sp>
        <p:nvSpPr>
          <p:cNvPr id="5" name="Text 3"/>
          <p:cNvSpPr txBox="1"/>
          <p:nvPr/>
        </p:nvSpPr>
        <p:spPr>
          <a:xfrm>
            <a:off x="640080" y="1170432"/>
            <a:ext cx="2240280" cy="274320"/>
          </a:xfrm>
          <a:prstGeom prst="rect">
            <a:avLst/>
          </a:prstGeom>
          <a:noFill/>
          <a:ln/>
        </p:spPr>
        <p:txBody>
          <a:bodyPr wrap="square" lIns="0" tIns="0" rIns="0" bIns="0" rtlCol="0" anchor="ctr"/>
          <a:lstStyle/>
          <a:p>
            <a:pPr indent="0" marL="0">
              <a:buNone/>
            </a:pPr>
            <a:r>
              <a:rPr lang="en-US" sz="1250" b="1" dirty="0">
                <a:solidFill>
                  <a:srgbClr val="8A68E8"/>
                </a:solidFill>
                <a:latin typeface="Arial" pitchFamily="34" charset="0"/>
                <a:ea typeface="Arial" pitchFamily="34" charset="-122"/>
                <a:cs typeface="Arial" pitchFamily="34" charset="-120"/>
              </a:rPr>
              <a:t>Hand-side intent</a:t>
            </a:r>
            <a:endParaRPr lang="en-US" sz="1250" dirty="0"/>
          </a:p>
        </p:txBody>
      </p:sp>
      <p:sp>
        <p:nvSpPr>
          <p:cNvPr id="6" name="Text 4"/>
          <p:cNvSpPr txBox="1"/>
          <p:nvPr/>
        </p:nvSpPr>
        <p:spPr>
          <a:xfrm>
            <a:off x="640080" y="1554480"/>
            <a:ext cx="2240280" cy="1417320"/>
          </a:xfrm>
          <a:prstGeom prst="rect">
            <a:avLst/>
          </a:prstGeom>
          <a:noFill/>
          <a:ln/>
        </p:spPr>
        <p:txBody>
          <a:bodyPr wrap="square" lIns="0" tIns="0" rIns="0" bIns="0" rtlCol="0" anchor="t"/>
          <a:lstStyle/>
          <a:p>
            <a:pPr indent="0" marL="0">
              <a:buNone/>
            </a:pPr>
            <a:r>
              <a:rPr lang="en-US" sz="1100" b="1" dirty="0">
                <a:solidFill>
                  <a:srgbClr val="17213A"/>
                </a:solidFill>
                <a:latin typeface="Arial" pitchFamily="34" charset="0"/>
                <a:ea typeface="Arial" pitchFamily="34" charset="-122"/>
                <a:cs typeface="Arial" pitchFamily="34" charset="-120"/>
              </a:rPr>
              <a:t>DexUMI (2025)</a:t>
            </a:r>
            <a:endParaRPr lang="en-US" sz="1100" dirty="0"/>
          </a:p>
          <a:p>
            <a:pPr indent="0" marL="0">
              <a:spcAft>
                <a:spcPts val="800"/>
              </a:spcAft>
              <a:buNone/>
            </a:pPr>
            <a:r>
              <a:rPr lang="en-US" sz="1000" dirty="0">
                <a:solidFill>
                  <a:srgbClr val="62708D"/>
                </a:solidFill>
                <a:latin typeface="Arial" pitchFamily="34" charset="0"/>
                <a:ea typeface="Arial" pitchFamily="34" charset="-122"/>
                <a:cs typeface="Arial" pitchFamily="34" charset="-120"/>
              </a:rPr>
              <a:t>full hand pose via a wearable</a:t>
            </a:r>
            <a:endParaRPr lang="en-US" sz="1100" dirty="0"/>
          </a:p>
          <a:p>
            <a:pPr indent="0" marL="0">
              <a:buNone/>
            </a:pPr>
            <a:r>
              <a:rPr lang="en-US" sz="1100" b="1" dirty="0">
                <a:solidFill>
                  <a:srgbClr val="17213A"/>
                </a:solidFill>
                <a:latin typeface="Arial" pitchFamily="34" charset="0"/>
                <a:ea typeface="Arial" pitchFamily="34" charset="-122"/>
                <a:cs typeface="Arial" pitchFamily="34" charset="-120"/>
              </a:rPr>
              <a:t>TypeTele (2025)</a:t>
            </a:r>
            <a:endParaRPr lang="en-US" sz="1100" dirty="0"/>
          </a:p>
          <a:p>
            <a:pPr indent="0" marL="0">
              <a:spcAft>
                <a:spcPts val="800"/>
              </a:spcAft>
              <a:buNone/>
            </a:pPr>
            <a:r>
              <a:rPr lang="en-US" sz="1000" dirty="0">
                <a:solidFill>
                  <a:srgbClr val="62708D"/>
                </a:solidFill>
                <a:latin typeface="Arial" pitchFamily="34" charset="0"/>
                <a:ea typeface="Arial" pitchFamily="34" charset="-122"/>
                <a:cs typeface="Arial" pitchFamily="34" charset="-120"/>
              </a:rPr>
              <a:t>manipulation types chosen by an LLM</a:t>
            </a:r>
            <a:endParaRPr lang="en-US" sz="1100" dirty="0"/>
          </a:p>
          <a:p>
            <a:pPr indent="0" marL="0">
              <a:buNone/>
            </a:pPr>
            <a:r>
              <a:rPr lang="en-US" sz="1100" b="1" dirty="0">
                <a:solidFill>
                  <a:srgbClr val="17213A"/>
                </a:solidFill>
                <a:latin typeface="Arial" pitchFamily="34" charset="0"/>
                <a:ea typeface="Arial" pitchFamily="34" charset="-122"/>
                <a:cs typeface="Arial" pitchFamily="34" charset="-120"/>
              </a:rPr>
              <a:t>CrossDex (2025)</a:t>
            </a:r>
            <a:endParaRPr lang="en-US" sz="1100" dirty="0"/>
          </a:p>
          <a:p>
            <a:pPr indent="0" marL="0">
              <a:spcAft>
                <a:spcPts val="800"/>
              </a:spcAft>
              <a:buNone/>
            </a:pPr>
            <a:r>
              <a:rPr lang="en-US" sz="1000" dirty="0">
                <a:solidFill>
                  <a:srgbClr val="62708D"/>
                </a:solidFill>
                <a:latin typeface="Arial" pitchFamily="34" charset="0"/>
                <a:ea typeface="Arial" pitchFamily="34" charset="-122"/>
                <a:cs typeface="Arial" pitchFamily="34" charset="-120"/>
              </a:rPr>
              <a:t>eigengrasp action space across hands</a:t>
            </a:r>
            <a:endParaRPr lang="en-US" sz="1100" dirty="0"/>
          </a:p>
        </p:txBody>
      </p:sp>
      <p:sp>
        <p:nvSpPr>
          <p:cNvPr id="7" name="Shape 5"/>
          <p:cNvSpPr/>
          <p:nvPr/>
        </p:nvSpPr>
        <p:spPr>
          <a:xfrm>
            <a:off x="3268980" y="1005840"/>
            <a:ext cx="2606040" cy="2103120"/>
          </a:xfrm>
          <a:prstGeom prst="roundRect">
            <a:avLst>
              <a:gd name="adj" fmla="val 3478"/>
            </a:avLst>
          </a:prstGeom>
          <a:solidFill>
            <a:srgbClr val="FFFFFF"/>
          </a:solidFill>
          <a:ln w="12700">
            <a:solidFill>
              <a:srgbClr val="D9E0EC"/>
            </a:solidFill>
            <a:prstDash val="solid"/>
          </a:ln>
        </p:spPr>
      </p:sp>
      <p:sp>
        <p:nvSpPr>
          <p:cNvPr id="8" name="Text 6"/>
          <p:cNvSpPr txBox="1"/>
          <p:nvPr/>
        </p:nvSpPr>
        <p:spPr>
          <a:xfrm>
            <a:off x="3451860" y="1170432"/>
            <a:ext cx="2240280" cy="274320"/>
          </a:xfrm>
          <a:prstGeom prst="rect">
            <a:avLst/>
          </a:prstGeom>
          <a:noFill/>
          <a:ln/>
        </p:spPr>
        <p:txBody>
          <a:bodyPr wrap="square" lIns="0" tIns="0" rIns="0" bIns="0" rtlCol="0" anchor="ctr"/>
          <a:lstStyle/>
          <a:p>
            <a:pPr indent="0" marL="0">
              <a:buNone/>
            </a:pPr>
            <a:r>
              <a:rPr lang="en-US" sz="1250" b="1" dirty="0">
                <a:solidFill>
                  <a:srgbClr val="2C67F2"/>
                </a:solidFill>
                <a:latin typeface="Arial" pitchFamily="34" charset="0"/>
                <a:ea typeface="Arial" pitchFamily="34" charset="-122"/>
                <a:cs typeface="Arial" pitchFamily="34" charset="-120"/>
              </a:rPr>
              <a:t>Object-side intent</a:t>
            </a:r>
            <a:endParaRPr lang="en-US" sz="1250" dirty="0"/>
          </a:p>
        </p:txBody>
      </p:sp>
      <p:sp>
        <p:nvSpPr>
          <p:cNvPr id="9" name="Text 7"/>
          <p:cNvSpPr txBox="1"/>
          <p:nvPr/>
        </p:nvSpPr>
        <p:spPr>
          <a:xfrm>
            <a:off x="3451860" y="1554480"/>
            <a:ext cx="2240280" cy="1417320"/>
          </a:xfrm>
          <a:prstGeom prst="rect">
            <a:avLst/>
          </a:prstGeom>
          <a:noFill/>
          <a:ln/>
        </p:spPr>
        <p:txBody>
          <a:bodyPr wrap="square" lIns="0" tIns="0" rIns="0" bIns="0" rtlCol="0" anchor="t"/>
          <a:lstStyle/>
          <a:p>
            <a:pPr indent="0" marL="0">
              <a:buNone/>
            </a:pPr>
            <a:r>
              <a:rPr lang="en-US" sz="1100" b="1" dirty="0">
                <a:solidFill>
                  <a:srgbClr val="17213A"/>
                </a:solidFill>
                <a:latin typeface="Arial" pitchFamily="34" charset="0"/>
                <a:ea typeface="Arial" pitchFamily="34" charset="-122"/>
                <a:cs typeface="Arial" pitchFamily="34" charset="-120"/>
              </a:rPr>
              <a:t>Human2Sim2Robot (2025)</a:t>
            </a:r>
            <a:endParaRPr lang="en-US" sz="1100" dirty="0"/>
          </a:p>
          <a:p>
            <a:pPr indent="0" marL="0">
              <a:spcAft>
                <a:spcPts val="800"/>
              </a:spcAft>
              <a:buNone/>
            </a:pPr>
            <a:r>
              <a:rPr lang="en-US" sz="1000" dirty="0">
                <a:solidFill>
                  <a:srgbClr val="62708D"/>
                </a:solidFill>
                <a:latin typeface="Arial" pitchFamily="34" charset="0"/>
                <a:ea typeface="Arial" pitchFamily="34" charset="-122"/>
                <a:cs typeface="Arial" pitchFamily="34" charset="-120"/>
              </a:rPr>
              <a:t>object trajectory + one hand pose</a:t>
            </a:r>
            <a:endParaRPr lang="en-US" sz="1100" dirty="0"/>
          </a:p>
          <a:p>
            <a:pPr indent="0" marL="0">
              <a:buNone/>
            </a:pPr>
            <a:r>
              <a:rPr lang="en-US" sz="1100" b="1" dirty="0">
                <a:solidFill>
                  <a:srgbClr val="17213A"/>
                </a:solidFill>
                <a:latin typeface="Arial" pitchFamily="34" charset="0"/>
                <a:ea typeface="Arial" pitchFamily="34" charset="-122"/>
                <a:cs typeface="Arial" pitchFamily="34" charset="-120"/>
              </a:rPr>
              <a:t>LUCID (2026)</a:t>
            </a:r>
            <a:endParaRPr lang="en-US" sz="1100" dirty="0"/>
          </a:p>
          <a:p>
            <a:pPr indent="0" marL="0">
              <a:spcAft>
                <a:spcPts val="800"/>
              </a:spcAft>
              <a:buNone/>
            </a:pPr>
            <a:r>
              <a:rPr lang="en-US" sz="1000" dirty="0">
                <a:solidFill>
                  <a:srgbClr val="62708D"/>
                </a:solidFill>
                <a:latin typeface="Arial" pitchFamily="34" charset="0"/>
                <a:ea typeface="Arial" pitchFamily="34" charset="-122"/>
                <a:cs typeface="Arial" pitchFamily="34" charset="-120"/>
              </a:rPr>
              <a:t>object flow + palm pose from human video</a:t>
            </a:r>
            <a:endParaRPr lang="en-US" sz="1100" dirty="0"/>
          </a:p>
        </p:txBody>
      </p:sp>
      <p:sp>
        <p:nvSpPr>
          <p:cNvPr id="10" name="Shape 8"/>
          <p:cNvSpPr/>
          <p:nvPr/>
        </p:nvSpPr>
        <p:spPr>
          <a:xfrm>
            <a:off x="6080760" y="1005840"/>
            <a:ext cx="2606040" cy="2103120"/>
          </a:xfrm>
          <a:prstGeom prst="roundRect">
            <a:avLst>
              <a:gd name="adj" fmla="val 3478"/>
            </a:avLst>
          </a:prstGeom>
          <a:solidFill>
            <a:srgbClr val="FFFFFF"/>
          </a:solidFill>
          <a:ln w="12700">
            <a:solidFill>
              <a:srgbClr val="D9E0EC"/>
            </a:solidFill>
            <a:prstDash val="solid"/>
          </a:ln>
        </p:spPr>
      </p:sp>
      <p:sp>
        <p:nvSpPr>
          <p:cNvPr id="11" name="Text 9"/>
          <p:cNvSpPr txBox="1"/>
          <p:nvPr/>
        </p:nvSpPr>
        <p:spPr>
          <a:xfrm>
            <a:off x="6263640" y="1170432"/>
            <a:ext cx="2240280" cy="274320"/>
          </a:xfrm>
          <a:prstGeom prst="rect">
            <a:avLst/>
          </a:prstGeom>
          <a:noFill/>
          <a:ln/>
        </p:spPr>
        <p:txBody>
          <a:bodyPr wrap="square" lIns="0" tIns="0" rIns="0" bIns="0" rtlCol="0" anchor="ctr"/>
          <a:lstStyle/>
          <a:p>
            <a:pPr indent="0" marL="0">
              <a:buNone/>
            </a:pPr>
            <a:r>
              <a:rPr lang="en-US" sz="1250" b="1" dirty="0">
                <a:solidFill>
                  <a:srgbClr val="28B78D"/>
                </a:solidFill>
                <a:latin typeface="Arial" pitchFamily="34" charset="0"/>
                <a:ea typeface="Arial" pitchFamily="34" charset="-122"/>
                <a:cs typeface="Arial" pitchFamily="34" charset="-120"/>
              </a:rPr>
              <a:t>Minimal signal</a:t>
            </a:r>
            <a:endParaRPr lang="en-US" sz="1250" dirty="0"/>
          </a:p>
        </p:txBody>
      </p:sp>
      <p:sp>
        <p:nvSpPr>
          <p:cNvPr id="12" name="Text 10"/>
          <p:cNvSpPr txBox="1"/>
          <p:nvPr/>
        </p:nvSpPr>
        <p:spPr>
          <a:xfrm>
            <a:off x="6263640" y="1554480"/>
            <a:ext cx="2240280" cy="1417320"/>
          </a:xfrm>
          <a:prstGeom prst="rect">
            <a:avLst/>
          </a:prstGeom>
          <a:noFill/>
          <a:ln/>
        </p:spPr>
        <p:txBody>
          <a:bodyPr wrap="square" lIns="0" tIns="0" rIns="0" bIns="0" rtlCol="0" anchor="t"/>
          <a:lstStyle/>
          <a:p>
            <a:pPr indent="0" marL="0">
              <a:buNone/>
            </a:pPr>
            <a:r>
              <a:rPr lang="en-US" sz="1100" b="1" dirty="0">
                <a:solidFill>
                  <a:srgbClr val="17213A"/>
                </a:solidFill>
                <a:latin typeface="Arial" pitchFamily="34" charset="0"/>
                <a:ea typeface="Arial" pitchFamily="34" charset="-122"/>
                <a:cs typeface="Arial" pitchFamily="34" charset="-120"/>
              </a:rPr>
              <a:t>InDex (2026)</a:t>
            </a:r>
            <a:endParaRPr lang="en-US" sz="1100" dirty="0"/>
          </a:p>
          <a:p>
            <a:pPr indent="0" marL="0">
              <a:spcAft>
                <a:spcPts val="800"/>
              </a:spcAft>
              <a:buNone/>
            </a:pPr>
            <a:r>
              <a:rPr lang="en-US" sz="1000" dirty="0">
                <a:solidFill>
                  <a:srgbClr val="62708D"/>
                </a:solidFill>
                <a:latin typeface="Arial" pitchFamily="34" charset="0"/>
                <a:ea typeface="Arial" pitchFamily="34" charset="-122"/>
                <a:cs typeface="Arial" pitchFamily="34" charset="-120"/>
              </a:rPr>
              <a:t>a single grasp-progress scalar</a:t>
            </a:r>
            <a:endParaRPr lang="en-US" sz="1100" dirty="0"/>
          </a:p>
          <a:p>
            <a:pPr indent="0" marL="0">
              <a:buNone/>
            </a:pPr>
            <a:r>
              <a:rPr lang="en-US" sz="1100" b="1" dirty="0">
                <a:solidFill>
                  <a:srgbClr val="17213A"/>
                </a:solidFill>
                <a:latin typeface="Arial" pitchFamily="34" charset="0"/>
                <a:ea typeface="Arial" pitchFamily="34" charset="-122"/>
                <a:cs typeface="Arial" pitchFamily="34" charset="-120"/>
              </a:rPr>
              <a:t>Santello et al. (1998)</a:t>
            </a:r>
            <a:endParaRPr lang="en-US" sz="1100" dirty="0"/>
          </a:p>
          <a:p>
            <a:pPr indent="0" marL="0">
              <a:spcAft>
                <a:spcPts val="800"/>
              </a:spcAft>
              <a:buNone/>
            </a:pPr>
            <a:r>
              <a:rPr lang="en-US" sz="1000" dirty="0">
                <a:solidFill>
                  <a:srgbClr val="62708D"/>
                </a:solidFill>
                <a:latin typeface="Arial" pitchFamily="34" charset="0"/>
                <a:ea typeface="Arial" pitchFamily="34" charset="-122"/>
                <a:cs typeface="Arial" pitchFamily="34" charset="-120"/>
              </a:rPr>
              <a:t>2 synergies explain &gt;80% of grasp postures</a:t>
            </a:r>
            <a:endParaRPr lang="en-US" sz="1100" dirty="0"/>
          </a:p>
        </p:txBody>
      </p:sp>
      <p:sp>
        <p:nvSpPr>
          <p:cNvPr id="13" name="Shape 11"/>
          <p:cNvSpPr/>
          <p:nvPr/>
        </p:nvSpPr>
        <p:spPr>
          <a:xfrm>
            <a:off x="457200" y="3337560"/>
            <a:ext cx="8229600" cy="640080"/>
          </a:xfrm>
          <a:prstGeom prst="roundRect">
            <a:avLst>
              <a:gd name="adj" fmla="val 11429"/>
            </a:avLst>
          </a:prstGeom>
          <a:solidFill>
            <a:srgbClr val="0B1633"/>
          </a:solidFill>
          <a:ln w="12700">
            <a:solidFill>
              <a:srgbClr val="0B1633"/>
            </a:solidFill>
            <a:prstDash val="solid"/>
          </a:ln>
        </p:spPr>
      </p:sp>
      <p:sp>
        <p:nvSpPr>
          <p:cNvPr id="14" name="Text 12"/>
          <p:cNvSpPr txBox="1"/>
          <p:nvPr/>
        </p:nvSpPr>
        <p:spPr>
          <a:xfrm>
            <a:off x="640080" y="3337560"/>
            <a:ext cx="1188720" cy="640080"/>
          </a:xfrm>
          <a:prstGeom prst="rect">
            <a:avLst/>
          </a:prstGeom>
          <a:noFill/>
          <a:ln/>
        </p:spPr>
        <p:txBody>
          <a:bodyPr wrap="square" lIns="0" tIns="0" rIns="0" bIns="0" rtlCol="0" anchor="ctr"/>
          <a:lstStyle/>
          <a:p>
            <a:pPr indent="0" marL="0">
              <a:buNone/>
            </a:pPr>
            <a:r>
              <a:rPr lang="en-US" sz="1000" b="1" dirty="0">
                <a:solidFill>
                  <a:srgbClr val="34D5E5"/>
                </a:solidFill>
                <a:latin typeface="Arial" pitchFamily="34" charset="0"/>
                <a:ea typeface="Arial" pitchFamily="34" charset="-122"/>
                <a:cs typeface="Arial" pitchFamily="34" charset="-120"/>
              </a:rPr>
              <a:t>Open question</a:t>
            </a:r>
            <a:endParaRPr lang="en-US" sz="1000" dirty="0"/>
          </a:p>
        </p:txBody>
      </p:sp>
      <p:sp>
        <p:nvSpPr>
          <p:cNvPr id="15" name="Text 13"/>
          <p:cNvSpPr txBox="1"/>
          <p:nvPr/>
        </p:nvSpPr>
        <p:spPr>
          <a:xfrm>
            <a:off x="1828800" y="3337560"/>
            <a:ext cx="6675120" cy="64008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Which content, and how many dimensions, does the interface need? No study varies both under one fixed controller.</a:t>
            </a:r>
            <a:endParaRPr lang="en-US" sz="1250" dirty="0"/>
          </a:p>
        </p:txBody>
      </p:sp>
      <p:sp>
        <p:nvSpPr>
          <p:cNvPr id="16" name="Text 14"/>
          <p:cNvSpPr txBox="1"/>
          <p:nvPr/>
        </p:nvSpPr>
        <p:spPr>
          <a:xfrm>
            <a:off x="457200" y="4114800"/>
            <a:ext cx="8229600" cy="274320"/>
          </a:xfrm>
          <a:prstGeom prst="rect">
            <a:avLst/>
          </a:prstGeom>
          <a:noFill/>
          <a:ln/>
        </p:spPr>
        <p:txBody>
          <a:bodyPr wrap="square" lIns="0" tIns="0" rIns="0" bIns="0" rtlCol="0" anchor="ctr"/>
          <a:lstStyle/>
          <a:p>
            <a:pPr indent="0" marL="0">
              <a:buNone/>
            </a:pPr>
            <a:r>
              <a:rPr lang="en-US" sz="950" dirty="0">
                <a:solidFill>
                  <a:srgbClr val="62708D"/>
                </a:solidFill>
                <a:latin typeface="Arial" pitchFamily="34" charset="0"/>
                <a:ea typeface="Arial" pitchFamily="34" charset="-122"/>
                <a:cs typeface="Arial" pitchFamily="34" charset="-120"/>
              </a:rPr>
              <a:t>Each system above fixes one representation and reports task success; the information budget itself is never swept.</a:t>
            </a:r>
            <a:endParaRPr lang="en-US" sz="950" dirty="0"/>
          </a:p>
        </p:txBody>
      </p:sp>
      <p:sp>
        <p:nvSpPr>
          <p:cNvPr id="17" name="Text 15"/>
          <p:cNvSpPr txBox="1"/>
          <p:nvPr/>
        </p:nvSpPr>
        <p:spPr>
          <a:xfrm>
            <a:off x="457200" y="4663440"/>
            <a:ext cx="8229600" cy="228600"/>
          </a:xfrm>
          <a:prstGeom prst="rect">
            <a:avLst/>
          </a:prstGeom>
          <a:noFill/>
          <a:ln/>
        </p:spPr>
        <p:txBody>
          <a:bodyPr wrap="square" lIns="0" tIns="0" rIns="0" bIns="0" rtlCol="0" anchor="ctr"/>
          <a:lstStyle/>
          <a:p>
            <a:pPr indent="0" marL="0">
              <a:buNone/>
            </a:pPr>
            <a:r>
              <a:rPr lang="en-US" sz="750" dirty="0">
                <a:solidFill>
                  <a:srgbClr val="62708D"/>
                </a:solidFill>
                <a:latin typeface="Arial" pitchFamily="34" charset="0"/>
                <a:ea typeface="Arial" pitchFamily="34" charset="-122"/>
                <a:cs typeface="Arial" pitchFamily="34" charset="-120"/>
              </a:rPr>
              <a:t>Sources: DexUMI (Xu et al., 2025); TypeTele (Lin et al., 2025); CrossDex (ICLR 2025); Human2Sim2Robot (2025); LUCID (2026); InDex (2026); Santello, Flanders &amp; Soechting (1998).</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02920"/>
          </a:xfrm>
          <a:prstGeom prst="rect">
            <a:avLst/>
          </a:prstGeom>
          <a:noFill/>
          <a:ln/>
        </p:spPr>
        <p:txBody>
          <a:bodyPr wrap="square" lIns="0" tIns="0" rIns="0" bIns="0" rtlCol="0" anchor="ctr"/>
          <a:lstStyle/>
          <a:p>
            <a:pPr indent="0" marL="0">
              <a:buNone/>
            </a:pPr>
            <a:r>
              <a:rPr lang="en-US" sz="2100" b="1" dirty="0">
                <a:solidFill>
                  <a:srgbClr val="17213A"/>
                </a:solidFill>
                <a:latin typeface="Arial" pitchFamily="34" charset="0"/>
                <a:ea typeface="Arial" pitchFamily="34" charset="-122"/>
                <a:cs typeface="Arial" pitchFamily="34" charset="-120"/>
              </a:rPr>
              <a:t>Approach: oracle intent, compressed to k dimensions</a:t>
            </a:r>
            <a:endParaRPr lang="en-US" sz="2100" dirty="0"/>
          </a:p>
        </p:txBody>
      </p:sp>
      <p:sp>
        <p:nvSpPr>
          <p:cNvPr id="3" name="Text 1"/>
          <p:cNvSpPr txBox="1"/>
          <p:nvPr/>
        </p:nvSpPr>
        <p:spPr>
          <a:xfrm>
            <a:off x="8321040" y="274320"/>
            <a:ext cx="365760" cy="274320"/>
          </a:xfrm>
          <a:prstGeom prst="rect">
            <a:avLst/>
          </a:prstGeom>
          <a:noFill/>
          <a:ln/>
        </p:spPr>
        <p:txBody>
          <a:bodyPr wrap="square" lIns="0" tIns="0" rIns="0" bIns="0" rtlCol="0" anchor="ctr"/>
          <a:lstStyle/>
          <a:p>
            <a:pPr algn="r" indent="0" marL="0">
              <a:buNone/>
            </a:pPr>
            <a:r>
              <a:rPr lang="en-US" sz="800" b="1" dirty="0">
                <a:solidFill>
                  <a:srgbClr val="2C67F2"/>
                </a:solidFill>
                <a:latin typeface="Arial" pitchFamily="34" charset="0"/>
                <a:ea typeface="Arial" pitchFamily="34" charset="-122"/>
                <a:cs typeface="Arial" pitchFamily="34" charset="-120"/>
              </a:rPr>
              <a:t>03</a:t>
            </a:r>
            <a:endParaRPr lang="en-US" sz="800" dirty="0"/>
          </a:p>
        </p:txBody>
      </p:sp>
      <p:sp>
        <p:nvSpPr>
          <p:cNvPr id="4" name="Shape 2"/>
          <p:cNvSpPr/>
          <p:nvPr/>
        </p:nvSpPr>
        <p:spPr>
          <a:xfrm>
            <a:off x="457200" y="1645920"/>
            <a:ext cx="1600200" cy="822960"/>
          </a:xfrm>
          <a:prstGeom prst="roundRect">
            <a:avLst>
              <a:gd name="adj" fmla="val 8889"/>
            </a:avLst>
          </a:prstGeom>
          <a:solidFill>
            <a:srgbClr val="EAF0FF"/>
          </a:solidFill>
          <a:ln w="12700">
            <a:solidFill>
              <a:srgbClr val="2C67F2"/>
            </a:solidFill>
            <a:prstDash val="solid"/>
          </a:ln>
        </p:spPr>
      </p:sp>
      <p:sp>
        <p:nvSpPr>
          <p:cNvPr id="5" name="Text 3"/>
          <p:cNvSpPr txBox="1"/>
          <p:nvPr/>
        </p:nvSpPr>
        <p:spPr>
          <a:xfrm>
            <a:off x="457200" y="1645920"/>
            <a:ext cx="1600200" cy="822960"/>
          </a:xfrm>
          <a:prstGeom prst="rect">
            <a:avLst/>
          </a:prstGeom>
          <a:noFill/>
          <a:ln/>
        </p:spPr>
        <p:txBody>
          <a:bodyPr wrap="square" lIns="0" tIns="0" rIns="0" bIns="0" rtlCol="0" anchor="ctr"/>
          <a:lstStyle/>
          <a:p>
            <a:pPr algn="ctr" indent="0" marL="0">
              <a:buNone/>
            </a:pPr>
            <a:r>
              <a:rPr lang="en-US" sz="1200" b="1" dirty="0">
                <a:solidFill>
                  <a:srgbClr val="17213A"/>
                </a:solidFill>
                <a:latin typeface="Arial" pitchFamily="34" charset="0"/>
                <a:ea typeface="Arial" pitchFamily="34" charset="-122"/>
                <a:cs typeface="Arial" pitchFamily="34" charset="-120"/>
              </a:rPr>
              <a:t>Expert PPO</a:t>
            </a:r>
            <a:endParaRPr lang="en-US" sz="1200" dirty="0"/>
          </a:p>
          <a:p>
            <a:pPr algn="ctr" indent="0" marL="0">
              <a:buNone/>
            </a:pPr>
            <a:r>
              <a:rPr lang="en-US" sz="950" dirty="0">
                <a:solidFill>
                  <a:srgbClr val="62708D"/>
                </a:solidFill>
                <a:latin typeface="Arial" pitchFamily="34" charset="0"/>
                <a:ea typeface="Arial" pitchFamily="34" charset="-122"/>
                <a:cs typeface="Arial" pitchFamily="34" charset="-120"/>
              </a:rPr>
              <a:t>sees the goal</a:t>
            </a:r>
            <a:endParaRPr lang="en-US" sz="1200" dirty="0"/>
          </a:p>
        </p:txBody>
      </p:sp>
      <p:sp>
        <p:nvSpPr>
          <p:cNvPr id="6" name="Shape 4"/>
          <p:cNvSpPr/>
          <p:nvPr/>
        </p:nvSpPr>
        <p:spPr>
          <a:xfrm>
            <a:off x="2057400" y="2057400"/>
            <a:ext cx="365760" cy="0"/>
          </a:xfrm>
          <a:prstGeom prst="line">
            <a:avLst/>
          </a:prstGeom>
          <a:noFill/>
          <a:ln w="15875">
            <a:solidFill>
              <a:srgbClr val="2C67F2"/>
            </a:solidFill>
            <a:prstDash val="solid"/>
            <a:tailEnd type="triangle"/>
          </a:ln>
        </p:spPr>
      </p:sp>
      <p:sp>
        <p:nvSpPr>
          <p:cNvPr id="7" name="Shape 5"/>
          <p:cNvSpPr/>
          <p:nvPr/>
        </p:nvSpPr>
        <p:spPr>
          <a:xfrm>
            <a:off x="2423160" y="1645920"/>
            <a:ext cx="1600200" cy="822960"/>
          </a:xfrm>
          <a:prstGeom prst="roundRect">
            <a:avLst>
              <a:gd name="adj" fmla="val 8889"/>
            </a:avLst>
          </a:prstGeom>
          <a:solidFill>
            <a:srgbClr val="FFFFFF"/>
          </a:solidFill>
          <a:ln w="12700">
            <a:solidFill>
              <a:srgbClr val="17213A"/>
            </a:solidFill>
            <a:prstDash val="solid"/>
          </a:ln>
        </p:spPr>
      </p:sp>
      <p:sp>
        <p:nvSpPr>
          <p:cNvPr id="8" name="Text 6"/>
          <p:cNvSpPr txBox="1"/>
          <p:nvPr/>
        </p:nvSpPr>
        <p:spPr>
          <a:xfrm>
            <a:off x="2423160" y="1645920"/>
            <a:ext cx="1600200" cy="822960"/>
          </a:xfrm>
          <a:prstGeom prst="rect">
            <a:avLst/>
          </a:prstGeom>
          <a:noFill/>
          <a:ln/>
        </p:spPr>
        <p:txBody>
          <a:bodyPr wrap="square" lIns="0" tIns="0" rIns="0" bIns="0" rtlCol="0" anchor="ctr"/>
          <a:lstStyle/>
          <a:p>
            <a:pPr algn="ctr" indent="0" marL="0">
              <a:buNone/>
            </a:pPr>
            <a:r>
              <a:rPr lang="en-US" sz="1200" b="1" dirty="0">
                <a:solidFill>
                  <a:srgbClr val="17213A"/>
                </a:solidFill>
                <a:latin typeface="Arial" pitchFamily="34" charset="0"/>
                <a:ea typeface="Arial" pitchFamily="34" charset="-122"/>
                <a:cs typeface="Arial" pitchFamily="34" charset="-120"/>
              </a:rPr>
              <a:t>Oracle intent</a:t>
            </a:r>
            <a:endParaRPr lang="en-US" sz="1200" dirty="0"/>
          </a:p>
          <a:p>
            <a:pPr algn="ctr" indent="0" marL="0">
              <a:buNone/>
            </a:pPr>
            <a:r>
              <a:rPr lang="en-US" sz="950" dirty="0">
                <a:solidFill>
                  <a:srgbClr val="62708D"/>
                </a:solidFill>
                <a:latin typeface="Arial" pitchFamily="34" charset="0"/>
                <a:ea typeface="Arial" pitchFamily="34" charset="-122"/>
                <a:cs typeface="Arial" pitchFamily="34" charset="-120"/>
              </a:rPr>
              <a:t>at the student's state</a:t>
            </a:r>
            <a:endParaRPr lang="en-US" sz="1200" dirty="0"/>
          </a:p>
        </p:txBody>
      </p:sp>
      <p:sp>
        <p:nvSpPr>
          <p:cNvPr id="9" name="Shape 7"/>
          <p:cNvSpPr/>
          <p:nvPr/>
        </p:nvSpPr>
        <p:spPr>
          <a:xfrm flipV="1">
            <a:off x="4023360" y="1508760"/>
            <a:ext cx="411480" cy="411480"/>
          </a:xfrm>
          <a:prstGeom prst="line">
            <a:avLst/>
          </a:prstGeom>
          <a:noFill/>
          <a:ln w="15875">
            <a:solidFill>
              <a:srgbClr val="FF8A5B"/>
            </a:solidFill>
            <a:prstDash val="solid"/>
            <a:tailEnd type="triangle"/>
          </a:ln>
        </p:spPr>
      </p:sp>
      <p:sp>
        <p:nvSpPr>
          <p:cNvPr id="10" name="Shape 8"/>
          <p:cNvSpPr/>
          <p:nvPr/>
        </p:nvSpPr>
        <p:spPr>
          <a:xfrm>
            <a:off x="4023360" y="2194560"/>
            <a:ext cx="411480" cy="411480"/>
          </a:xfrm>
          <a:prstGeom prst="line">
            <a:avLst/>
          </a:prstGeom>
          <a:noFill/>
          <a:ln w="15875">
            <a:solidFill>
              <a:srgbClr val="2C67F2"/>
            </a:solidFill>
            <a:prstDash val="solid"/>
            <a:tailEnd type="triangle"/>
          </a:ln>
        </p:spPr>
      </p:sp>
      <p:sp>
        <p:nvSpPr>
          <p:cNvPr id="11" name="Shape 9"/>
          <p:cNvSpPr/>
          <p:nvPr/>
        </p:nvSpPr>
        <p:spPr>
          <a:xfrm>
            <a:off x="4434840" y="1234440"/>
            <a:ext cx="2148840" cy="640080"/>
          </a:xfrm>
          <a:prstGeom prst="roundRect">
            <a:avLst>
              <a:gd name="adj" fmla="val 11429"/>
            </a:avLst>
          </a:prstGeom>
          <a:solidFill>
            <a:srgbClr val="FFF0EA"/>
          </a:solidFill>
          <a:ln w="12700">
            <a:solidFill>
              <a:srgbClr val="FF8A5B"/>
            </a:solidFill>
            <a:prstDash val="solid"/>
          </a:ln>
        </p:spPr>
      </p:sp>
      <p:sp>
        <p:nvSpPr>
          <p:cNvPr id="12" name="Text 10"/>
          <p:cNvSpPr txBox="1"/>
          <p:nvPr/>
        </p:nvSpPr>
        <p:spPr>
          <a:xfrm>
            <a:off x="4434840" y="1234440"/>
            <a:ext cx="2148840" cy="640080"/>
          </a:xfrm>
          <a:prstGeom prst="rect">
            <a:avLst/>
          </a:prstGeom>
          <a:noFill/>
          <a:ln/>
        </p:spPr>
        <p:txBody>
          <a:bodyPr wrap="square" lIns="0" tIns="0" rIns="0" bIns="0" rtlCol="0" anchor="ctr"/>
          <a:lstStyle/>
          <a:p>
            <a:pPr algn="ctr" indent="0" marL="0">
              <a:buNone/>
            </a:pPr>
            <a:r>
              <a:rPr lang="en-US" sz="1150" b="1" dirty="0">
                <a:solidFill>
                  <a:srgbClr val="17213A"/>
                </a:solidFill>
                <a:latin typeface="Arial" pitchFamily="34" charset="0"/>
                <a:ea typeface="Arial" pitchFamily="34" charset="-122"/>
                <a:cs typeface="Arial" pitchFamily="34" charset="-120"/>
              </a:rPr>
              <a:t>Hand-k</a:t>
            </a:r>
            <a:endParaRPr lang="en-US" sz="1150" dirty="0"/>
          </a:p>
          <a:p>
            <a:pPr algn="ctr" indent="0" marL="0">
              <a:buNone/>
            </a:pPr>
            <a:r>
              <a:rPr lang="en-US" sz="950" dirty="0">
                <a:solidFill>
                  <a:srgbClr val="62708D"/>
                </a:solidFill>
                <a:latin typeface="Arial" pitchFamily="34" charset="0"/>
                <a:ea typeface="Arial" pitchFamily="34" charset="-122"/>
                <a:cs typeface="Arial" pitchFamily="34" charset="-120"/>
              </a:rPr>
              <a:t>PCA of expert finger action</a:t>
            </a:r>
            <a:endParaRPr lang="en-US" sz="1150" dirty="0"/>
          </a:p>
        </p:txBody>
      </p:sp>
      <p:sp>
        <p:nvSpPr>
          <p:cNvPr id="13" name="Shape 11"/>
          <p:cNvSpPr/>
          <p:nvPr/>
        </p:nvSpPr>
        <p:spPr>
          <a:xfrm>
            <a:off x="4434840" y="2240280"/>
            <a:ext cx="2148840" cy="640080"/>
          </a:xfrm>
          <a:prstGeom prst="roundRect">
            <a:avLst>
              <a:gd name="adj" fmla="val 11429"/>
            </a:avLst>
          </a:prstGeom>
          <a:solidFill>
            <a:srgbClr val="EAF0FF"/>
          </a:solidFill>
          <a:ln w="12700">
            <a:solidFill>
              <a:srgbClr val="2C67F2"/>
            </a:solidFill>
            <a:prstDash val="solid"/>
          </a:ln>
        </p:spPr>
      </p:sp>
      <p:sp>
        <p:nvSpPr>
          <p:cNvPr id="14" name="Text 12"/>
          <p:cNvSpPr txBox="1"/>
          <p:nvPr/>
        </p:nvSpPr>
        <p:spPr>
          <a:xfrm>
            <a:off x="4434840" y="2240280"/>
            <a:ext cx="2148840" cy="640080"/>
          </a:xfrm>
          <a:prstGeom prst="rect">
            <a:avLst/>
          </a:prstGeom>
          <a:noFill/>
          <a:ln/>
        </p:spPr>
        <p:txBody>
          <a:bodyPr wrap="square" lIns="0" tIns="0" rIns="0" bIns="0" rtlCol="0" anchor="ctr"/>
          <a:lstStyle/>
          <a:p>
            <a:pPr algn="ctr" indent="0" marL="0">
              <a:buNone/>
            </a:pPr>
            <a:r>
              <a:rPr lang="en-US" sz="1150" b="1" dirty="0">
                <a:solidFill>
                  <a:srgbClr val="17213A"/>
                </a:solidFill>
                <a:latin typeface="Arial" pitchFamily="34" charset="0"/>
                <a:ea typeface="Arial" pitchFamily="34" charset="-122"/>
                <a:cs typeface="Arial" pitchFamily="34" charset="-120"/>
              </a:rPr>
              <a:t>Object-k</a:t>
            </a:r>
            <a:endParaRPr lang="en-US" sz="1150" dirty="0"/>
          </a:p>
          <a:p>
            <a:pPr algn="ctr" indent="0" marL="0">
              <a:buNone/>
            </a:pPr>
            <a:r>
              <a:rPr lang="en-US" sz="950" dirty="0">
                <a:solidFill>
                  <a:srgbClr val="62708D"/>
                </a:solidFill>
                <a:latin typeface="Arial" pitchFamily="34" charset="0"/>
                <a:ea typeface="Arial" pitchFamily="34" charset="-122"/>
                <a:cs typeface="Arial" pitchFamily="34" charset="-120"/>
              </a:rPr>
              <a:t>cube sub-goal or progress</a:t>
            </a:r>
            <a:endParaRPr lang="en-US" sz="1150" dirty="0"/>
          </a:p>
        </p:txBody>
      </p:sp>
      <p:sp>
        <p:nvSpPr>
          <p:cNvPr id="15" name="Shape 13"/>
          <p:cNvSpPr/>
          <p:nvPr/>
        </p:nvSpPr>
        <p:spPr>
          <a:xfrm>
            <a:off x="6583680" y="1554480"/>
            <a:ext cx="365760" cy="365760"/>
          </a:xfrm>
          <a:prstGeom prst="line">
            <a:avLst/>
          </a:prstGeom>
          <a:noFill/>
          <a:ln w="15875">
            <a:solidFill>
              <a:srgbClr val="FF8A5B"/>
            </a:solidFill>
            <a:prstDash val="solid"/>
            <a:tailEnd type="triangle"/>
          </a:ln>
        </p:spPr>
      </p:sp>
      <p:sp>
        <p:nvSpPr>
          <p:cNvPr id="16" name="Shape 14"/>
          <p:cNvSpPr/>
          <p:nvPr/>
        </p:nvSpPr>
        <p:spPr>
          <a:xfrm flipV="1">
            <a:off x="6583680" y="2194560"/>
            <a:ext cx="365760" cy="365760"/>
          </a:xfrm>
          <a:prstGeom prst="line">
            <a:avLst/>
          </a:prstGeom>
          <a:noFill/>
          <a:ln w="15875">
            <a:solidFill>
              <a:srgbClr val="2C67F2"/>
            </a:solidFill>
            <a:prstDash val="solid"/>
            <a:tailEnd type="triangle"/>
          </a:ln>
        </p:spPr>
      </p:sp>
      <p:sp>
        <p:nvSpPr>
          <p:cNvPr id="17" name="Shape 15"/>
          <p:cNvSpPr/>
          <p:nvPr/>
        </p:nvSpPr>
        <p:spPr>
          <a:xfrm>
            <a:off x="6949440" y="1645920"/>
            <a:ext cx="1737360" cy="822960"/>
          </a:xfrm>
          <a:prstGeom prst="roundRect">
            <a:avLst>
              <a:gd name="adj" fmla="val 8889"/>
            </a:avLst>
          </a:prstGeom>
          <a:solidFill>
            <a:srgbClr val="0B1633"/>
          </a:solidFill>
          <a:ln w="12700">
            <a:solidFill>
              <a:srgbClr val="0B1633"/>
            </a:solidFill>
            <a:prstDash val="solid"/>
          </a:ln>
        </p:spPr>
      </p:sp>
      <p:sp>
        <p:nvSpPr>
          <p:cNvPr id="18" name="Text 16"/>
          <p:cNvSpPr txBox="1"/>
          <p:nvPr/>
        </p:nvSpPr>
        <p:spPr>
          <a:xfrm>
            <a:off x="6949440" y="1645920"/>
            <a:ext cx="173736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Student PPO</a:t>
            </a:r>
            <a:endParaRPr lang="en-US" sz="1200" dirty="0"/>
          </a:p>
          <a:p>
            <a:pPr algn="ctr" indent="0" marL="0">
              <a:buNone/>
            </a:pPr>
            <a:r>
              <a:rPr lang="en-US" sz="950" dirty="0">
                <a:solidFill>
                  <a:srgbClr val="9CB0D7"/>
                </a:solidFill>
                <a:latin typeface="Arial" pitchFamily="34" charset="0"/>
                <a:ea typeface="Arial" pitchFamily="34" charset="-122"/>
                <a:cs typeface="Arial" pitchFamily="34" charset="-120"/>
              </a:rPr>
              <a:t>intent + robot/cube state</a:t>
            </a:r>
            <a:endParaRPr lang="en-US" sz="1200" dirty="0"/>
          </a:p>
        </p:txBody>
      </p:sp>
      <p:sp>
        <p:nvSpPr>
          <p:cNvPr id="19" name="Text 17"/>
          <p:cNvSpPr txBox="1"/>
          <p:nvPr/>
        </p:nvSpPr>
        <p:spPr>
          <a:xfrm>
            <a:off x="457200" y="3291840"/>
            <a:ext cx="1097280" cy="365760"/>
          </a:xfrm>
          <a:prstGeom prst="rect">
            <a:avLst/>
          </a:prstGeom>
          <a:noFill/>
          <a:ln/>
        </p:spPr>
        <p:txBody>
          <a:bodyPr wrap="square" lIns="0" tIns="0" rIns="0" bIns="0" rtlCol="0" anchor="ctr"/>
          <a:lstStyle/>
          <a:p>
            <a:pPr indent="0" marL="0">
              <a:buNone/>
            </a:pPr>
            <a:r>
              <a:rPr lang="en-US" sz="1200" b="1" dirty="0">
                <a:solidFill>
                  <a:srgbClr val="17213A"/>
                </a:solidFill>
                <a:latin typeface="Arial" pitchFamily="34" charset="0"/>
                <a:ea typeface="Arial" pitchFamily="34" charset="-122"/>
                <a:cs typeface="Arial" pitchFamily="34" charset="-120"/>
              </a:rPr>
              <a:t>Sweep k</a:t>
            </a:r>
            <a:endParaRPr lang="en-US" sz="1200" dirty="0"/>
          </a:p>
        </p:txBody>
      </p:sp>
      <p:sp>
        <p:nvSpPr>
          <p:cNvPr id="20" name="Shape 18"/>
          <p:cNvSpPr/>
          <p:nvPr/>
        </p:nvSpPr>
        <p:spPr>
          <a:xfrm>
            <a:off x="1554480" y="3291840"/>
            <a:ext cx="548640" cy="365760"/>
          </a:xfrm>
          <a:prstGeom prst="roundRect">
            <a:avLst>
              <a:gd name="adj" fmla="val 20000"/>
            </a:avLst>
          </a:prstGeom>
          <a:solidFill>
            <a:srgbClr val="F6F8FC"/>
          </a:solidFill>
          <a:ln w="12700">
            <a:solidFill>
              <a:srgbClr val="D9E0EC"/>
            </a:solidFill>
            <a:prstDash val="solid"/>
          </a:ln>
        </p:spPr>
      </p:sp>
      <p:sp>
        <p:nvSpPr>
          <p:cNvPr id="21" name="Text 19"/>
          <p:cNvSpPr txBox="1"/>
          <p:nvPr/>
        </p:nvSpPr>
        <p:spPr>
          <a:xfrm>
            <a:off x="1554480" y="3291840"/>
            <a:ext cx="548640" cy="365760"/>
          </a:xfrm>
          <a:prstGeom prst="rect">
            <a:avLst/>
          </a:prstGeom>
          <a:noFill/>
          <a:ln/>
        </p:spPr>
        <p:txBody>
          <a:bodyPr wrap="square" lIns="0" tIns="0" rIns="0" bIns="0" rtlCol="0" anchor="ctr"/>
          <a:lstStyle/>
          <a:p>
            <a:pPr algn="ctr" indent="0" marL="0">
              <a:buNone/>
            </a:pPr>
            <a:r>
              <a:rPr lang="en-US" sz="1200" b="1" dirty="0">
                <a:solidFill>
                  <a:srgbClr val="17213A"/>
                </a:solidFill>
                <a:latin typeface="Arial" pitchFamily="34" charset="0"/>
                <a:ea typeface="Arial" pitchFamily="34" charset="-122"/>
                <a:cs typeface="Arial" pitchFamily="34" charset="-120"/>
              </a:rPr>
              <a:t>0</a:t>
            </a:r>
            <a:endParaRPr lang="en-US" sz="1200" dirty="0"/>
          </a:p>
        </p:txBody>
      </p:sp>
      <p:sp>
        <p:nvSpPr>
          <p:cNvPr id="22" name="Shape 20"/>
          <p:cNvSpPr/>
          <p:nvPr/>
        </p:nvSpPr>
        <p:spPr>
          <a:xfrm>
            <a:off x="2212848" y="3291840"/>
            <a:ext cx="548640" cy="365760"/>
          </a:xfrm>
          <a:prstGeom prst="roundRect">
            <a:avLst>
              <a:gd name="adj" fmla="val 20000"/>
            </a:avLst>
          </a:prstGeom>
          <a:solidFill>
            <a:srgbClr val="FFFFFF"/>
          </a:solidFill>
          <a:ln w="12700">
            <a:solidFill>
              <a:srgbClr val="D9E0EC"/>
            </a:solidFill>
            <a:prstDash val="solid"/>
          </a:ln>
        </p:spPr>
      </p:sp>
      <p:sp>
        <p:nvSpPr>
          <p:cNvPr id="23" name="Text 21"/>
          <p:cNvSpPr txBox="1"/>
          <p:nvPr/>
        </p:nvSpPr>
        <p:spPr>
          <a:xfrm>
            <a:off x="2212848" y="3291840"/>
            <a:ext cx="548640" cy="365760"/>
          </a:xfrm>
          <a:prstGeom prst="rect">
            <a:avLst/>
          </a:prstGeom>
          <a:noFill/>
          <a:ln/>
        </p:spPr>
        <p:txBody>
          <a:bodyPr wrap="square" lIns="0" tIns="0" rIns="0" bIns="0" rtlCol="0" anchor="ctr"/>
          <a:lstStyle/>
          <a:p>
            <a:pPr algn="ctr" indent="0" marL="0">
              <a:buNone/>
            </a:pPr>
            <a:r>
              <a:rPr lang="en-US" sz="1200" b="1" dirty="0">
                <a:solidFill>
                  <a:srgbClr val="17213A"/>
                </a:solidFill>
                <a:latin typeface="Arial" pitchFamily="34" charset="0"/>
                <a:ea typeface="Arial" pitchFamily="34" charset="-122"/>
                <a:cs typeface="Arial" pitchFamily="34" charset="-120"/>
              </a:rPr>
              <a:t>1</a:t>
            </a:r>
            <a:endParaRPr lang="en-US" sz="1200" dirty="0"/>
          </a:p>
        </p:txBody>
      </p:sp>
      <p:sp>
        <p:nvSpPr>
          <p:cNvPr id="24" name="Shape 22"/>
          <p:cNvSpPr/>
          <p:nvPr/>
        </p:nvSpPr>
        <p:spPr>
          <a:xfrm>
            <a:off x="2871216" y="3291840"/>
            <a:ext cx="548640" cy="365760"/>
          </a:xfrm>
          <a:prstGeom prst="roundRect">
            <a:avLst>
              <a:gd name="adj" fmla="val 20000"/>
            </a:avLst>
          </a:prstGeom>
          <a:solidFill>
            <a:srgbClr val="FFFFFF"/>
          </a:solidFill>
          <a:ln w="12700">
            <a:solidFill>
              <a:srgbClr val="D9E0EC"/>
            </a:solidFill>
            <a:prstDash val="solid"/>
          </a:ln>
        </p:spPr>
      </p:sp>
      <p:sp>
        <p:nvSpPr>
          <p:cNvPr id="25" name="Text 23"/>
          <p:cNvSpPr txBox="1"/>
          <p:nvPr/>
        </p:nvSpPr>
        <p:spPr>
          <a:xfrm>
            <a:off x="2871216" y="3291840"/>
            <a:ext cx="548640" cy="365760"/>
          </a:xfrm>
          <a:prstGeom prst="rect">
            <a:avLst/>
          </a:prstGeom>
          <a:noFill/>
          <a:ln/>
        </p:spPr>
        <p:txBody>
          <a:bodyPr wrap="square" lIns="0" tIns="0" rIns="0" bIns="0" rtlCol="0" anchor="ctr"/>
          <a:lstStyle/>
          <a:p>
            <a:pPr algn="ctr" indent="0" marL="0">
              <a:buNone/>
            </a:pPr>
            <a:r>
              <a:rPr lang="en-US" sz="1200" b="1" dirty="0">
                <a:solidFill>
                  <a:srgbClr val="17213A"/>
                </a:solidFill>
                <a:latin typeface="Arial" pitchFamily="34" charset="0"/>
                <a:ea typeface="Arial" pitchFamily="34" charset="-122"/>
                <a:cs typeface="Arial" pitchFamily="34" charset="-120"/>
              </a:rPr>
              <a:t>2</a:t>
            </a:r>
            <a:endParaRPr lang="en-US" sz="1200" dirty="0"/>
          </a:p>
        </p:txBody>
      </p:sp>
      <p:sp>
        <p:nvSpPr>
          <p:cNvPr id="26" name="Shape 24"/>
          <p:cNvSpPr/>
          <p:nvPr/>
        </p:nvSpPr>
        <p:spPr>
          <a:xfrm>
            <a:off x="3529584" y="3291840"/>
            <a:ext cx="548640" cy="365760"/>
          </a:xfrm>
          <a:prstGeom prst="roundRect">
            <a:avLst>
              <a:gd name="adj" fmla="val 20000"/>
            </a:avLst>
          </a:prstGeom>
          <a:solidFill>
            <a:srgbClr val="FFFFFF"/>
          </a:solidFill>
          <a:ln w="12700">
            <a:solidFill>
              <a:srgbClr val="D9E0EC"/>
            </a:solidFill>
            <a:prstDash val="solid"/>
          </a:ln>
        </p:spPr>
      </p:sp>
      <p:sp>
        <p:nvSpPr>
          <p:cNvPr id="27" name="Text 25"/>
          <p:cNvSpPr txBox="1"/>
          <p:nvPr/>
        </p:nvSpPr>
        <p:spPr>
          <a:xfrm>
            <a:off x="3529584" y="3291840"/>
            <a:ext cx="548640" cy="365760"/>
          </a:xfrm>
          <a:prstGeom prst="rect">
            <a:avLst/>
          </a:prstGeom>
          <a:noFill/>
          <a:ln/>
        </p:spPr>
        <p:txBody>
          <a:bodyPr wrap="square" lIns="0" tIns="0" rIns="0" bIns="0" rtlCol="0" anchor="ctr"/>
          <a:lstStyle/>
          <a:p>
            <a:pPr algn="ctr" indent="0" marL="0">
              <a:buNone/>
            </a:pPr>
            <a:r>
              <a:rPr lang="en-US" sz="1200" b="1" dirty="0">
                <a:solidFill>
                  <a:srgbClr val="17213A"/>
                </a:solidFill>
                <a:latin typeface="Arial" pitchFamily="34" charset="0"/>
                <a:ea typeface="Arial" pitchFamily="34" charset="-122"/>
                <a:cs typeface="Arial" pitchFamily="34" charset="-120"/>
              </a:rPr>
              <a:t>4</a:t>
            </a:r>
            <a:endParaRPr lang="en-US" sz="1200" dirty="0"/>
          </a:p>
        </p:txBody>
      </p:sp>
      <p:sp>
        <p:nvSpPr>
          <p:cNvPr id="28" name="Shape 26"/>
          <p:cNvSpPr/>
          <p:nvPr/>
        </p:nvSpPr>
        <p:spPr>
          <a:xfrm>
            <a:off x="4187952" y="3291840"/>
            <a:ext cx="548640" cy="365760"/>
          </a:xfrm>
          <a:prstGeom prst="roundRect">
            <a:avLst>
              <a:gd name="adj" fmla="val 20000"/>
            </a:avLst>
          </a:prstGeom>
          <a:solidFill>
            <a:srgbClr val="FFFFFF"/>
          </a:solidFill>
          <a:ln w="12700">
            <a:solidFill>
              <a:srgbClr val="D9E0EC"/>
            </a:solidFill>
            <a:prstDash val="solid"/>
          </a:ln>
        </p:spPr>
      </p:sp>
      <p:sp>
        <p:nvSpPr>
          <p:cNvPr id="29" name="Text 27"/>
          <p:cNvSpPr txBox="1"/>
          <p:nvPr/>
        </p:nvSpPr>
        <p:spPr>
          <a:xfrm>
            <a:off x="4187952" y="3291840"/>
            <a:ext cx="548640" cy="365760"/>
          </a:xfrm>
          <a:prstGeom prst="rect">
            <a:avLst/>
          </a:prstGeom>
          <a:noFill/>
          <a:ln/>
        </p:spPr>
        <p:txBody>
          <a:bodyPr wrap="square" lIns="0" tIns="0" rIns="0" bIns="0" rtlCol="0" anchor="ctr"/>
          <a:lstStyle/>
          <a:p>
            <a:pPr algn="ctr" indent="0" marL="0">
              <a:buNone/>
            </a:pPr>
            <a:r>
              <a:rPr lang="en-US" sz="1200" b="1" dirty="0">
                <a:solidFill>
                  <a:srgbClr val="17213A"/>
                </a:solidFill>
                <a:latin typeface="Arial" pitchFamily="34" charset="0"/>
                <a:ea typeface="Arial" pitchFamily="34" charset="-122"/>
                <a:cs typeface="Arial" pitchFamily="34" charset="-120"/>
              </a:rPr>
              <a:t>8</a:t>
            </a:r>
            <a:endParaRPr lang="en-US" sz="1200" dirty="0"/>
          </a:p>
        </p:txBody>
      </p:sp>
      <p:sp>
        <p:nvSpPr>
          <p:cNvPr id="30" name="Shape 28"/>
          <p:cNvSpPr/>
          <p:nvPr/>
        </p:nvSpPr>
        <p:spPr>
          <a:xfrm>
            <a:off x="4846320" y="3291840"/>
            <a:ext cx="548640" cy="365760"/>
          </a:xfrm>
          <a:prstGeom prst="roundRect">
            <a:avLst>
              <a:gd name="adj" fmla="val 20000"/>
            </a:avLst>
          </a:prstGeom>
          <a:solidFill>
            <a:srgbClr val="FFFFFF"/>
          </a:solidFill>
          <a:ln w="12700">
            <a:solidFill>
              <a:srgbClr val="D9E0EC"/>
            </a:solidFill>
            <a:prstDash val="solid"/>
          </a:ln>
        </p:spPr>
      </p:sp>
      <p:sp>
        <p:nvSpPr>
          <p:cNvPr id="31" name="Text 29"/>
          <p:cNvSpPr txBox="1"/>
          <p:nvPr/>
        </p:nvSpPr>
        <p:spPr>
          <a:xfrm>
            <a:off x="4846320" y="3291840"/>
            <a:ext cx="548640" cy="365760"/>
          </a:xfrm>
          <a:prstGeom prst="rect">
            <a:avLst/>
          </a:prstGeom>
          <a:noFill/>
          <a:ln/>
        </p:spPr>
        <p:txBody>
          <a:bodyPr wrap="square" lIns="0" tIns="0" rIns="0" bIns="0" rtlCol="0" anchor="ctr"/>
          <a:lstStyle/>
          <a:p>
            <a:pPr algn="ctr" indent="0" marL="0">
              <a:buNone/>
            </a:pPr>
            <a:r>
              <a:rPr lang="en-US" sz="1200" b="1" dirty="0">
                <a:solidFill>
                  <a:srgbClr val="17213A"/>
                </a:solidFill>
                <a:latin typeface="Arial" pitchFamily="34" charset="0"/>
                <a:ea typeface="Arial" pitchFamily="34" charset="-122"/>
                <a:cs typeface="Arial" pitchFamily="34" charset="-120"/>
              </a:rPr>
              <a:t>16</a:t>
            </a:r>
            <a:endParaRPr lang="en-US" sz="1200" dirty="0"/>
          </a:p>
        </p:txBody>
      </p:sp>
      <p:sp>
        <p:nvSpPr>
          <p:cNvPr id="32" name="Text 30"/>
          <p:cNvSpPr txBox="1"/>
          <p:nvPr/>
        </p:nvSpPr>
        <p:spPr>
          <a:xfrm>
            <a:off x="5577840" y="3291840"/>
            <a:ext cx="3108960" cy="365760"/>
          </a:xfrm>
          <a:prstGeom prst="rect">
            <a:avLst/>
          </a:prstGeom>
          <a:noFill/>
          <a:ln/>
        </p:spPr>
        <p:txBody>
          <a:bodyPr wrap="square" lIns="0" tIns="0" rIns="0" bIns="0" rtlCol="0" anchor="ctr"/>
          <a:lstStyle/>
          <a:p>
            <a:pPr indent="0" marL="0">
              <a:buNone/>
            </a:pPr>
            <a:r>
              <a:rPr lang="en-US" sz="950" dirty="0">
                <a:solidFill>
                  <a:srgbClr val="62708D"/>
                </a:solidFill>
                <a:latin typeface="Arial" pitchFamily="34" charset="0"/>
                <a:ea typeface="Arial" pitchFamily="34" charset="-122"/>
                <a:cs typeface="Arial" pitchFamily="34" charset="-120"/>
              </a:rPr>
              <a:t>k = 0: no intent (lower bound)    k = 16: full hand</a:t>
            </a:r>
            <a:endParaRPr lang="en-US" sz="950" dirty="0"/>
          </a:p>
        </p:txBody>
      </p:sp>
      <p:sp>
        <p:nvSpPr>
          <p:cNvPr id="33" name="Shape 31"/>
          <p:cNvSpPr/>
          <p:nvPr/>
        </p:nvSpPr>
        <p:spPr>
          <a:xfrm>
            <a:off x="457200" y="3931920"/>
            <a:ext cx="8229600" cy="0"/>
          </a:xfrm>
          <a:prstGeom prst="line">
            <a:avLst/>
          </a:prstGeom>
          <a:noFill/>
          <a:ln w="9525">
            <a:solidFill>
              <a:srgbClr val="D9E0EC"/>
            </a:solidFill>
            <a:prstDash val="solid"/>
          </a:ln>
        </p:spPr>
      </p:sp>
      <p:sp>
        <p:nvSpPr>
          <p:cNvPr id="34" name="Text 32"/>
          <p:cNvSpPr txBox="1"/>
          <p:nvPr/>
        </p:nvSpPr>
        <p:spPr>
          <a:xfrm>
            <a:off x="457200" y="4069080"/>
            <a:ext cx="3931920" cy="685800"/>
          </a:xfrm>
          <a:prstGeom prst="rect">
            <a:avLst/>
          </a:prstGeom>
          <a:noFill/>
          <a:ln/>
        </p:spPr>
        <p:txBody>
          <a:bodyPr wrap="square" lIns="0" tIns="0" rIns="0" bIns="0" rtlCol="0" anchor="t"/>
          <a:lstStyle/>
          <a:p>
            <a:pPr indent="0" marL="0">
              <a:buNone/>
            </a:pPr>
            <a:r>
              <a:rPr lang="en-US" sz="1050" b="1" dirty="0">
                <a:solidFill>
                  <a:srgbClr val="17213A"/>
                </a:solidFill>
                <a:latin typeface="Arial" pitchFamily="34" charset="0"/>
                <a:ea typeface="Arial" pitchFamily="34" charset="-122"/>
                <a:cs typeface="Arial" pitchFamily="34" charset="-120"/>
              </a:rPr>
              <a:t>Why an oracle: </a:t>
            </a:r>
            <a:pPr indent="0" marL="0">
              <a:buNone/>
            </a:pPr>
            <a:r>
              <a:rPr lang="en-US" sz="1050" dirty="0">
                <a:solidFill>
                  <a:srgbClr val="62708D"/>
                </a:solidFill>
                <a:latin typeface="Arial" pitchFamily="34" charset="0"/>
                <a:ea typeface="Arial" pitchFamily="34" charset="-122"/>
                <a:cs typeface="Arial" pitchFamily="34" charset="-120"/>
              </a:rPr>
              <a:t>intent is computed on the student’s own state, so no offline human sequence has to be aligned with simulation.</a:t>
            </a:r>
            <a:endParaRPr lang="en-US" sz="1050" dirty="0"/>
          </a:p>
        </p:txBody>
      </p:sp>
      <p:sp>
        <p:nvSpPr>
          <p:cNvPr id="35" name="Text 33"/>
          <p:cNvSpPr txBox="1"/>
          <p:nvPr/>
        </p:nvSpPr>
        <p:spPr>
          <a:xfrm>
            <a:off x="4754880" y="4069080"/>
            <a:ext cx="3931920" cy="685800"/>
          </a:xfrm>
          <a:prstGeom prst="rect">
            <a:avLst/>
          </a:prstGeom>
          <a:noFill/>
          <a:ln/>
        </p:spPr>
        <p:txBody>
          <a:bodyPr wrap="square" lIns="0" tIns="0" rIns="0" bIns="0" rtlCol="0" anchor="t"/>
          <a:lstStyle/>
          <a:p>
            <a:pPr indent="0" marL="0">
              <a:buNone/>
            </a:pPr>
            <a:r>
              <a:rPr lang="en-US" sz="1050" b="1" dirty="0">
                <a:solidFill>
                  <a:srgbClr val="17213A"/>
                </a:solidFill>
                <a:latin typeface="Arial" pitchFamily="34" charset="0"/>
                <a:ea typeface="Arial" pitchFamily="34" charset="-122"/>
                <a:cs typeface="Arial" pitchFamily="34" charset="-120"/>
              </a:rPr>
              <a:t>Where human hands enter: </a:t>
            </a:r>
            <a:pPr indent="0" marL="0">
              <a:buNone/>
            </a:pPr>
            <a:r>
              <a:rPr lang="en-US" sz="1050" dirty="0">
                <a:solidFill>
                  <a:srgbClr val="62708D"/>
                </a:solidFill>
                <a:latin typeface="Arial" pitchFamily="34" charset="0"/>
                <a:ea typeface="Arial" pitchFamily="34" charset="-122"/>
                <a:cs typeface="Arial" pitchFamily="34" charset="-120"/>
              </a:rPr>
              <a:t>camera hand data builds a human synergy basis, tested against the robot’s own basis.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C"/>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02920"/>
          </a:xfrm>
          <a:prstGeom prst="rect">
            <a:avLst/>
          </a:prstGeom>
          <a:noFill/>
          <a:ln/>
        </p:spPr>
        <p:txBody>
          <a:bodyPr wrap="square" lIns="0" tIns="0" rIns="0" bIns="0" rtlCol="0" anchor="ctr"/>
          <a:lstStyle/>
          <a:p>
            <a:pPr indent="0" marL="0">
              <a:buNone/>
            </a:pPr>
            <a:r>
              <a:rPr lang="en-US" sz="2100" b="1" dirty="0">
                <a:solidFill>
                  <a:srgbClr val="17213A"/>
                </a:solidFill>
                <a:latin typeface="Arial" pitchFamily="34" charset="0"/>
                <a:ea typeface="Arial" pitchFamily="34" charset="-122"/>
                <a:cs typeface="Arial" pitchFamily="34" charset="-120"/>
              </a:rPr>
              <a:t>Evaluation: how much performance each intent recovers</a:t>
            </a:r>
            <a:endParaRPr lang="en-US" sz="2100" dirty="0"/>
          </a:p>
        </p:txBody>
      </p:sp>
      <p:sp>
        <p:nvSpPr>
          <p:cNvPr id="3" name="Text 1"/>
          <p:cNvSpPr txBox="1"/>
          <p:nvPr/>
        </p:nvSpPr>
        <p:spPr>
          <a:xfrm>
            <a:off x="8321040" y="274320"/>
            <a:ext cx="365760" cy="274320"/>
          </a:xfrm>
          <a:prstGeom prst="rect">
            <a:avLst/>
          </a:prstGeom>
          <a:noFill/>
          <a:ln/>
        </p:spPr>
        <p:txBody>
          <a:bodyPr wrap="square" lIns="0" tIns="0" rIns="0" bIns="0" rtlCol="0" anchor="ctr"/>
          <a:lstStyle/>
          <a:p>
            <a:pPr algn="r" indent="0" marL="0">
              <a:buNone/>
            </a:pPr>
            <a:r>
              <a:rPr lang="en-US" sz="800" b="1" dirty="0">
                <a:solidFill>
                  <a:srgbClr val="2C67F2"/>
                </a:solidFill>
                <a:latin typeface="Arial" pitchFamily="34" charset="0"/>
                <a:ea typeface="Arial" pitchFamily="34" charset="-122"/>
                <a:cs typeface="Arial" pitchFamily="34" charset="-120"/>
              </a:rPr>
              <a:t>04</a:t>
            </a:r>
            <a:endParaRPr lang="en-US" sz="800" dirty="0"/>
          </a:p>
        </p:txBody>
      </p:sp>
      <p:sp>
        <p:nvSpPr>
          <p:cNvPr id="4" name="Shape 2"/>
          <p:cNvSpPr/>
          <p:nvPr/>
        </p:nvSpPr>
        <p:spPr>
          <a:xfrm>
            <a:off x="457200" y="960120"/>
            <a:ext cx="3931920" cy="1234440"/>
          </a:xfrm>
          <a:prstGeom prst="roundRect">
            <a:avLst>
              <a:gd name="adj" fmla="val 5926"/>
            </a:avLst>
          </a:prstGeom>
          <a:solidFill>
            <a:srgbClr val="FFFFFF"/>
          </a:solidFill>
          <a:ln w="12700">
            <a:solidFill>
              <a:srgbClr val="D9E0EC"/>
            </a:solidFill>
            <a:prstDash val="solid"/>
          </a:ln>
        </p:spPr>
      </p:sp>
      <p:sp>
        <p:nvSpPr>
          <p:cNvPr id="5" name="Text 3"/>
          <p:cNvSpPr txBox="1"/>
          <p:nvPr/>
        </p:nvSpPr>
        <p:spPr>
          <a:xfrm>
            <a:off x="640080" y="1069848"/>
            <a:ext cx="2743200" cy="228600"/>
          </a:xfrm>
          <a:prstGeom prst="rect">
            <a:avLst/>
          </a:prstGeom>
          <a:noFill/>
          <a:ln/>
        </p:spPr>
        <p:txBody>
          <a:bodyPr wrap="square" lIns="0" tIns="0" rIns="0" bIns="0" rtlCol="0" anchor="ctr"/>
          <a:lstStyle/>
          <a:p>
            <a:pPr indent="0" marL="0">
              <a:buNone/>
            </a:pPr>
            <a:r>
              <a:rPr lang="en-US" sz="1000" b="1" dirty="0">
                <a:solidFill>
                  <a:srgbClr val="FF8A5B"/>
                </a:solidFill>
                <a:latin typeface="Arial" pitchFamily="34" charset="0"/>
                <a:ea typeface="Arial" pitchFamily="34" charset="-122"/>
                <a:cs typeface="Arial" pitchFamily="34" charset="-120"/>
              </a:rPr>
              <a:t>Primary metric</a:t>
            </a:r>
            <a:endParaRPr lang="en-US" sz="1000" dirty="0"/>
          </a:p>
        </p:txBody>
      </p:sp>
      <p:sp>
        <p:nvSpPr>
          <p:cNvPr id="6" name="Text 4"/>
          <p:cNvSpPr txBox="1"/>
          <p:nvPr/>
        </p:nvSpPr>
        <p:spPr>
          <a:xfrm>
            <a:off x="640080" y="1344168"/>
            <a:ext cx="3657600" cy="365760"/>
          </a:xfrm>
          <a:prstGeom prst="rect">
            <a:avLst/>
          </a:prstGeom>
          <a:noFill/>
          <a:ln/>
        </p:spPr>
        <p:txBody>
          <a:bodyPr wrap="square" lIns="0" tIns="0" rIns="0" bIns="0" rtlCol="0" anchor="ctr"/>
          <a:lstStyle/>
          <a:p>
            <a:pPr indent="0" marL="0">
              <a:buNone/>
            </a:pPr>
            <a:r>
              <a:rPr lang="en-US" sz="1300" b="1" dirty="0">
                <a:solidFill>
                  <a:srgbClr val="17213A"/>
                </a:solidFill>
                <a:latin typeface="Arial" pitchFamily="34" charset="0"/>
                <a:ea typeface="Arial" pitchFamily="34" charset="-122"/>
                <a:cs typeface="Arial" pitchFamily="34" charset="-120"/>
              </a:rPr>
              <a:t>Recovery = (P − P_blind) / (P_oracle − P_blind)</a:t>
            </a:r>
            <a:endParaRPr lang="en-US" sz="1300" dirty="0"/>
          </a:p>
        </p:txBody>
      </p:sp>
      <p:sp>
        <p:nvSpPr>
          <p:cNvPr id="7" name="Text 5"/>
          <p:cNvSpPr txBox="1"/>
          <p:nvPr/>
        </p:nvSpPr>
        <p:spPr>
          <a:xfrm>
            <a:off x="640080" y="1783080"/>
            <a:ext cx="3657600" cy="274320"/>
          </a:xfrm>
          <a:prstGeom prst="rect">
            <a:avLst/>
          </a:prstGeom>
          <a:noFill/>
          <a:ln/>
        </p:spPr>
        <p:txBody>
          <a:bodyPr wrap="square" lIns="0" tIns="0" rIns="0" bIns="0" rtlCol="0" anchor="ctr"/>
          <a:lstStyle/>
          <a:p>
            <a:pPr indent="0" marL="0">
              <a:buNone/>
            </a:pPr>
            <a:r>
              <a:rPr lang="en-US" sz="950" dirty="0">
                <a:solidFill>
                  <a:srgbClr val="62708D"/>
                </a:solidFill>
                <a:latin typeface="Arial" pitchFamily="34" charset="0"/>
                <a:ea typeface="Arial" pitchFamily="34" charset="-122"/>
                <a:cs typeface="Arial" pitchFamily="34" charset="-120"/>
              </a:rPr>
              <a:t>0 = no better than no intent · 1 = as good as seeing the goal</a:t>
            </a:r>
            <a:endParaRPr lang="en-US" sz="950" dirty="0"/>
          </a:p>
        </p:txBody>
      </p:sp>
      <p:sp>
        <p:nvSpPr>
          <p:cNvPr id="8" name="Text 6"/>
          <p:cNvSpPr txBox="1"/>
          <p:nvPr/>
        </p:nvSpPr>
        <p:spPr>
          <a:xfrm>
            <a:off x="457200" y="2377440"/>
            <a:ext cx="1280160" cy="365760"/>
          </a:xfrm>
          <a:prstGeom prst="rect">
            <a:avLst/>
          </a:prstGeom>
          <a:noFill/>
          <a:ln/>
        </p:spPr>
        <p:txBody>
          <a:bodyPr wrap="square" lIns="0" tIns="0" rIns="0" bIns="0" rtlCol="0" anchor="ctr"/>
          <a:lstStyle/>
          <a:p>
            <a:pPr indent="0" marL="0">
              <a:buNone/>
            </a:pPr>
            <a:r>
              <a:rPr lang="en-US" sz="1250" b="1" dirty="0">
                <a:solidFill>
                  <a:srgbClr val="28B78D"/>
                </a:solidFill>
                <a:latin typeface="Arial" pitchFamily="34" charset="0"/>
                <a:ea typeface="Arial" pitchFamily="34" charset="-122"/>
                <a:cs typeface="Arial" pitchFamily="34" charset="-120"/>
              </a:rPr>
              <a:t>Success rate</a:t>
            </a:r>
            <a:endParaRPr lang="en-US" sz="1250" dirty="0"/>
          </a:p>
        </p:txBody>
      </p:sp>
      <p:sp>
        <p:nvSpPr>
          <p:cNvPr id="9" name="Text 7"/>
          <p:cNvSpPr txBox="1"/>
          <p:nvPr/>
        </p:nvSpPr>
        <p:spPr>
          <a:xfrm>
            <a:off x="1783080" y="2377440"/>
            <a:ext cx="2606040" cy="365760"/>
          </a:xfrm>
          <a:prstGeom prst="rect">
            <a:avLst/>
          </a:prstGeom>
          <a:noFill/>
          <a:ln/>
        </p:spPr>
        <p:txBody>
          <a:bodyPr wrap="square" lIns="0" tIns="0" rIns="0" bIns="0" rtlCol="0" anchor="ctr"/>
          <a:lstStyle/>
          <a:p>
            <a:pPr indent="0" marL="0">
              <a:buNone/>
            </a:pPr>
            <a:r>
              <a:rPr lang="en-US" sz="1050" dirty="0">
                <a:solidFill>
                  <a:srgbClr val="62708D"/>
                </a:solidFill>
                <a:latin typeface="Arial" pitchFamily="34" charset="0"/>
                <a:ea typeface="Arial" pitchFamily="34" charset="-122"/>
                <a:cs typeface="Arial" pitchFamily="34" charset="-120"/>
              </a:rPr>
              <a:t>final consecutive successes</a:t>
            </a:r>
            <a:endParaRPr lang="en-US" sz="1050" dirty="0"/>
          </a:p>
        </p:txBody>
      </p:sp>
      <p:sp>
        <p:nvSpPr>
          <p:cNvPr id="10" name="Text 8"/>
          <p:cNvSpPr txBox="1"/>
          <p:nvPr/>
        </p:nvSpPr>
        <p:spPr>
          <a:xfrm>
            <a:off x="457200" y="2880360"/>
            <a:ext cx="1280160" cy="365760"/>
          </a:xfrm>
          <a:prstGeom prst="rect">
            <a:avLst/>
          </a:prstGeom>
          <a:noFill/>
          <a:ln/>
        </p:spPr>
        <p:txBody>
          <a:bodyPr wrap="square" lIns="0" tIns="0" rIns="0" bIns="0" rtlCol="0" anchor="ctr"/>
          <a:lstStyle/>
          <a:p>
            <a:pPr indent="0" marL="0">
              <a:buNone/>
            </a:pPr>
            <a:r>
              <a:rPr lang="en-US" sz="1250" b="1" dirty="0">
                <a:solidFill>
                  <a:srgbClr val="2C67F2"/>
                </a:solidFill>
                <a:latin typeface="Arial" pitchFamily="34" charset="0"/>
                <a:ea typeface="Arial" pitchFamily="34" charset="-122"/>
                <a:cs typeface="Arial" pitchFamily="34" charset="-120"/>
              </a:rPr>
              <a:t>N₈₀</a:t>
            </a:r>
            <a:endParaRPr lang="en-US" sz="1250" dirty="0"/>
          </a:p>
        </p:txBody>
      </p:sp>
      <p:sp>
        <p:nvSpPr>
          <p:cNvPr id="11" name="Text 9"/>
          <p:cNvSpPr txBox="1"/>
          <p:nvPr/>
        </p:nvSpPr>
        <p:spPr>
          <a:xfrm>
            <a:off x="1783080" y="2880360"/>
            <a:ext cx="2606040" cy="365760"/>
          </a:xfrm>
          <a:prstGeom prst="rect">
            <a:avLst/>
          </a:prstGeom>
          <a:noFill/>
          <a:ln/>
        </p:spPr>
        <p:txBody>
          <a:bodyPr wrap="square" lIns="0" tIns="0" rIns="0" bIns="0" rtlCol="0" anchor="ctr"/>
          <a:lstStyle/>
          <a:p>
            <a:pPr indent="0" marL="0">
              <a:buNone/>
            </a:pPr>
            <a:r>
              <a:rPr lang="en-US" sz="1050" dirty="0">
                <a:solidFill>
                  <a:srgbClr val="62708D"/>
                </a:solidFill>
                <a:latin typeface="Arial" pitchFamily="34" charset="0"/>
                <a:ea typeface="Arial" pitchFamily="34" charset="-122"/>
                <a:cs typeface="Arial" pitchFamily="34" charset="-120"/>
              </a:rPr>
              <a:t>steps to 80% of expert</a:t>
            </a:r>
            <a:endParaRPr lang="en-US" sz="1050" dirty="0"/>
          </a:p>
        </p:txBody>
      </p:sp>
      <p:sp>
        <p:nvSpPr>
          <p:cNvPr id="12" name="Text 10"/>
          <p:cNvSpPr txBox="1"/>
          <p:nvPr/>
        </p:nvSpPr>
        <p:spPr>
          <a:xfrm>
            <a:off x="457200" y="3383280"/>
            <a:ext cx="1280160" cy="365760"/>
          </a:xfrm>
          <a:prstGeom prst="rect">
            <a:avLst/>
          </a:prstGeom>
          <a:noFill/>
          <a:ln/>
        </p:spPr>
        <p:txBody>
          <a:bodyPr wrap="square" lIns="0" tIns="0" rIns="0" bIns="0" rtlCol="0" anchor="ctr"/>
          <a:lstStyle/>
          <a:p>
            <a:pPr indent="0" marL="0">
              <a:buNone/>
            </a:pPr>
            <a:r>
              <a:rPr lang="en-US" sz="1250" b="1" dirty="0">
                <a:solidFill>
                  <a:srgbClr val="8A68E8"/>
                </a:solidFill>
                <a:latin typeface="Arial" pitchFamily="34" charset="0"/>
                <a:ea typeface="Arial" pitchFamily="34" charset="-122"/>
                <a:cs typeface="Arial" pitchFamily="34" charset="-120"/>
              </a:rPr>
              <a:t>AUC</a:t>
            </a:r>
            <a:endParaRPr lang="en-US" sz="1250" dirty="0"/>
          </a:p>
        </p:txBody>
      </p:sp>
      <p:sp>
        <p:nvSpPr>
          <p:cNvPr id="13" name="Text 11"/>
          <p:cNvSpPr txBox="1"/>
          <p:nvPr/>
        </p:nvSpPr>
        <p:spPr>
          <a:xfrm>
            <a:off x="1783080" y="3383280"/>
            <a:ext cx="2606040" cy="365760"/>
          </a:xfrm>
          <a:prstGeom prst="rect">
            <a:avLst/>
          </a:prstGeom>
          <a:noFill/>
          <a:ln/>
        </p:spPr>
        <p:txBody>
          <a:bodyPr wrap="square" lIns="0" tIns="0" rIns="0" bIns="0" rtlCol="0" anchor="ctr"/>
          <a:lstStyle/>
          <a:p>
            <a:pPr indent="0" marL="0">
              <a:buNone/>
            </a:pPr>
            <a:r>
              <a:rPr lang="en-US" sz="1050" dirty="0">
                <a:solidFill>
                  <a:srgbClr val="62708D"/>
                </a:solidFill>
                <a:latin typeface="Arial" pitchFamily="34" charset="0"/>
                <a:ea typeface="Arial" pitchFamily="34" charset="-122"/>
                <a:cs typeface="Arial" pitchFamily="34" charset="-120"/>
              </a:rPr>
              <a:t>area under learning curve</a:t>
            </a:r>
            <a:endParaRPr lang="en-US" sz="1050" dirty="0"/>
          </a:p>
        </p:txBody>
      </p:sp>
      <p:sp>
        <p:nvSpPr>
          <p:cNvPr id="14" name="Text 12"/>
          <p:cNvSpPr txBox="1"/>
          <p:nvPr/>
        </p:nvSpPr>
        <p:spPr>
          <a:xfrm>
            <a:off x="457200" y="4023360"/>
            <a:ext cx="3931920" cy="274320"/>
          </a:xfrm>
          <a:prstGeom prst="rect">
            <a:avLst/>
          </a:prstGeom>
          <a:noFill/>
          <a:ln/>
        </p:spPr>
        <p:txBody>
          <a:bodyPr wrap="square" lIns="0" tIns="0" rIns="0" bIns="0" rtlCol="0" anchor="ctr"/>
          <a:lstStyle/>
          <a:p>
            <a:pPr indent="0" marL="0">
              <a:buNone/>
            </a:pPr>
            <a:r>
              <a:rPr lang="en-US" sz="950" dirty="0">
                <a:solidFill>
                  <a:srgbClr val="62708D"/>
                </a:solidFill>
                <a:latin typeface="Arial" pitchFamily="34" charset="0"/>
                <a:ea typeface="Arial" pitchFamily="34" charset="-122"/>
                <a:cs typeface="Arial" pitchFamily="34" charset="-120"/>
              </a:rPr>
              <a:t>3 seeds per condition · identical evaluation episodes</a:t>
            </a:r>
            <a:endParaRPr lang="en-US" sz="950" dirty="0"/>
          </a:p>
        </p:txBody>
      </p:sp>
      <p:sp>
        <p:nvSpPr>
          <p:cNvPr id="15" name="Shape 13"/>
          <p:cNvSpPr/>
          <p:nvPr/>
        </p:nvSpPr>
        <p:spPr>
          <a:xfrm>
            <a:off x="4754880" y="960120"/>
            <a:ext cx="3931920" cy="3566160"/>
          </a:xfrm>
          <a:prstGeom prst="roundRect">
            <a:avLst>
              <a:gd name="adj" fmla="val 2051"/>
            </a:avLst>
          </a:prstGeom>
          <a:solidFill>
            <a:srgbClr val="FFFFFF"/>
          </a:solidFill>
          <a:ln w="12700">
            <a:solidFill>
              <a:srgbClr val="D9E0EC"/>
            </a:solidFill>
            <a:prstDash val="solid"/>
          </a:ln>
        </p:spPr>
      </p:sp>
      <p:sp>
        <p:nvSpPr>
          <p:cNvPr id="16" name="Text 14"/>
          <p:cNvSpPr txBox="1"/>
          <p:nvPr/>
        </p:nvSpPr>
        <p:spPr>
          <a:xfrm>
            <a:off x="4937760" y="1024128"/>
            <a:ext cx="3566160" cy="228600"/>
          </a:xfrm>
          <a:prstGeom prst="rect">
            <a:avLst/>
          </a:prstGeom>
          <a:noFill/>
          <a:ln/>
        </p:spPr>
        <p:txBody>
          <a:bodyPr wrap="square" lIns="0" tIns="0" rIns="0" bIns="0" rtlCol="0" anchor="ctr"/>
          <a:lstStyle/>
          <a:p>
            <a:pPr indent="0" marL="0">
              <a:buNone/>
            </a:pPr>
            <a:r>
              <a:rPr lang="en-US" sz="950" b="1" dirty="0">
                <a:solidFill>
                  <a:srgbClr val="62708D"/>
                </a:solidFill>
                <a:latin typeface="Arial" pitchFamily="34" charset="0"/>
                <a:ea typeface="Arial" pitchFamily="34" charset="-122"/>
                <a:cs typeface="Arial" pitchFamily="34" charset="-120"/>
              </a:rPr>
              <a:t>Expected output (illustrative)</a:t>
            </a:r>
            <a:endParaRPr lang="en-US" sz="950" dirty="0"/>
          </a:p>
        </p:txBody>
      </p:sp>
      <p:sp>
        <p:nvSpPr>
          <p:cNvPr id="17" name="Shape 15"/>
          <p:cNvSpPr/>
          <p:nvPr/>
        </p:nvSpPr>
        <p:spPr>
          <a:xfrm>
            <a:off x="5440680" y="3794760"/>
            <a:ext cx="2971800" cy="0"/>
          </a:xfrm>
          <a:prstGeom prst="line">
            <a:avLst/>
          </a:prstGeom>
          <a:noFill/>
          <a:ln w="12700">
            <a:solidFill>
              <a:srgbClr val="62708D"/>
            </a:solidFill>
            <a:prstDash val="solid"/>
          </a:ln>
        </p:spPr>
      </p:sp>
      <p:sp>
        <p:nvSpPr>
          <p:cNvPr id="18" name="Shape 16"/>
          <p:cNvSpPr/>
          <p:nvPr/>
        </p:nvSpPr>
        <p:spPr>
          <a:xfrm flipV="1">
            <a:off x="5440680" y="1645920"/>
            <a:ext cx="0" cy="2148840"/>
          </a:xfrm>
          <a:prstGeom prst="line">
            <a:avLst/>
          </a:prstGeom>
          <a:noFill/>
          <a:ln w="12700">
            <a:solidFill>
              <a:srgbClr val="62708D"/>
            </a:solidFill>
            <a:prstDash val="solid"/>
          </a:ln>
        </p:spPr>
      </p:sp>
      <p:sp>
        <p:nvSpPr>
          <p:cNvPr id="19" name="Text 17"/>
          <p:cNvSpPr txBox="1"/>
          <p:nvPr/>
        </p:nvSpPr>
        <p:spPr>
          <a:xfrm>
            <a:off x="5303520" y="3840480"/>
            <a:ext cx="274320" cy="182880"/>
          </a:xfrm>
          <a:prstGeom prst="rect">
            <a:avLst/>
          </a:prstGeom>
          <a:noFill/>
          <a:ln/>
        </p:spPr>
        <p:txBody>
          <a:bodyPr wrap="square" lIns="0" tIns="0" rIns="0" bIns="0" rtlCol="0" anchor="ctr"/>
          <a:lstStyle/>
          <a:p>
            <a:pPr algn="ctr" indent="0" marL="0">
              <a:buNone/>
            </a:pPr>
            <a:r>
              <a:rPr lang="en-US" sz="850" dirty="0">
                <a:solidFill>
                  <a:srgbClr val="62708D"/>
                </a:solidFill>
                <a:latin typeface="Arial" pitchFamily="34" charset="0"/>
                <a:ea typeface="Arial" pitchFamily="34" charset="-122"/>
                <a:cs typeface="Arial" pitchFamily="34" charset="-120"/>
              </a:rPr>
              <a:t>0</a:t>
            </a:r>
            <a:endParaRPr lang="en-US" sz="850" dirty="0"/>
          </a:p>
        </p:txBody>
      </p:sp>
      <p:sp>
        <p:nvSpPr>
          <p:cNvPr id="20" name="Text 18"/>
          <p:cNvSpPr txBox="1"/>
          <p:nvPr/>
        </p:nvSpPr>
        <p:spPr>
          <a:xfrm>
            <a:off x="5897880" y="3840480"/>
            <a:ext cx="274320" cy="182880"/>
          </a:xfrm>
          <a:prstGeom prst="rect">
            <a:avLst/>
          </a:prstGeom>
          <a:noFill/>
          <a:ln/>
        </p:spPr>
        <p:txBody>
          <a:bodyPr wrap="square" lIns="0" tIns="0" rIns="0" bIns="0" rtlCol="0" anchor="ctr"/>
          <a:lstStyle/>
          <a:p>
            <a:pPr algn="ctr" indent="0" marL="0">
              <a:buNone/>
            </a:pPr>
            <a:r>
              <a:rPr lang="en-US" sz="850" dirty="0">
                <a:solidFill>
                  <a:srgbClr val="62708D"/>
                </a:solidFill>
                <a:latin typeface="Arial" pitchFamily="34" charset="0"/>
                <a:ea typeface="Arial" pitchFamily="34" charset="-122"/>
                <a:cs typeface="Arial" pitchFamily="34" charset="-120"/>
              </a:rPr>
              <a:t>1</a:t>
            </a:r>
            <a:endParaRPr lang="en-US" sz="850" dirty="0"/>
          </a:p>
        </p:txBody>
      </p:sp>
      <p:sp>
        <p:nvSpPr>
          <p:cNvPr id="21" name="Text 19"/>
          <p:cNvSpPr txBox="1"/>
          <p:nvPr/>
        </p:nvSpPr>
        <p:spPr>
          <a:xfrm>
            <a:off x="6492240" y="3840480"/>
            <a:ext cx="274320" cy="182880"/>
          </a:xfrm>
          <a:prstGeom prst="rect">
            <a:avLst/>
          </a:prstGeom>
          <a:noFill/>
          <a:ln/>
        </p:spPr>
        <p:txBody>
          <a:bodyPr wrap="square" lIns="0" tIns="0" rIns="0" bIns="0" rtlCol="0" anchor="ctr"/>
          <a:lstStyle/>
          <a:p>
            <a:pPr algn="ctr" indent="0" marL="0">
              <a:buNone/>
            </a:pPr>
            <a:r>
              <a:rPr lang="en-US" sz="850" dirty="0">
                <a:solidFill>
                  <a:srgbClr val="62708D"/>
                </a:solidFill>
                <a:latin typeface="Arial" pitchFamily="34" charset="0"/>
                <a:ea typeface="Arial" pitchFamily="34" charset="-122"/>
                <a:cs typeface="Arial" pitchFamily="34" charset="-120"/>
              </a:rPr>
              <a:t>2</a:t>
            </a:r>
            <a:endParaRPr lang="en-US" sz="850" dirty="0"/>
          </a:p>
        </p:txBody>
      </p:sp>
      <p:sp>
        <p:nvSpPr>
          <p:cNvPr id="22" name="Text 20"/>
          <p:cNvSpPr txBox="1"/>
          <p:nvPr/>
        </p:nvSpPr>
        <p:spPr>
          <a:xfrm>
            <a:off x="7086600" y="3840480"/>
            <a:ext cx="274320" cy="182880"/>
          </a:xfrm>
          <a:prstGeom prst="rect">
            <a:avLst/>
          </a:prstGeom>
          <a:noFill/>
          <a:ln/>
        </p:spPr>
        <p:txBody>
          <a:bodyPr wrap="square" lIns="0" tIns="0" rIns="0" bIns="0" rtlCol="0" anchor="ctr"/>
          <a:lstStyle/>
          <a:p>
            <a:pPr algn="ctr" indent="0" marL="0">
              <a:buNone/>
            </a:pPr>
            <a:r>
              <a:rPr lang="en-US" sz="850" dirty="0">
                <a:solidFill>
                  <a:srgbClr val="62708D"/>
                </a:solidFill>
                <a:latin typeface="Arial" pitchFamily="34" charset="0"/>
                <a:ea typeface="Arial" pitchFamily="34" charset="-122"/>
                <a:cs typeface="Arial" pitchFamily="34" charset="-120"/>
              </a:rPr>
              <a:t>4</a:t>
            </a:r>
            <a:endParaRPr lang="en-US" sz="850" dirty="0"/>
          </a:p>
        </p:txBody>
      </p:sp>
      <p:sp>
        <p:nvSpPr>
          <p:cNvPr id="23" name="Text 21"/>
          <p:cNvSpPr txBox="1"/>
          <p:nvPr/>
        </p:nvSpPr>
        <p:spPr>
          <a:xfrm>
            <a:off x="7680960" y="3840480"/>
            <a:ext cx="274320" cy="182880"/>
          </a:xfrm>
          <a:prstGeom prst="rect">
            <a:avLst/>
          </a:prstGeom>
          <a:noFill/>
          <a:ln/>
        </p:spPr>
        <p:txBody>
          <a:bodyPr wrap="square" lIns="0" tIns="0" rIns="0" bIns="0" rtlCol="0" anchor="ctr"/>
          <a:lstStyle/>
          <a:p>
            <a:pPr algn="ctr" indent="0" marL="0">
              <a:buNone/>
            </a:pPr>
            <a:r>
              <a:rPr lang="en-US" sz="850" dirty="0">
                <a:solidFill>
                  <a:srgbClr val="62708D"/>
                </a:solidFill>
                <a:latin typeface="Arial" pitchFamily="34" charset="0"/>
                <a:ea typeface="Arial" pitchFamily="34" charset="-122"/>
                <a:cs typeface="Arial" pitchFamily="34" charset="-120"/>
              </a:rPr>
              <a:t>8</a:t>
            </a:r>
            <a:endParaRPr lang="en-US" sz="850" dirty="0"/>
          </a:p>
        </p:txBody>
      </p:sp>
      <p:sp>
        <p:nvSpPr>
          <p:cNvPr id="24" name="Text 22"/>
          <p:cNvSpPr txBox="1"/>
          <p:nvPr/>
        </p:nvSpPr>
        <p:spPr>
          <a:xfrm>
            <a:off x="8275320" y="3840480"/>
            <a:ext cx="274320" cy="182880"/>
          </a:xfrm>
          <a:prstGeom prst="rect">
            <a:avLst/>
          </a:prstGeom>
          <a:noFill/>
          <a:ln/>
        </p:spPr>
        <p:txBody>
          <a:bodyPr wrap="square" lIns="0" tIns="0" rIns="0" bIns="0" rtlCol="0" anchor="ctr"/>
          <a:lstStyle/>
          <a:p>
            <a:pPr algn="ctr" indent="0" marL="0">
              <a:buNone/>
            </a:pPr>
            <a:r>
              <a:rPr lang="en-US" sz="850" dirty="0">
                <a:solidFill>
                  <a:srgbClr val="62708D"/>
                </a:solidFill>
                <a:latin typeface="Arial" pitchFamily="34" charset="0"/>
                <a:ea typeface="Arial" pitchFamily="34" charset="-122"/>
                <a:cs typeface="Arial" pitchFamily="34" charset="-120"/>
              </a:rPr>
              <a:t>16</a:t>
            </a:r>
            <a:endParaRPr lang="en-US" sz="850" dirty="0"/>
          </a:p>
        </p:txBody>
      </p:sp>
      <p:sp>
        <p:nvSpPr>
          <p:cNvPr id="25" name="Text 23"/>
          <p:cNvSpPr txBox="1"/>
          <p:nvPr/>
        </p:nvSpPr>
        <p:spPr>
          <a:xfrm>
            <a:off x="5440680" y="4050792"/>
            <a:ext cx="2971800" cy="201168"/>
          </a:xfrm>
          <a:prstGeom prst="rect">
            <a:avLst/>
          </a:prstGeom>
          <a:noFill/>
          <a:ln/>
        </p:spPr>
        <p:txBody>
          <a:bodyPr wrap="square" lIns="0" tIns="0" rIns="0" bIns="0" rtlCol="0" anchor="ctr"/>
          <a:lstStyle/>
          <a:p>
            <a:pPr algn="ctr" indent="0" marL="0">
              <a:buNone/>
            </a:pPr>
            <a:r>
              <a:rPr lang="en-US" sz="900" dirty="0">
                <a:solidFill>
                  <a:srgbClr val="62708D"/>
                </a:solidFill>
                <a:latin typeface="Arial" pitchFamily="34" charset="0"/>
                <a:ea typeface="Arial" pitchFamily="34" charset="-122"/>
                <a:cs typeface="Arial" pitchFamily="34" charset="-120"/>
              </a:rPr>
              <a:t>intent dimension k</a:t>
            </a:r>
            <a:endParaRPr lang="en-US" sz="900" dirty="0"/>
          </a:p>
        </p:txBody>
      </p:sp>
      <p:sp>
        <p:nvSpPr>
          <p:cNvPr id="26" name="Text 24"/>
          <p:cNvSpPr txBox="1"/>
          <p:nvPr/>
        </p:nvSpPr>
        <p:spPr>
          <a:xfrm>
            <a:off x="4800600" y="1325880"/>
            <a:ext cx="640080" cy="182880"/>
          </a:xfrm>
          <a:prstGeom prst="rect">
            <a:avLst/>
          </a:prstGeom>
          <a:noFill/>
          <a:ln/>
        </p:spPr>
        <p:txBody>
          <a:bodyPr wrap="square" lIns="0" tIns="0" rIns="0" bIns="0" rtlCol="0" anchor="ctr"/>
          <a:lstStyle/>
          <a:p>
            <a:pPr indent="0" marL="0">
              <a:buNone/>
            </a:pPr>
            <a:r>
              <a:rPr lang="en-US" sz="900" dirty="0">
                <a:solidFill>
                  <a:srgbClr val="62708D"/>
                </a:solidFill>
                <a:latin typeface="Arial" pitchFamily="34" charset="0"/>
                <a:ea typeface="Arial" pitchFamily="34" charset="-122"/>
                <a:cs typeface="Arial" pitchFamily="34" charset="-120"/>
              </a:rPr>
              <a:t>Recovery</a:t>
            </a:r>
            <a:endParaRPr lang="en-US" sz="900" dirty="0"/>
          </a:p>
        </p:txBody>
      </p:sp>
      <p:sp>
        <p:nvSpPr>
          <p:cNvPr id="27" name="Shape 25"/>
          <p:cNvSpPr/>
          <p:nvPr/>
        </p:nvSpPr>
        <p:spPr>
          <a:xfrm flipV="1">
            <a:off x="5440680" y="3090672"/>
            <a:ext cx="594360" cy="704088"/>
          </a:xfrm>
          <a:prstGeom prst="line">
            <a:avLst/>
          </a:prstGeom>
          <a:noFill/>
          <a:ln w="28575">
            <a:solidFill>
              <a:srgbClr val="FF8A5B"/>
            </a:solidFill>
            <a:prstDash val="solid"/>
          </a:ln>
        </p:spPr>
      </p:sp>
      <p:sp>
        <p:nvSpPr>
          <p:cNvPr id="28" name="Shape 26"/>
          <p:cNvSpPr/>
          <p:nvPr/>
        </p:nvSpPr>
        <p:spPr>
          <a:xfrm flipV="1">
            <a:off x="5440680" y="3191256"/>
            <a:ext cx="594360" cy="603504"/>
          </a:xfrm>
          <a:prstGeom prst="line">
            <a:avLst/>
          </a:prstGeom>
          <a:noFill/>
          <a:ln w="28575">
            <a:solidFill>
              <a:srgbClr val="2C67F2"/>
            </a:solidFill>
            <a:prstDash val="dash"/>
          </a:ln>
        </p:spPr>
      </p:sp>
      <p:sp>
        <p:nvSpPr>
          <p:cNvPr id="29" name="Shape 27"/>
          <p:cNvSpPr/>
          <p:nvPr/>
        </p:nvSpPr>
        <p:spPr>
          <a:xfrm flipV="1">
            <a:off x="6035040" y="2547518"/>
            <a:ext cx="594360" cy="543154"/>
          </a:xfrm>
          <a:prstGeom prst="line">
            <a:avLst/>
          </a:prstGeom>
          <a:noFill/>
          <a:ln w="28575">
            <a:solidFill>
              <a:srgbClr val="FF8A5B"/>
            </a:solidFill>
            <a:prstDash val="solid"/>
          </a:ln>
        </p:spPr>
      </p:sp>
      <p:sp>
        <p:nvSpPr>
          <p:cNvPr id="30" name="Shape 28"/>
          <p:cNvSpPr/>
          <p:nvPr/>
        </p:nvSpPr>
        <p:spPr>
          <a:xfrm flipV="1">
            <a:off x="6035040" y="2346350"/>
            <a:ext cx="594360" cy="844906"/>
          </a:xfrm>
          <a:prstGeom prst="line">
            <a:avLst/>
          </a:prstGeom>
          <a:noFill/>
          <a:ln w="28575">
            <a:solidFill>
              <a:srgbClr val="2C67F2"/>
            </a:solidFill>
            <a:prstDash val="dash"/>
          </a:ln>
        </p:spPr>
      </p:sp>
      <p:sp>
        <p:nvSpPr>
          <p:cNvPr id="31" name="Shape 29"/>
          <p:cNvSpPr/>
          <p:nvPr/>
        </p:nvSpPr>
        <p:spPr>
          <a:xfrm flipV="1">
            <a:off x="6629400" y="2104949"/>
            <a:ext cx="594360" cy="442570"/>
          </a:xfrm>
          <a:prstGeom prst="line">
            <a:avLst/>
          </a:prstGeom>
          <a:noFill/>
          <a:ln w="28575">
            <a:solidFill>
              <a:srgbClr val="FF8A5B"/>
            </a:solidFill>
            <a:prstDash val="solid"/>
          </a:ln>
        </p:spPr>
      </p:sp>
      <p:sp>
        <p:nvSpPr>
          <p:cNvPr id="32" name="Shape 30"/>
          <p:cNvSpPr/>
          <p:nvPr/>
        </p:nvSpPr>
        <p:spPr>
          <a:xfrm flipV="1">
            <a:off x="6629400" y="2024482"/>
            <a:ext cx="594360" cy="321869"/>
          </a:xfrm>
          <a:prstGeom prst="line">
            <a:avLst/>
          </a:prstGeom>
          <a:noFill/>
          <a:ln w="28575">
            <a:solidFill>
              <a:srgbClr val="2C67F2"/>
            </a:solidFill>
            <a:prstDash val="dash"/>
          </a:ln>
        </p:spPr>
      </p:sp>
      <p:sp>
        <p:nvSpPr>
          <p:cNvPr id="33" name="Shape 31"/>
          <p:cNvSpPr/>
          <p:nvPr/>
        </p:nvSpPr>
        <p:spPr>
          <a:xfrm flipV="1">
            <a:off x="7223760" y="1923898"/>
            <a:ext cx="594360" cy="181051"/>
          </a:xfrm>
          <a:prstGeom prst="line">
            <a:avLst/>
          </a:prstGeom>
          <a:noFill/>
          <a:ln w="28575">
            <a:solidFill>
              <a:srgbClr val="FF8A5B"/>
            </a:solidFill>
            <a:prstDash val="solid"/>
          </a:ln>
        </p:spPr>
      </p:sp>
      <p:sp>
        <p:nvSpPr>
          <p:cNvPr id="34" name="Shape 32"/>
          <p:cNvSpPr/>
          <p:nvPr/>
        </p:nvSpPr>
        <p:spPr>
          <a:xfrm flipV="1">
            <a:off x="7223760" y="1984248"/>
            <a:ext cx="594360" cy="40234"/>
          </a:xfrm>
          <a:prstGeom prst="line">
            <a:avLst/>
          </a:prstGeom>
          <a:noFill/>
          <a:ln w="28575">
            <a:solidFill>
              <a:srgbClr val="2C67F2"/>
            </a:solidFill>
            <a:prstDash val="dash"/>
          </a:ln>
        </p:spPr>
      </p:sp>
      <p:sp>
        <p:nvSpPr>
          <p:cNvPr id="35" name="Shape 33"/>
          <p:cNvSpPr/>
          <p:nvPr/>
        </p:nvSpPr>
        <p:spPr>
          <a:xfrm flipV="1">
            <a:off x="7818120" y="1863547"/>
            <a:ext cx="594360" cy="60350"/>
          </a:xfrm>
          <a:prstGeom prst="line">
            <a:avLst/>
          </a:prstGeom>
          <a:noFill/>
          <a:ln w="28575">
            <a:solidFill>
              <a:srgbClr val="FF8A5B"/>
            </a:solidFill>
            <a:prstDash val="solid"/>
          </a:ln>
        </p:spPr>
      </p:sp>
      <p:sp>
        <p:nvSpPr>
          <p:cNvPr id="36" name="Shape 34"/>
          <p:cNvSpPr/>
          <p:nvPr/>
        </p:nvSpPr>
        <p:spPr>
          <a:xfrm>
            <a:off x="7818120" y="1984248"/>
            <a:ext cx="594360" cy="0"/>
          </a:xfrm>
          <a:prstGeom prst="line">
            <a:avLst/>
          </a:prstGeom>
          <a:noFill/>
          <a:ln w="28575">
            <a:solidFill>
              <a:srgbClr val="2C67F2"/>
            </a:solidFill>
            <a:prstDash val="dash"/>
          </a:ln>
        </p:spPr>
      </p:sp>
      <p:sp>
        <p:nvSpPr>
          <p:cNvPr id="37" name="Text 35"/>
          <p:cNvSpPr txBox="1"/>
          <p:nvPr/>
        </p:nvSpPr>
        <p:spPr>
          <a:xfrm>
            <a:off x="8001000" y="1607515"/>
            <a:ext cx="457200" cy="182880"/>
          </a:xfrm>
          <a:prstGeom prst="rect">
            <a:avLst/>
          </a:prstGeom>
          <a:noFill/>
          <a:ln/>
        </p:spPr>
        <p:txBody>
          <a:bodyPr wrap="square" lIns="0" tIns="0" rIns="0" bIns="0" rtlCol="0" anchor="ctr"/>
          <a:lstStyle/>
          <a:p>
            <a:pPr algn="r" indent="0" marL="0">
              <a:buNone/>
            </a:pPr>
            <a:r>
              <a:rPr lang="en-US" sz="900" b="1" dirty="0">
                <a:solidFill>
                  <a:srgbClr val="FF8A5B"/>
                </a:solidFill>
                <a:latin typeface="Arial" pitchFamily="34" charset="0"/>
                <a:ea typeface="Arial" pitchFamily="34" charset="-122"/>
                <a:cs typeface="Arial" pitchFamily="34" charset="-120"/>
              </a:rPr>
              <a:t>hand</a:t>
            </a:r>
            <a:endParaRPr lang="en-US" sz="900" dirty="0"/>
          </a:p>
        </p:txBody>
      </p:sp>
      <p:sp>
        <p:nvSpPr>
          <p:cNvPr id="38" name="Text 36"/>
          <p:cNvSpPr txBox="1"/>
          <p:nvPr/>
        </p:nvSpPr>
        <p:spPr>
          <a:xfrm>
            <a:off x="7909560" y="2039112"/>
            <a:ext cx="548640" cy="182880"/>
          </a:xfrm>
          <a:prstGeom prst="rect">
            <a:avLst/>
          </a:prstGeom>
          <a:noFill/>
          <a:ln/>
        </p:spPr>
        <p:txBody>
          <a:bodyPr wrap="square" lIns="0" tIns="0" rIns="0" bIns="0" rtlCol="0" anchor="ctr"/>
          <a:lstStyle/>
          <a:p>
            <a:pPr algn="r" indent="0" marL="0">
              <a:buNone/>
            </a:pPr>
            <a:r>
              <a:rPr lang="en-US" sz="900" b="1" dirty="0">
                <a:solidFill>
                  <a:srgbClr val="2C67F2"/>
                </a:solidFill>
                <a:latin typeface="Arial" pitchFamily="34" charset="0"/>
                <a:ea typeface="Arial" pitchFamily="34" charset="-122"/>
                <a:cs typeface="Arial" pitchFamily="34" charset="-120"/>
              </a:rPr>
              <a:t>object</a:t>
            </a:r>
            <a:endParaRPr lang="en-US" sz="900" dirty="0"/>
          </a:p>
        </p:txBody>
      </p:sp>
      <p:sp>
        <p:nvSpPr>
          <p:cNvPr id="39" name="Shape 37"/>
          <p:cNvSpPr/>
          <p:nvPr/>
        </p:nvSpPr>
        <p:spPr>
          <a:xfrm flipV="1">
            <a:off x="7223760" y="1742846"/>
            <a:ext cx="0" cy="2051914"/>
          </a:xfrm>
          <a:prstGeom prst="line">
            <a:avLst/>
          </a:prstGeom>
          <a:noFill/>
          <a:ln w="12700">
            <a:solidFill>
              <a:srgbClr val="D9E0EC"/>
            </a:solidFill>
            <a:prstDash val="dash"/>
          </a:ln>
        </p:spPr>
      </p:sp>
      <p:sp>
        <p:nvSpPr>
          <p:cNvPr id="40" name="Text 38"/>
          <p:cNvSpPr txBox="1"/>
          <p:nvPr/>
        </p:nvSpPr>
        <p:spPr>
          <a:xfrm>
            <a:off x="5989320" y="1724558"/>
            <a:ext cx="1188720" cy="182880"/>
          </a:xfrm>
          <a:prstGeom prst="rect">
            <a:avLst/>
          </a:prstGeom>
          <a:noFill/>
          <a:ln/>
        </p:spPr>
        <p:txBody>
          <a:bodyPr wrap="square" lIns="0" tIns="0" rIns="0" bIns="0" rtlCol="0" anchor="ctr"/>
          <a:lstStyle/>
          <a:p>
            <a:pPr algn="r" indent="0" marL="0">
              <a:buNone/>
            </a:pPr>
            <a:r>
              <a:rPr lang="en-US" sz="850" dirty="0">
                <a:solidFill>
                  <a:srgbClr val="62708D"/>
                </a:solidFill>
                <a:latin typeface="Arial" pitchFamily="34" charset="0"/>
                <a:ea typeface="Arial" pitchFamily="34" charset="-122"/>
                <a:cs typeface="Arial" pitchFamily="34" charset="-120"/>
              </a:rPr>
              <a:t>knee = needed budget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02920"/>
          </a:xfrm>
          <a:prstGeom prst="rect">
            <a:avLst/>
          </a:prstGeom>
          <a:noFill/>
          <a:ln/>
        </p:spPr>
        <p:txBody>
          <a:bodyPr wrap="square" lIns="0" tIns="0" rIns="0" bIns="0" rtlCol="0" anchor="ctr"/>
          <a:lstStyle/>
          <a:p>
            <a:pPr indent="0" marL="0">
              <a:buNone/>
            </a:pPr>
            <a:r>
              <a:rPr lang="en-US" sz="2100" b="1" dirty="0">
                <a:solidFill>
                  <a:srgbClr val="17213A"/>
                </a:solidFill>
                <a:latin typeface="Arial" pitchFamily="34" charset="0"/>
                <a:ea typeface="Arial" pitchFamily="34" charset="-122"/>
                <a:cs typeface="Arial" pitchFamily="34" charset="-120"/>
              </a:rPr>
              <a:t>Timeline: core results by Oct 25, report due week of Dec 1</a:t>
            </a:r>
            <a:endParaRPr lang="en-US" sz="2100" dirty="0"/>
          </a:p>
        </p:txBody>
      </p:sp>
      <p:sp>
        <p:nvSpPr>
          <p:cNvPr id="3" name="Text 1"/>
          <p:cNvSpPr txBox="1"/>
          <p:nvPr/>
        </p:nvSpPr>
        <p:spPr>
          <a:xfrm>
            <a:off x="8321040" y="274320"/>
            <a:ext cx="365760" cy="274320"/>
          </a:xfrm>
          <a:prstGeom prst="rect">
            <a:avLst/>
          </a:prstGeom>
          <a:noFill/>
          <a:ln/>
        </p:spPr>
        <p:txBody>
          <a:bodyPr wrap="square" lIns="0" tIns="0" rIns="0" bIns="0" rtlCol="0" anchor="ctr"/>
          <a:lstStyle/>
          <a:p>
            <a:pPr algn="r" indent="0" marL="0">
              <a:buNone/>
            </a:pPr>
            <a:r>
              <a:rPr lang="en-US" sz="800" b="1" dirty="0">
                <a:solidFill>
                  <a:srgbClr val="2C67F2"/>
                </a:solidFill>
                <a:latin typeface="Arial" pitchFamily="34" charset="0"/>
                <a:ea typeface="Arial" pitchFamily="34" charset="-122"/>
                <a:cs typeface="Arial" pitchFamily="34" charset="-120"/>
              </a:rPr>
              <a:t>05</a:t>
            </a:r>
            <a:endParaRPr lang="en-US" sz="800" dirty="0"/>
          </a:p>
        </p:txBody>
      </p:sp>
      <p:sp>
        <p:nvSpPr>
          <p:cNvPr id="4" name="Shape 2"/>
          <p:cNvSpPr/>
          <p:nvPr/>
        </p:nvSpPr>
        <p:spPr>
          <a:xfrm>
            <a:off x="484632" y="1325880"/>
            <a:ext cx="1773936" cy="548640"/>
          </a:xfrm>
          <a:prstGeom prst="roundRect">
            <a:avLst>
              <a:gd name="adj" fmla="val 13333"/>
            </a:avLst>
          </a:prstGeom>
          <a:solidFill>
            <a:srgbClr val="F6F8FC"/>
          </a:solidFill>
          <a:ln w="12700">
            <a:solidFill>
              <a:srgbClr val="D9E0EC"/>
            </a:solidFill>
            <a:prstDash val="solid"/>
          </a:ln>
        </p:spPr>
      </p:sp>
      <p:sp>
        <p:nvSpPr>
          <p:cNvPr id="5" name="Text 3"/>
          <p:cNvSpPr txBox="1"/>
          <p:nvPr/>
        </p:nvSpPr>
        <p:spPr>
          <a:xfrm>
            <a:off x="484632" y="1325880"/>
            <a:ext cx="1773936" cy="548640"/>
          </a:xfrm>
          <a:prstGeom prst="rect">
            <a:avLst/>
          </a:prstGeom>
          <a:noFill/>
          <a:ln/>
        </p:spPr>
        <p:txBody>
          <a:bodyPr wrap="square" lIns="0" tIns="0" rIns="0" bIns="0" rtlCol="0" anchor="ctr"/>
          <a:lstStyle/>
          <a:p>
            <a:pPr algn="ctr" indent="0" marL="0">
              <a:buNone/>
            </a:pPr>
            <a:r>
              <a:rPr lang="en-US" sz="1050" b="1" dirty="0">
                <a:solidFill>
                  <a:srgbClr val="17213A"/>
                </a:solidFill>
                <a:latin typeface="Arial" pitchFamily="34" charset="0"/>
                <a:ea typeface="Arial" pitchFamily="34" charset="-122"/>
                <a:cs typeface="Arial" pitchFamily="34" charset="-120"/>
              </a:rPr>
              <a:t>Setup</a:t>
            </a:r>
            <a:endParaRPr lang="en-US" sz="1050" dirty="0"/>
          </a:p>
        </p:txBody>
      </p:sp>
      <p:sp>
        <p:nvSpPr>
          <p:cNvPr id="6" name="Text 4"/>
          <p:cNvSpPr txBox="1"/>
          <p:nvPr/>
        </p:nvSpPr>
        <p:spPr>
          <a:xfrm>
            <a:off x="484632" y="1069848"/>
            <a:ext cx="1773936" cy="201168"/>
          </a:xfrm>
          <a:prstGeom prst="rect">
            <a:avLst/>
          </a:prstGeom>
          <a:noFill/>
          <a:ln/>
        </p:spPr>
        <p:txBody>
          <a:bodyPr wrap="square" lIns="0" tIns="0" rIns="0" bIns="0" rtlCol="0" anchor="ctr"/>
          <a:lstStyle/>
          <a:p>
            <a:pPr algn="ctr" indent="0" marL="0">
              <a:buNone/>
            </a:pPr>
            <a:r>
              <a:rPr lang="en-US" sz="900" b="1" dirty="0">
                <a:solidFill>
                  <a:srgbClr val="62708D"/>
                </a:solidFill>
                <a:latin typeface="Arial" pitchFamily="34" charset="0"/>
                <a:ea typeface="Arial" pitchFamily="34" charset="-122"/>
                <a:cs typeface="Arial" pitchFamily="34" charset="-120"/>
              </a:rPr>
              <a:t>Sep 29 – Oct 11</a:t>
            </a:r>
            <a:endParaRPr lang="en-US" sz="900" dirty="0"/>
          </a:p>
        </p:txBody>
      </p:sp>
      <p:sp>
        <p:nvSpPr>
          <p:cNvPr id="7" name="Shape 5"/>
          <p:cNvSpPr/>
          <p:nvPr/>
        </p:nvSpPr>
        <p:spPr>
          <a:xfrm>
            <a:off x="2313432" y="1325880"/>
            <a:ext cx="1773936" cy="548640"/>
          </a:xfrm>
          <a:prstGeom prst="roundRect">
            <a:avLst>
              <a:gd name="adj" fmla="val 13333"/>
            </a:avLst>
          </a:prstGeom>
          <a:solidFill>
            <a:srgbClr val="FF8A5B"/>
          </a:solidFill>
          <a:ln w="12700">
            <a:solidFill>
              <a:srgbClr val="FF8A5B"/>
            </a:solidFill>
            <a:prstDash val="solid"/>
          </a:ln>
        </p:spPr>
      </p:sp>
      <p:sp>
        <p:nvSpPr>
          <p:cNvPr id="8" name="Text 6"/>
          <p:cNvSpPr txBox="1"/>
          <p:nvPr/>
        </p:nvSpPr>
        <p:spPr>
          <a:xfrm>
            <a:off x="2313432" y="1325880"/>
            <a:ext cx="1773936" cy="548640"/>
          </a:xfrm>
          <a:prstGeom prst="rect">
            <a:avLst/>
          </a:prstGeom>
          <a:noFill/>
          <a:ln/>
        </p:spPr>
        <p:txBody>
          <a:bodyPr wrap="square" lIns="0" tIns="0" rIns="0" bIns="0" rtlCol="0" anchor="ctr"/>
          <a:lstStyle/>
          <a:p>
            <a:pPr algn="ctr" indent="0" marL="0">
              <a:buNone/>
            </a:pPr>
            <a:r>
              <a:rPr lang="en-US" sz="1050" b="1" dirty="0">
                <a:solidFill>
                  <a:srgbClr val="0B1633"/>
                </a:solidFill>
                <a:latin typeface="Arial" pitchFamily="34" charset="0"/>
                <a:ea typeface="Arial" pitchFamily="34" charset="-122"/>
                <a:cs typeface="Arial" pitchFamily="34" charset="-120"/>
              </a:rPr>
              <a:t>Stage 1 · core</a:t>
            </a:r>
            <a:endParaRPr lang="en-US" sz="1050" dirty="0"/>
          </a:p>
        </p:txBody>
      </p:sp>
      <p:sp>
        <p:nvSpPr>
          <p:cNvPr id="9" name="Text 7"/>
          <p:cNvSpPr txBox="1"/>
          <p:nvPr/>
        </p:nvSpPr>
        <p:spPr>
          <a:xfrm>
            <a:off x="2313432" y="1069848"/>
            <a:ext cx="1773936" cy="201168"/>
          </a:xfrm>
          <a:prstGeom prst="rect">
            <a:avLst/>
          </a:prstGeom>
          <a:noFill/>
          <a:ln/>
        </p:spPr>
        <p:txBody>
          <a:bodyPr wrap="square" lIns="0" tIns="0" rIns="0" bIns="0" rtlCol="0" anchor="ctr"/>
          <a:lstStyle/>
          <a:p>
            <a:pPr algn="ctr" indent="0" marL="0">
              <a:buNone/>
            </a:pPr>
            <a:r>
              <a:rPr lang="en-US" sz="900" b="1" dirty="0">
                <a:solidFill>
                  <a:srgbClr val="62708D"/>
                </a:solidFill>
                <a:latin typeface="Arial" pitchFamily="34" charset="0"/>
                <a:ea typeface="Arial" pitchFamily="34" charset="-122"/>
                <a:cs typeface="Arial" pitchFamily="34" charset="-120"/>
              </a:rPr>
              <a:t>Oct 12 – Oct 25</a:t>
            </a:r>
            <a:endParaRPr lang="en-US" sz="900" dirty="0"/>
          </a:p>
        </p:txBody>
      </p:sp>
      <p:sp>
        <p:nvSpPr>
          <p:cNvPr id="10" name="Shape 8"/>
          <p:cNvSpPr/>
          <p:nvPr/>
        </p:nvSpPr>
        <p:spPr>
          <a:xfrm>
            <a:off x="4142232" y="1325880"/>
            <a:ext cx="2688336" cy="548640"/>
          </a:xfrm>
          <a:prstGeom prst="roundRect">
            <a:avLst>
              <a:gd name="adj" fmla="val 13333"/>
            </a:avLst>
          </a:prstGeom>
          <a:solidFill>
            <a:srgbClr val="EAF0FF"/>
          </a:solidFill>
          <a:ln w="12700">
            <a:solidFill>
              <a:srgbClr val="2C67F2"/>
            </a:solidFill>
            <a:prstDash val="solid"/>
          </a:ln>
        </p:spPr>
      </p:sp>
      <p:sp>
        <p:nvSpPr>
          <p:cNvPr id="11" name="Text 9"/>
          <p:cNvSpPr txBox="1"/>
          <p:nvPr/>
        </p:nvSpPr>
        <p:spPr>
          <a:xfrm>
            <a:off x="4142232" y="1325880"/>
            <a:ext cx="2688336" cy="548640"/>
          </a:xfrm>
          <a:prstGeom prst="rect">
            <a:avLst/>
          </a:prstGeom>
          <a:noFill/>
          <a:ln/>
        </p:spPr>
        <p:txBody>
          <a:bodyPr wrap="square" lIns="0" tIns="0" rIns="0" bIns="0" rtlCol="0" anchor="ctr"/>
          <a:lstStyle/>
          <a:p>
            <a:pPr algn="ctr" indent="0" marL="0">
              <a:buNone/>
            </a:pPr>
            <a:r>
              <a:rPr lang="en-US" sz="1050" b="1" dirty="0">
                <a:solidFill>
                  <a:srgbClr val="17213A"/>
                </a:solidFill>
                <a:latin typeface="Arial" pitchFamily="34" charset="0"/>
                <a:ea typeface="Arial" pitchFamily="34" charset="-122"/>
                <a:cs typeface="Arial" pitchFamily="34" charset="-120"/>
              </a:rPr>
              <a:t>Stage 2</a:t>
            </a:r>
            <a:endParaRPr lang="en-US" sz="1050" dirty="0"/>
          </a:p>
        </p:txBody>
      </p:sp>
      <p:sp>
        <p:nvSpPr>
          <p:cNvPr id="12" name="Text 10"/>
          <p:cNvSpPr txBox="1"/>
          <p:nvPr/>
        </p:nvSpPr>
        <p:spPr>
          <a:xfrm>
            <a:off x="4142232" y="1069848"/>
            <a:ext cx="2688336" cy="201168"/>
          </a:xfrm>
          <a:prstGeom prst="rect">
            <a:avLst/>
          </a:prstGeom>
          <a:noFill/>
          <a:ln/>
        </p:spPr>
        <p:txBody>
          <a:bodyPr wrap="square" lIns="0" tIns="0" rIns="0" bIns="0" rtlCol="0" anchor="ctr"/>
          <a:lstStyle/>
          <a:p>
            <a:pPr algn="ctr" indent="0" marL="0">
              <a:buNone/>
            </a:pPr>
            <a:r>
              <a:rPr lang="en-US" sz="900" b="1" dirty="0">
                <a:solidFill>
                  <a:srgbClr val="62708D"/>
                </a:solidFill>
                <a:latin typeface="Arial" pitchFamily="34" charset="0"/>
                <a:ea typeface="Arial" pitchFamily="34" charset="-122"/>
                <a:cs typeface="Arial" pitchFamily="34" charset="-120"/>
              </a:rPr>
              <a:t>Oct 26 – Nov 15</a:t>
            </a:r>
            <a:endParaRPr lang="en-US" sz="900" dirty="0"/>
          </a:p>
        </p:txBody>
      </p:sp>
      <p:sp>
        <p:nvSpPr>
          <p:cNvPr id="13" name="Shape 11"/>
          <p:cNvSpPr/>
          <p:nvPr/>
        </p:nvSpPr>
        <p:spPr>
          <a:xfrm>
            <a:off x="6885432" y="1325880"/>
            <a:ext cx="1773936" cy="548640"/>
          </a:xfrm>
          <a:prstGeom prst="roundRect">
            <a:avLst>
              <a:gd name="adj" fmla="val 13333"/>
            </a:avLst>
          </a:prstGeom>
          <a:solidFill>
            <a:srgbClr val="F6F8FC"/>
          </a:solidFill>
          <a:ln w="12700">
            <a:solidFill>
              <a:srgbClr val="D9E0EC"/>
            </a:solidFill>
            <a:prstDash val="solid"/>
          </a:ln>
        </p:spPr>
      </p:sp>
      <p:sp>
        <p:nvSpPr>
          <p:cNvPr id="14" name="Text 12"/>
          <p:cNvSpPr txBox="1"/>
          <p:nvPr/>
        </p:nvSpPr>
        <p:spPr>
          <a:xfrm>
            <a:off x="6885432" y="1325880"/>
            <a:ext cx="1773936" cy="548640"/>
          </a:xfrm>
          <a:prstGeom prst="rect">
            <a:avLst/>
          </a:prstGeom>
          <a:noFill/>
          <a:ln/>
        </p:spPr>
        <p:txBody>
          <a:bodyPr wrap="square" lIns="0" tIns="0" rIns="0" bIns="0" rtlCol="0" anchor="ctr"/>
          <a:lstStyle/>
          <a:p>
            <a:pPr algn="ctr" indent="0" marL="0">
              <a:buNone/>
            </a:pPr>
            <a:r>
              <a:rPr lang="en-US" sz="1050" b="1" dirty="0">
                <a:solidFill>
                  <a:srgbClr val="17213A"/>
                </a:solidFill>
                <a:latin typeface="Arial" pitchFamily="34" charset="0"/>
                <a:ea typeface="Arial" pitchFamily="34" charset="-122"/>
                <a:cs typeface="Arial" pitchFamily="34" charset="-120"/>
              </a:rPr>
              <a:t>Write report</a:t>
            </a:r>
            <a:endParaRPr lang="en-US" sz="1050" dirty="0"/>
          </a:p>
        </p:txBody>
      </p:sp>
      <p:sp>
        <p:nvSpPr>
          <p:cNvPr id="15" name="Text 13"/>
          <p:cNvSpPr txBox="1"/>
          <p:nvPr/>
        </p:nvSpPr>
        <p:spPr>
          <a:xfrm>
            <a:off x="6885432" y="1069848"/>
            <a:ext cx="1773936" cy="201168"/>
          </a:xfrm>
          <a:prstGeom prst="rect">
            <a:avLst/>
          </a:prstGeom>
          <a:noFill/>
          <a:ln/>
        </p:spPr>
        <p:txBody>
          <a:bodyPr wrap="square" lIns="0" tIns="0" rIns="0" bIns="0" rtlCol="0" anchor="ctr"/>
          <a:lstStyle/>
          <a:p>
            <a:pPr algn="ctr" indent="0" marL="0">
              <a:buNone/>
            </a:pPr>
            <a:r>
              <a:rPr lang="en-US" sz="900" b="1" dirty="0">
                <a:solidFill>
                  <a:srgbClr val="62708D"/>
                </a:solidFill>
                <a:latin typeface="Arial" pitchFamily="34" charset="0"/>
                <a:ea typeface="Arial" pitchFamily="34" charset="-122"/>
                <a:cs typeface="Arial" pitchFamily="34" charset="-120"/>
              </a:rPr>
              <a:t>Nov 16 – Nov 29</a:t>
            </a:r>
            <a:endParaRPr lang="en-US" sz="900" dirty="0"/>
          </a:p>
        </p:txBody>
      </p:sp>
      <p:sp>
        <p:nvSpPr>
          <p:cNvPr id="16" name="Shape 14"/>
          <p:cNvSpPr/>
          <p:nvPr/>
        </p:nvSpPr>
        <p:spPr>
          <a:xfrm>
            <a:off x="2185416" y="1965960"/>
            <a:ext cx="201168" cy="201168"/>
          </a:xfrm>
          <a:prstGeom prst="diamond">
            <a:avLst/>
          </a:prstGeom>
          <a:solidFill>
            <a:srgbClr val="0B1633"/>
          </a:solidFill>
          <a:ln w="12700">
            <a:solidFill>
              <a:srgbClr val="0B1633"/>
            </a:solidFill>
            <a:prstDash val="solid"/>
          </a:ln>
        </p:spPr>
      </p:sp>
      <p:sp>
        <p:nvSpPr>
          <p:cNvPr id="17" name="Text 15"/>
          <p:cNvSpPr txBox="1"/>
          <p:nvPr/>
        </p:nvSpPr>
        <p:spPr>
          <a:xfrm>
            <a:off x="2011680" y="2185416"/>
            <a:ext cx="548640" cy="182880"/>
          </a:xfrm>
          <a:prstGeom prst="rect">
            <a:avLst/>
          </a:prstGeom>
          <a:noFill/>
          <a:ln/>
        </p:spPr>
        <p:txBody>
          <a:bodyPr wrap="square" lIns="0" tIns="0" rIns="0" bIns="0" rtlCol="0" anchor="ctr"/>
          <a:lstStyle/>
          <a:p>
            <a:pPr algn="ctr" indent="0" marL="0">
              <a:buNone/>
            </a:pPr>
            <a:r>
              <a:rPr lang="en-US" sz="850" b="1" dirty="0">
                <a:solidFill>
                  <a:srgbClr val="0B1633"/>
                </a:solidFill>
                <a:latin typeface="Arial" pitchFamily="34" charset="0"/>
                <a:ea typeface="Arial" pitchFamily="34" charset="-122"/>
                <a:cs typeface="Arial" pitchFamily="34" charset="-120"/>
              </a:rPr>
              <a:t>G0</a:t>
            </a:r>
            <a:endParaRPr lang="en-US" sz="850" dirty="0"/>
          </a:p>
        </p:txBody>
      </p:sp>
      <p:sp>
        <p:nvSpPr>
          <p:cNvPr id="18" name="Shape 16"/>
          <p:cNvSpPr/>
          <p:nvPr/>
        </p:nvSpPr>
        <p:spPr>
          <a:xfrm>
            <a:off x="4014216" y="1965960"/>
            <a:ext cx="201168" cy="201168"/>
          </a:xfrm>
          <a:prstGeom prst="diamond">
            <a:avLst/>
          </a:prstGeom>
          <a:solidFill>
            <a:srgbClr val="0B1633"/>
          </a:solidFill>
          <a:ln w="12700">
            <a:solidFill>
              <a:srgbClr val="0B1633"/>
            </a:solidFill>
            <a:prstDash val="solid"/>
          </a:ln>
        </p:spPr>
      </p:sp>
      <p:sp>
        <p:nvSpPr>
          <p:cNvPr id="19" name="Text 17"/>
          <p:cNvSpPr txBox="1"/>
          <p:nvPr/>
        </p:nvSpPr>
        <p:spPr>
          <a:xfrm>
            <a:off x="3840480" y="2185416"/>
            <a:ext cx="548640" cy="182880"/>
          </a:xfrm>
          <a:prstGeom prst="rect">
            <a:avLst/>
          </a:prstGeom>
          <a:noFill/>
          <a:ln/>
        </p:spPr>
        <p:txBody>
          <a:bodyPr wrap="square" lIns="0" tIns="0" rIns="0" bIns="0" rtlCol="0" anchor="ctr"/>
          <a:lstStyle/>
          <a:p>
            <a:pPr algn="ctr" indent="0" marL="0">
              <a:buNone/>
            </a:pPr>
            <a:r>
              <a:rPr lang="en-US" sz="850" b="1" dirty="0">
                <a:solidFill>
                  <a:srgbClr val="0B1633"/>
                </a:solidFill>
                <a:latin typeface="Arial" pitchFamily="34" charset="0"/>
                <a:ea typeface="Arial" pitchFamily="34" charset="-122"/>
                <a:cs typeface="Arial" pitchFamily="34" charset="-120"/>
              </a:rPr>
              <a:t>G1</a:t>
            </a:r>
            <a:endParaRPr lang="en-US" sz="850" dirty="0"/>
          </a:p>
        </p:txBody>
      </p:sp>
      <p:sp>
        <p:nvSpPr>
          <p:cNvPr id="20" name="Shape 18"/>
          <p:cNvSpPr/>
          <p:nvPr/>
        </p:nvSpPr>
        <p:spPr>
          <a:xfrm>
            <a:off x="5843016" y="1965960"/>
            <a:ext cx="201168" cy="201168"/>
          </a:xfrm>
          <a:prstGeom prst="diamond">
            <a:avLst/>
          </a:prstGeom>
          <a:solidFill>
            <a:srgbClr val="0B1633"/>
          </a:solidFill>
          <a:ln w="12700">
            <a:solidFill>
              <a:srgbClr val="0B1633"/>
            </a:solidFill>
            <a:prstDash val="solid"/>
          </a:ln>
        </p:spPr>
      </p:sp>
      <p:sp>
        <p:nvSpPr>
          <p:cNvPr id="21" name="Text 19"/>
          <p:cNvSpPr txBox="1"/>
          <p:nvPr/>
        </p:nvSpPr>
        <p:spPr>
          <a:xfrm>
            <a:off x="5669280" y="2185416"/>
            <a:ext cx="548640" cy="182880"/>
          </a:xfrm>
          <a:prstGeom prst="rect">
            <a:avLst/>
          </a:prstGeom>
          <a:noFill/>
          <a:ln/>
        </p:spPr>
        <p:txBody>
          <a:bodyPr wrap="square" lIns="0" tIns="0" rIns="0" bIns="0" rtlCol="0" anchor="ctr"/>
          <a:lstStyle/>
          <a:p>
            <a:pPr algn="ctr" indent="0" marL="0">
              <a:buNone/>
            </a:pPr>
            <a:r>
              <a:rPr lang="en-US" sz="850" b="1" dirty="0">
                <a:solidFill>
                  <a:srgbClr val="0B1633"/>
                </a:solidFill>
                <a:latin typeface="Arial" pitchFamily="34" charset="0"/>
                <a:ea typeface="Arial" pitchFamily="34" charset="-122"/>
                <a:cs typeface="Arial" pitchFamily="34" charset="-120"/>
              </a:rPr>
              <a:t>G2</a:t>
            </a:r>
            <a:endParaRPr lang="en-US" sz="850" dirty="0"/>
          </a:p>
        </p:txBody>
      </p:sp>
      <p:sp>
        <p:nvSpPr>
          <p:cNvPr id="22" name="Text 20"/>
          <p:cNvSpPr txBox="1"/>
          <p:nvPr/>
        </p:nvSpPr>
        <p:spPr>
          <a:xfrm>
            <a:off x="457200" y="2560320"/>
            <a:ext cx="1965960" cy="868680"/>
          </a:xfrm>
          <a:prstGeom prst="rect">
            <a:avLst/>
          </a:prstGeom>
          <a:noFill/>
          <a:ln/>
        </p:spPr>
        <p:txBody>
          <a:bodyPr wrap="square" lIns="0" tIns="0" rIns="0" bIns="0" rtlCol="0" anchor="t"/>
          <a:lstStyle/>
          <a:p>
            <a:pPr indent="0" marL="0">
              <a:buNone/>
            </a:pPr>
            <a:r>
              <a:rPr lang="en-US" sz="1050" b="1" dirty="0">
                <a:solidFill>
                  <a:srgbClr val="62708D"/>
                </a:solidFill>
                <a:latin typeface="Arial" pitchFamily="34" charset="0"/>
                <a:ea typeface="Arial" pitchFamily="34" charset="-122"/>
                <a:cs typeface="Arial" pitchFamily="34" charset="-120"/>
              </a:rPr>
              <a:t>Setup</a:t>
            </a:r>
            <a:endParaRPr lang="en-US" sz="1050" dirty="0"/>
          </a:p>
          <a:p>
            <a:pPr indent="0" marL="0">
              <a:buNone/>
            </a:pPr>
            <a:r>
              <a:rPr lang="en-US" sz="950" dirty="0">
                <a:solidFill>
                  <a:srgbClr val="17213A"/>
                </a:solidFill>
                <a:latin typeface="Arial" pitchFamily="34" charset="0"/>
                <a:ea typeface="Arial" pitchFamily="34" charset="-122"/>
                <a:cs typeface="Arial" pitchFamily="34" charset="-120"/>
              </a:rPr>
              <a:t>Isaac Lab Allegro task, expert policy, robot synergy basis</a:t>
            </a:r>
            <a:endParaRPr lang="en-US" sz="1050" dirty="0"/>
          </a:p>
        </p:txBody>
      </p:sp>
      <p:sp>
        <p:nvSpPr>
          <p:cNvPr id="23" name="Text 21"/>
          <p:cNvSpPr txBox="1"/>
          <p:nvPr/>
        </p:nvSpPr>
        <p:spPr>
          <a:xfrm>
            <a:off x="2606040" y="2560320"/>
            <a:ext cx="1965960" cy="868680"/>
          </a:xfrm>
          <a:prstGeom prst="rect">
            <a:avLst/>
          </a:prstGeom>
          <a:noFill/>
          <a:ln/>
        </p:spPr>
        <p:txBody>
          <a:bodyPr wrap="square" lIns="0" tIns="0" rIns="0" bIns="0" rtlCol="0" anchor="t"/>
          <a:lstStyle/>
          <a:p>
            <a:pPr indent="0" marL="0">
              <a:buNone/>
            </a:pPr>
            <a:r>
              <a:rPr lang="en-US" sz="1050" b="1" dirty="0">
                <a:solidFill>
                  <a:srgbClr val="D9602F"/>
                </a:solidFill>
                <a:latin typeface="Arial" pitchFamily="34" charset="0"/>
                <a:ea typeface="Arial" pitchFamily="34" charset="-122"/>
                <a:cs typeface="Arial" pitchFamily="34" charset="-120"/>
              </a:rPr>
              <a:t>Stage 1 · must finish</a:t>
            </a:r>
            <a:endParaRPr lang="en-US" sz="1050" dirty="0"/>
          </a:p>
          <a:p>
            <a:pPr indent="0" marL="0">
              <a:buNone/>
            </a:pPr>
            <a:r>
              <a:rPr lang="en-US" sz="950" dirty="0">
                <a:solidFill>
                  <a:srgbClr val="17213A"/>
                </a:solidFill>
                <a:latin typeface="Arial" pitchFamily="34" charset="0"/>
                <a:ea typeface="Arial" pitchFamily="34" charset="-122"/>
                <a:cs typeface="Arial" pitchFamily="34" charset="-120"/>
              </a:rPr>
              <a:t>Goal visible; hand vs object intent at k = 0, 2, 4, 16</a:t>
            </a:r>
            <a:endParaRPr lang="en-US" sz="1050" dirty="0"/>
          </a:p>
        </p:txBody>
      </p:sp>
      <p:sp>
        <p:nvSpPr>
          <p:cNvPr id="24" name="Text 22"/>
          <p:cNvSpPr txBox="1"/>
          <p:nvPr/>
        </p:nvSpPr>
        <p:spPr>
          <a:xfrm>
            <a:off x="4754880" y="2560320"/>
            <a:ext cx="1965960" cy="868680"/>
          </a:xfrm>
          <a:prstGeom prst="rect">
            <a:avLst/>
          </a:prstGeom>
          <a:noFill/>
          <a:ln/>
        </p:spPr>
        <p:txBody>
          <a:bodyPr wrap="square" lIns="0" tIns="0" rIns="0" bIns="0" rtlCol="0" anchor="t"/>
          <a:lstStyle/>
          <a:p>
            <a:pPr indent="0" marL="0">
              <a:buNone/>
            </a:pPr>
            <a:r>
              <a:rPr lang="en-US" sz="1050" b="1" dirty="0">
                <a:solidFill>
                  <a:srgbClr val="2C67F2"/>
                </a:solidFill>
                <a:latin typeface="Arial" pitchFamily="34" charset="0"/>
                <a:ea typeface="Arial" pitchFamily="34" charset="-122"/>
                <a:cs typeface="Arial" pitchFamily="34" charset="-120"/>
              </a:rPr>
              <a:t>Stage 2</a:t>
            </a:r>
            <a:endParaRPr lang="en-US" sz="1050" dirty="0"/>
          </a:p>
          <a:p>
            <a:pPr indent="0" marL="0">
              <a:buNone/>
            </a:pPr>
            <a:r>
              <a:rPr lang="en-US" sz="950" dirty="0">
                <a:solidFill>
                  <a:srgbClr val="17213A"/>
                </a:solidFill>
                <a:latin typeface="Arial" pitchFamily="34" charset="0"/>
                <a:ea typeface="Arial" pitchFamily="34" charset="-122"/>
                <a:cs typeface="Arial" pitchFamily="34" charset="-120"/>
              </a:rPr>
              <a:t>Goal hidden, full k-sweep; then either a second task or a human synergy basis</a:t>
            </a:r>
            <a:endParaRPr lang="en-US" sz="1050" dirty="0"/>
          </a:p>
        </p:txBody>
      </p:sp>
      <p:sp>
        <p:nvSpPr>
          <p:cNvPr id="25" name="Text 23"/>
          <p:cNvSpPr txBox="1"/>
          <p:nvPr/>
        </p:nvSpPr>
        <p:spPr>
          <a:xfrm>
            <a:off x="6903720" y="2560320"/>
            <a:ext cx="1783080" cy="868680"/>
          </a:xfrm>
          <a:prstGeom prst="rect">
            <a:avLst/>
          </a:prstGeom>
          <a:noFill/>
          <a:ln/>
        </p:spPr>
        <p:txBody>
          <a:bodyPr wrap="square" lIns="0" tIns="0" rIns="0" bIns="0" rtlCol="0" anchor="t"/>
          <a:lstStyle/>
          <a:p>
            <a:pPr indent="0" marL="0">
              <a:buNone/>
            </a:pPr>
            <a:r>
              <a:rPr lang="en-US" sz="1050" b="1" dirty="0">
                <a:solidFill>
                  <a:srgbClr val="8A68E8"/>
                </a:solidFill>
                <a:latin typeface="Arial" pitchFamily="34" charset="0"/>
                <a:ea typeface="Arial" pitchFamily="34" charset="-122"/>
                <a:cs typeface="Arial" pitchFamily="34" charset="-120"/>
              </a:rPr>
              <a:t>Future work</a:t>
            </a:r>
            <a:endParaRPr lang="en-US" sz="1050" dirty="0"/>
          </a:p>
          <a:p>
            <a:pPr indent="0" marL="0">
              <a:buNone/>
            </a:pPr>
            <a:r>
              <a:rPr lang="en-US" sz="950" dirty="0">
                <a:solidFill>
                  <a:srgbClr val="17213A"/>
                </a:solidFill>
                <a:latin typeface="Arial" pitchFamily="34" charset="0"/>
                <a:ea typeface="Arial" pitchFamily="34" charset="-122"/>
                <a:cs typeface="Arial" pitchFamily="34" charset="-120"/>
              </a:rPr>
              <a:t>Slow-update sweep; an LLM picking sub-goals at ~1 Hz</a:t>
            </a:r>
            <a:endParaRPr lang="en-US" sz="1050" dirty="0"/>
          </a:p>
        </p:txBody>
      </p:sp>
      <p:sp>
        <p:nvSpPr>
          <p:cNvPr id="26" name="Text 24"/>
          <p:cNvSpPr txBox="1"/>
          <p:nvPr/>
        </p:nvSpPr>
        <p:spPr>
          <a:xfrm>
            <a:off x="457200" y="3474720"/>
            <a:ext cx="8229600" cy="228600"/>
          </a:xfrm>
          <a:prstGeom prst="rect">
            <a:avLst/>
          </a:prstGeom>
          <a:noFill/>
          <a:ln/>
        </p:spPr>
        <p:txBody>
          <a:bodyPr wrap="square" lIns="0" tIns="0" rIns="0" bIns="0" rtlCol="0" anchor="ctr"/>
          <a:lstStyle/>
          <a:p>
            <a:pPr indent="0" marL="0">
              <a:buNone/>
            </a:pPr>
            <a:r>
              <a:rPr lang="en-US" sz="900" dirty="0">
                <a:solidFill>
                  <a:srgbClr val="62708D"/>
                </a:solidFill>
                <a:latin typeface="Arial" pitchFamily="34" charset="0"/>
                <a:ea typeface="Arial" pitchFamily="34" charset="-122"/>
                <a:cs typeface="Arial" pitchFamily="34" charset="-120"/>
              </a:rPr>
              <a:t>Gates: each stage starts only if the previous one produced complete curves. No new experiments after Nov 15.</a:t>
            </a:r>
            <a:endParaRPr lang="en-US" sz="900" dirty="0"/>
          </a:p>
        </p:txBody>
      </p:sp>
      <p:sp>
        <p:nvSpPr>
          <p:cNvPr id="27" name="Shape 25"/>
          <p:cNvSpPr/>
          <p:nvPr/>
        </p:nvSpPr>
        <p:spPr>
          <a:xfrm>
            <a:off x="457200" y="3886200"/>
            <a:ext cx="8229600" cy="0"/>
          </a:xfrm>
          <a:prstGeom prst="line">
            <a:avLst/>
          </a:prstGeom>
          <a:noFill/>
          <a:ln w="9525">
            <a:solidFill>
              <a:srgbClr val="D9E0EC"/>
            </a:solidFill>
            <a:prstDash val="solid"/>
          </a:ln>
        </p:spPr>
      </p:sp>
      <p:sp>
        <p:nvSpPr>
          <p:cNvPr id="28" name="Text 26"/>
          <p:cNvSpPr txBox="1"/>
          <p:nvPr/>
        </p:nvSpPr>
        <p:spPr>
          <a:xfrm>
            <a:off x="457200" y="4087368"/>
            <a:ext cx="1828800" cy="274320"/>
          </a:xfrm>
          <a:prstGeom prst="rect">
            <a:avLst/>
          </a:prstGeom>
          <a:noFill/>
          <a:ln/>
        </p:spPr>
        <p:txBody>
          <a:bodyPr wrap="square" lIns="0" tIns="0" rIns="0" bIns="0" rtlCol="0" anchor="ctr"/>
          <a:lstStyle/>
          <a:p>
            <a:pPr indent="0" marL="0">
              <a:buNone/>
            </a:pPr>
            <a:r>
              <a:rPr lang="en-US" sz="1150" b="1" dirty="0">
                <a:solidFill>
                  <a:srgbClr val="17213A"/>
                </a:solidFill>
                <a:latin typeface="Arial" pitchFamily="34" charset="0"/>
                <a:ea typeface="Arial" pitchFamily="34" charset="-122"/>
                <a:cs typeface="Arial" pitchFamily="34" charset="-120"/>
              </a:rPr>
              <a:t>Expected contribution</a:t>
            </a:r>
            <a:endParaRPr lang="en-US" sz="1150" dirty="0"/>
          </a:p>
        </p:txBody>
      </p:sp>
      <p:sp>
        <p:nvSpPr>
          <p:cNvPr id="29" name="Shape 27"/>
          <p:cNvSpPr/>
          <p:nvPr/>
        </p:nvSpPr>
        <p:spPr>
          <a:xfrm>
            <a:off x="2377440" y="4087368"/>
            <a:ext cx="256032" cy="256032"/>
          </a:xfrm>
          <a:prstGeom prst="ellipse">
            <a:avLst/>
          </a:prstGeom>
          <a:solidFill>
            <a:srgbClr val="FF8A5B"/>
          </a:solidFill>
          <a:ln w="12700">
            <a:solidFill>
              <a:srgbClr val="FF8A5B"/>
            </a:solidFill>
            <a:prstDash val="solid"/>
          </a:ln>
        </p:spPr>
      </p:sp>
      <p:sp>
        <p:nvSpPr>
          <p:cNvPr id="30" name="Text 28"/>
          <p:cNvSpPr txBox="1"/>
          <p:nvPr/>
        </p:nvSpPr>
        <p:spPr>
          <a:xfrm>
            <a:off x="2377440" y="408736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31" name="Text 29"/>
          <p:cNvSpPr txBox="1"/>
          <p:nvPr/>
        </p:nvSpPr>
        <p:spPr>
          <a:xfrm>
            <a:off x="2724912" y="4050792"/>
            <a:ext cx="1691640" cy="548640"/>
          </a:xfrm>
          <a:prstGeom prst="rect">
            <a:avLst/>
          </a:prstGeom>
          <a:noFill/>
          <a:ln/>
        </p:spPr>
        <p:txBody>
          <a:bodyPr wrap="square" lIns="0" tIns="0" rIns="0" bIns="0" rtlCol="0" anchor="t"/>
          <a:lstStyle/>
          <a:p>
            <a:pPr indent="0" marL="0">
              <a:buNone/>
            </a:pPr>
            <a:r>
              <a:rPr lang="en-US" sz="1000" dirty="0">
                <a:solidFill>
                  <a:srgbClr val="17213A"/>
                </a:solidFill>
                <a:latin typeface="Arial" pitchFamily="34" charset="0"/>
                <a:ea typeface="Arial" pitchFamily="34" charset="-122"/>
                <a:cs typeface="Arial" pitchFamily="34" charset="-120"/>
              </a:rPr>
              <a:t>An information-budget curve for the intent interface</a:t>
            </a:r>
            <a:endParaRPr lang="en-US" sz="1000" dirty="0"/>
          </a:p>
        </p:txBody>
      </p:sp>
      <p:sp>
        <p:nvSpPr>
          <p:cNvPr id="32" name="Shape 30"/>
          <p:cNvSpPr/>
          <p:nvPr/>
        </p:nvSpPr>
        <p:spPr>
          <a:xfrm>
            <a:off x="4526280" y="4087368"/>
            <a:ext cx="256032" cy="256032"/>
          </a:xfrm>
          <a:prstGeom prst="ellipse">
            <a:avLst/>
          </a:prstGeom>
          <a:solidFill>
            <a:srgbClr val="2C67F2"/>
          </a:solidFill>
          <a:ln w="12700">
            <a:solidFill>
              <a:srgbClr val="2C67F2"/>
            </a:solidFill>
            <a:prstDash val="solid"/>
          </a:ln>
        </p:spPr>
      </p:sp>
      <p:sp>
        <p:nvSpPr>
          <p:cNvPr id="33" name="Text 31"/>
          <p:cNvSpPr txBox="1"/>
          <p:nvPr/>
        </p:nvSpPr>
        <p:spPr>
          <a:xfrm>
            <a:off x="4526280" y="408736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34" name="Text 32"/>
          <p:cNvSpPr txBox="1"/>
          <p:nvPr/>
        </p:nvSpPr>
        <p:spPr>
          <a:xfrm>
            <a:off x="4873752" y="4050792"/>
            <a:ext cx="1691640" cy="548640"/>
          </a:xfrm>
          <a:prstGeom prst="rect">
            <a:avLst/>
          </a:prstGeom>
          <a:noFill/>
          <a:ln/>
        </p:spPr>
        <p:txBody>
          <a:bodyPr wrap="square" lIns="0" tIns="0" rIns="0" bIns="0" rtlCol="0" anchor="t"/>
          <a:lstStyle/>
          <a:p>
            <a:pPr indent="0" marL="0">
              <a:buNone/>
            </a:pPr>
            <a:r>
              <a:rPr lang="en-US" sz="1000" dirty="0">
                <a:solidFill>
                  <a:srgbClr val="17213A"/>
                </a:solidFill>
                <a:latin typeface="Arial" pitchFamily="34" charset="0"/>
                <a:ea typeface="Arial" pitchFamily="34" charset="-122"/>
                <a:cs typeface="Arial" pitchFamily="34" charset="-120"/>
              </a:rPr>
              <a:t>Hand vs object intent at equal dimension</a:t>
            </a:r>
            <a:endParaRPr lang="en-US" sz="1000" dirty="0"/>
          </a:p>
        </p:txBody>
      </p:sp>
      <p:sp>
        <p:nvSpPr>
          <p:cNvPr id="35" name="Shape 33"/>
          <p:cNvSpPr/>
          <p:nvPr/>
        </p:nvSpPr>
        <p:spPr>
          <a:xfrm>
            <a:off x="6675120" y="4087368"/>
            <a:ext cx="256032" cy="256032"/>
          </a:xfrm>
          <a:prstGeom prst="ellipse">
            <a:avLst/>
          </a:prstGeom>
          <a:solidFill>
            <a:srgbClr val="8A68E8"/>
          </a:solidFill>
          <a:ln w="12700">
            <a:solidFill>
              <a:srgbClr val="8A68E8"/>
            </a:solidFill>
            <a:prstDash val="solid"/>
          </a:ln>
        </p:spPr>
      </p:sp>
      <p:sp>
        <p:nvSpPr>
          <p:cNvPr id="36" name="Text 34"/>
          <p:cNvSpPr txBox="1"/>
          <p:nvPr/>
        </p:nvSpPr>
        <p:spPr>
          <a:xfrm>
            <a:off x="6675120" y="408736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37" name="Text 35"/>
          <p:cNvSpPr txBox="1"/>
          <p:nvPr/>
        </p:nvSpPr>
        <p:spPr>
          <a:xfrm>
            <a:off x="7022592" y="4050792"/>
            <a:ext cx="1691640" cy="548640"/>
          </a:xfrm>
          <a:prstGeom prst="rect">
            <a:avLst/>
          </a:prstGeom>
          <a:noFill/>
          <a:ln/>
        </p:spPr>
        <p:txBody>
          <a:bodyPr wrap="square" lIns="0" tIns="0" rIns="0" bIns="0" rtlCol="0" anchor="t"/>
          <a:lstStyle/>
          <a:p>
            <a:pPr indent="0" marL="0">
              <a:buNone/>
            </a:pPr>
            <a:r>
              <a:rPr lang="en-US" sz="1000" dirty="0">
                <a:solidFill>
                  <a:srgbClr val="17213A"/>
                </a:solidFill>
                <a:latin typeface="Arial" pitchFamily="34" charset="0"/>
                <a:ea typeface="Arial" pitchFamily="34" charset="-122"/>
                <a:cs typeface="Arial" pitchFamily="34" charset="-120"/>
              </a:rPr>
              <a:t>Groundwork for slow planners driving fast hands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Low-Dimensional Manipulation Intent — 3-minute proposal</dc:title>
  <dc:subject>PptxGenJS Presentation</dc:subject>
  <dc:creator>PptxGenJS</dc:creator>
  <cp:lastModifiedBy>PptxGenJS</cp:lastModifiedBy>
  <cp:revision>1</cp:revision>
  <dcterms:created xsi:type="dcterms:W3CDTF">2026-09-29T10:41:41Z</dcterms:created>
  <dcterms:modified xsi:type="dcterms:W3CDTF">2026-09-29T10:41:41Z</dcterms:modified>
</cp:coreProperties>
</file>