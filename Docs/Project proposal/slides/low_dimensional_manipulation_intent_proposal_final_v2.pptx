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ecbff20c42045da" /><Relationship Type="http://schemas.openxmlformats.org/officeDocument/2006/relationships/extended-properties" Target="/docProps/app.xml" Id="R68de056b277d4c14" /><Relationship Type="http://schemas.openxmlformats.org/officeDocument/2006/relationships/officeDocument" Target="/ppt/presentation.xml" Id="R79cffaef0ec74642" /></Relationships>
</file>

<file path=ppt/presentation.xml><?xml version="1.0" encoding="utf-8"?>
<p:presentation xmlns:p="http://schemas.openxmlformats.org/presentationml/2006/main">
  <p:sldMasterIdLst>
    <p:sldMasterId xmlns:r="http://schemas.openxmlformats.org/officeDocument/2006/relationships" id="2147483648" r:id="Ra565e5c211804a7f"/>
  </p:sldMasterIdLst>
  <p:notesMasterIdLst>
    <p:notesMasterId xmlns:r="http://schemas.openxmlformats.org/officeDocument/2006/relationships" r:id="R697f77f98b68446f"/>
  </p:notesMasterIdLst>
  <p:sldIdLst>
    <p:sldId xmlns:r="http://schemas.openxmlformats.org/officeDocument/2006/relationships" id="256" r:id="Rf8647c2f86644995"/>
    <p:sldId xmlns:r="http://schemas.openxmlformats.org/officeDocument/2006/relationships" id="257" r:id="Rd80f370fb39641c3"/>
    <p:sldId xmlns:r="http://schemas.openxmlformats.org/officeDocument/2006/relationships" id="258" r:id="Rb710936a3e3940e2"/>
    <p:sldId xmlns:r="http://schemas.openxmlformats.org/officeDocument/2006/relationships" id="259" r:id="Re66d6891f42c487f"/>
    <p:sldId xmlns:r="http://schemas.openxmlformats.org/officeDocument/2006/relationships" id="260" r:id="Rfff1890a585d4043"/>
    <p:sldId xmlns:r="http://schemas.openxmlformats.org/officeDocument/2006/relationships" id="261" r:id="Rf80aae78215f499d"/>
    <p:sldId xmlns:r="http://schemas.openxmlformats.org/officeDocument/2006/relationships" id="262" r:id="R3e34db6da9974f0d"/>
    <p:sldId xmlns:r="http://schemas.openxmlformats.org/officeDocument/2006/relationships" id="263" r:id="R1b4b58d94e26461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f595ab86a0842df" /><Relationship Type="http://schemas.openxmlformats.org/officeDocument/2006/relationships/slideMaster" Target="/ppt/slideMasters/slideMaster1.xml" Id="Ra565e5c211804a7f" /><Relationship Type="http://schemas.openxmlformats.org/officeDocument/2006/relationships/notesMaster" Target="/ppt/notesMasters/notesMaster1.xml" Id="R697f77f98b68446f" /><Relationship Type="http://schemas.openxmlformats.org/officeDocument/2006/relationships/presProps" Target="/ppt/presProps.xml" Id="R614b4c6593034ce7" /><Relationship Type="http://schemas.openxmlformats.org/officeDocument/2006/relationships/tableStyles" Target="/ppt/tableStyles.xml" Id="R414d75ee02cb4d66" /><Relationship Type="http://schemas.openxmlformats.org/officeDocument/2006/relationships/slide" Target="/ppt/slides/slide1.xml" Id="Rf8647c2f86644995" /><Relationship Type="http://schemas.openxmlformats.org/officeDocument/2006/relationships/slide" Target="/ppt/slides/slide2.xml" Id="Rd80f370fb39641c3" /><Relationship Type="http://schemas.openxmlformats.org/officeDocument/2006/relationships/slide" Target="/ppt/slides/slide3.xml" Id="Rb710936a3e3940e2" /><Relationship Type="http://schemas.openxmlformats.org/officeDocument/2006/relationships/slide" Target="/ppt/slides/slide4.xml" Id="Re66d6891f42c487f" /><Relationship Type="http://schemas.openxmlformats.org/officeDocument/2006/relationships/slide" Target="/ppt/slides/slide5.xml" Id="Rfff1890a585d4043" /><Relationship Type="http://schemas.openxmlformats.org/officeDocument/2006/relationships/slide" Target="/ppt/slides/slide6.xml" Id="Rf80aae78215f499d" /><Relationship Type="http://schemas.openxmlformats.org/officeDocument/2006/relationships/slide" Target="/ppt/slides/slide7.xml" Id="R3e34db6da9974f0d" /><Relationship Type="http://schemas.openxmlformats.org/officeDocument/2006/relationships/slide" Target="/ppt/slides/slide8.xml" Id="R1b4b58d94e26461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1569addb026455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1ddb834ccee4947" /><Relationship Type="http://schemas.openxmlformats.org/officeDocument/2006/relationships/notesMaster" Target="/ppt/notesMasters/notesMaster1.xml" Id="Ra1f9c9a0c9054986" /></Relationships>
</file>

<file path=ppt/notesSlides/_rels/notesSlide2.xml.rels>&#65279;<?xml version="1.0" encoding="utf-8"?><Relationships xmlns="http://schemas.openxmlformats.org/package/2006/relationships"><Relationship Type="http://schemas.openxmlformats.org/officeDocument/2006/relationships/slide" Target="/ppt/slides/slide2.xml" Id="R46691ae7861f402f" /><Relationship Type="http://schemas.openxmlformats.org/officeDocument/2006/relationships/notesMaster" Target="/ppt/notesMasters/notesMaster1.xml" Id="Ra81734a535e74839" /></Relationships>
</file>

<file path=ppt/notesSlides/_rels/notesSlide3.xml.rels>&#65279;<?xml version="1.0" encoding="utf-8"?><Relationships xmlns="http://schemas.openxmlformats.org/package/2006/relationships"><Relationship Type="http://schemas.openxmlformats.org/officeDocument/2006/relationships/slide" Target="/ppt/slides/slide3.xml" Id="Rcf4d88f9aab8450d" /><Relationship Type="http://schemas.openxmlformats.org/officeDocument/2006/relationships/notesMaster" Target="/ppt/notesMasters/notesMaster1.xml" Id="R5e7fa7bf86334c82" /></Relationships>
</file>

<file path=ppt/notesSlides/_rels/notesSlide4.xml.rels>&#65279;<?xml version="1.0" encoding="utf-8"?><Relationships xmlns="http://schemas.openxmlformats.org/package/2006/relationships"><Relationship Type="http://schemas.openxmlformats.org/officeDocument/2006/relationships/slide" Target="/ppt/slides/slide4.xml" Id="R0cbbfd927b2244fd" /><Relationship Type="http://schemas.openxmlformats.org/officeDocument/2006/relationships/notesMaster" Target="/ppt/notesMasters/notesMaster1.xml" Id="R2f2f463878b14768" /></Relationships>
</file>

<file path=ppt/notesSlides/_rels/notesSlide5.xml.rels>&#65279;<?xml version="1.0" encoding="utf-8"?><Relationships xmlns="http://schemas.openxmlformats.org/package/2006/relationships"><Relationship Type="http://schemas.openxmlformats.org/officeDocument/2006/relationships/slide" Target="/ppt/slides/slide5.xml" Id="Rf403168111734e77" /><Relationship Type="http://schemas.openxmlformats.org/officeDocument/2006/relationships/notesMaster" Target="/ppt/notesMasters/notesMaster1.xml" Id="Rb3da345a044341ee" /></Relationships>
</file>

<file path=ppt/notesSlides/_rels/notesSlide6.xml.rels>&#65279;<?xml version="1.0" encoding="utf-8"?><Relationships xmlns="http://schemas.openxmlformats.org/package/2006/relationships"><Relationship Type="http://schemas.openxmlformats.org/officeDocument/2006/relationships/slide" Target="/ppt/slides/slide6.xml" Id="R25477d26360d48d4" /><Relationship Type="http://schemas.openxmlformats.org/officeDocument/2006/relationships/notesMaster" Target="/ppt/notesMasters/notesMaster1.xml" Id="Rf1e03c63c9cf4655" /></Relationships>
</file>

<file path=ppt/notesSlides/_rels/notesSlide7.xml.rels>&#65279;<?xml version="1.0" encoding="utf-8"?><Relationships xmlns="http://schemas.openxmlformats.org/package/2006/relationships"><Relationship Type="http://schemas.openxmlformats.org/officeDocument/2006/relationships/slide" Target="/ppt/slides/slide7.xml" Id="R56ec5e705acc4501" /><Relationship Type="http://schemas.openxmlformats.org/officeDocument/2006/relationships/notesMaster" Target="/ppt/notesMasters/notesMaster1.xml" Id="Rc7de5d9121f840b5" /></Relationships>
</file>

<file path=ppt/notesSlides/_rels/notesSlide8.xml.rels>&#65279;<?xml version="1.0" encoding="utf-8"?><Relationships xmlns="http://schemas.openxmlformats.org/package/2006/relationships"><Relationship Type="http://schemas.openxmlformats.org/officeDocument/2006/relationships/slide" Target="/ppt/slides/slide8.xml" Id="Rbe6b2f304d794c6c" /><Relationship Type="http://schemas.openxmlformats.org/officeDocument/2006/relationships/notesMaster" Target="/ppt/notesMasters/notesMaster1.xml" Id="R7d1a6a07cc20489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framing: this is not a Quest teleoperation project. The scientific question is the information content of an intermediate manipulation representation between a task goal and 16-DoF control.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definition. The task-level command and object state are assumed available. RQ1 tests whether human manipulation intent adds value. RQ2 asks whether a compact representation retains that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Literature sources from the supplied folder: TypeTele: Releasing Dexterity in Teleoperation by Dexterous Manipulation Types; DexUMI: Using Human Hand as the Universal Manipulation Interface for Dexterous Manipulation; Dexplore: Scalable Neural Control for Dexterous Manipulation from Reference-Scoped Exploration; DOGlove: Dexterous Manipulation with a Low-Cost Open-Source Haptic Force Feedback Glove; UniDex: A Robot Foundation Suite for Universal Dexterous Hand Control from Egocentric Human Videos.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abstraction axis is the synthesis of the supplied literature. TypeTele supports manipulation types as an abstraction. Dexplore supports soft reference guidance and compact latent skill conditioning. DexUMI and DOGlove represent rich human-state capture. UniDex motivates a language-conditioned, cross-hand control endpoint.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system. Four conditions share the same task, state inputs, reward, PPO implementation, action space and budget. Object-only is the zero-human-information baseline. The other three increase or compress tracked hand information.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Representation design. Hand points are transformed from world coordinates into a palm-centered coordinate frame. PCA is fitted on normalized hand vectors. The main low-dimensional condition uses k=4; the exact hand vector h_t should be fixed before data collection and reported in the method section.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metrics: success rate, N80 and learning-curve AUC. Secondary analyses test final orientation error, tracking-noise robustness and representation dimension. One seed is only for debugging, three for a pilot, and five for the final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Timeline assumes the existing fixed-palm cube reorientation task. The strongest contribution is not VR control hardware. It is a controlled study of the interface: task intent to compact manipulation intent to dexterous control.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fa16462a25d4ca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95d784cdb6b4616" /><Relationship Type="http://schemas.openxmlformats.org/officeDocument/2006/relationships/slideLayout" Target="/ppt/slideLayouts/slideLayout1.xml" Id="R7b1449a9de3f41a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b1449a9de3f41a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e8b407873d54ea1" /><Relationship Type="http://schemas.openxmlformats.org/officeDocument/2006/relationships/notesSlide" Target="/ppt/notesSlides/notesSlide1.xml" Id="Re492ec13b85747a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84bc27bf7fd48b5" /><Relationship Type="http://schemas.openxmlformats.org/officeDocument/2006/relationships/notesSlide" Target="/ppt/notesSlides/notesSlide2.xml" Id="R24bac022f43d48d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04b062527054abe" /><Relationship Type="http://schemas.openxmlformats.org/officeDocument/2006/relationships/notesSlide" Target="/ppt/notesSlides/notesSlide3.xml" Id="Re81a9c1cf2d44d8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8bf64c2f81049af" /><Relationship Type="http://schemas.openxmlformats.org/officeDocument/2006/relationships/notesSlide" Target="/ppt/notesSlides/notesSlide4.xml" Id="Raa1d063eda68477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9c02b45c6a04d36" /><Relationship Type="http://schemas.openxmlformats.org/officeDocument/2006/relationships/notesSlide" Target="/ppt/notesSlides/notesSlide5.xml" Id="R14806fae9157409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6bd1558779f437c" /><Relationship Type="http://schemas.openxmlformats.org/officeDocument/2006/relationships/notesSlide" Target="/ppt/notesSlides/notesSlide6.xml" Id="Rf712755e2dcf4e1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d984916f2d74392" /><Relationship Type="http://schemas.openxmlformats.org/officeDocument/2006/relationships/notesSlide" Target="/ppt/notesSlides/notesSlide7.xml" Id="R5d8f2918c82b4df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8f279eafed14d65" /><Relationship Type="http://schemas.openxmlformats.org/officeDocument/2006/relationships/notesSlide" Target="/ppt/notesSlides/notesSlide8.xml" Id="Ra012756936304110" /></Relationships>
</file>

<file path=ppt/slides/slide1.xml><?xml version="1.0" encoding="utf-8"?>
<p:sld xmlns:p="http://schemas.openxmlformats.org/presentationml/2006/main">
  <p:cSld>
    <p:bg>
      <p:bgPr>
        <a:solidFill xmlns:a="http://schemas.openxmlformats.org/drawingml/2006/main">
          <a:srgbClr val="0B1633"/>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573223A-6C62-483F-BA44-06485F4F18B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4D5E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6409754-02C6-4BEE-B956-D911A54B8E01}"/>
              </a:ext>
            </a:extLst>
          </p:cNvPr>
          <p:cNvSpPr>
            <a:spLocks xmlns:a="http://schemas.openxmlformats.org/drawingml/2006/main" noGrp="1"/>
          </p:cNvSpPr>
          <p:nvPr/>
        </p:nvSpPr>
        <p:spPr>
          <a:xfrm xmlns:a="http://schemas.openxmlformats.org/drawingml/2006/main">
            <a:off x="685800" y="857250"/>
            <a:ext cx="8096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LOW-DIMENSIONAL</a:t>
            </a:r>
          </a:p>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MANIPULATION INTENT</a:t>
            </a:r>
          </a:p>
        </p:txBody>
      </p:sp>
      <p:sp>
        <p:nvSpPr>
          <p:cNvPr id="3" name="">
            <a:extLst xmlns:a="http://schemas.openxmlformats.org/drawingml/2006/main">
              <a:ext uri="{FF2B5EF4-FFF2-40B4-BE49-F238E27FC236}">
                <a16:creationId xmlns:a16="http://schemas.microsoft.com/office/drawing/2014/main" id="{4FFFCCDB-6139-459C-9B6F-2B93A31863B4}"/>
              </a:ext>
            </a:extLst>
          </p:cNvPr>
          <p:cNvSpPr>
            <a:spLocks xmlns:a="http://schemas.openxmlformats.org/drawingml/2006/main" noGrp="1"/>
          </p:cNvSpPr>
          <p:nvPr/>
        </p:nvSpPr>
        <p:spPr>
          <a:xfrm xmlns:a="http://schemas.openxmlformats.org/drawingml/2006/main">
            <a:off x="714375" y="2190750"/>
            <a:ext cx="723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0">
                <a:solidFill>
                  <a:srgbClr val="34D5E5"/>
                </a:solidFill>
                <a:latin typeface="Arial"/>
                <a:ea typeface="Arial"/>
                <a:cs typeface="Arial"/>
              </a:defRPr>
            </a:pPr>
            <a:r>
              <a:rPr sz="1875" b="0">
                <a:solidFill>
                  <a:srgbClr val="34D5E5"/>
                </a:solidFill>
                <a:latin typeface="Arial"/>
                <a:ea typeface="Arial"/>
                <a:cs typeface="Arial"/>
              </a:rPr>
              <a:t>for shared-autonomy dexterous control</a:t>
            </a:r>
          </a:p>
        </p:txBody>
      </p:sp>
      <p:sp>
        <p:nvSpPr>
          <p:cNvPr id="4" name="">
            <a:extLst xmlns:a="http://schemas.openxmlformats.org/drawingml/2006/main">
              <a:ext uri="{FF2B5EF4-FFF2-40B4-BE49-F238E27FC236}">
                <a16:creationId xmlns:a16="http://schemas.microsoft.com/office/drawing/2014/main" id="{4DBC1065-BBE6-4A1A-BD48-914A43D5039A}"/>
              </a:ext>
            </a:extLst>
          </p:cNvPr>
          <p:cNvSpPr>
            <a:spLocks xmlns:a="http://schemas.openxmlformats.org/drawingml/2006/main" noGrp="1"/>
          </p:cNvSpPr>
          <p:nvPr/>
        </p:nvSpPr>
        <p:spPr>
          <a:xfrm xmlns:a="http://schemas.openxmlformats.org/drawingml/2006/main">
            <a:off x="714375" y="3295650"/>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FFFFFF"/>
                </a:solidFill>
                <a:latin typeface="Arial"/>
                <a:ea typeface="Arial"/>
                <a:cs typeface="Arial"/>
              </a:defRPr>
            </a:pPr>
            <a:r>
              <a:rPr sz="2550" b="1">
                <a:solidFill>
                  <a:srgbClr val="FFFFFF"/>
                </a:solidFill>
                <a:latin typeface="Arial"/>
                <a:ea typeface="Arial"/>
                <a:cs typeface="Arial"/>
              </a:rPr>
              <a:t>How much human hand information is needed?</a:t>
            </a:r>
          </a:p>
        </p:txBody>
      </p:sp>
      <p:sp>
        <p:nvSpPr>
          <p:cNvPr id="5" name="">
            <a:extLst xmlns:a="http://schemas.openxmlformats.org/drawingml/2006/main">
              <a:ext uri="{FF2B5EF4-FFF2-40B4-BE49-F238E27FC236}">
                <a16:creationId xmlns:a16="http://schemas.microsoft.com/office/drawing/2014/main" id="{70914E6B-44E0-4EC9-B908-528EB8F36B43}"/>
              </a:ext>
            </a:extLst>
          </p:cNvPr>
          <p:cNvSpPr>
            <a:spLocks xmlns:a="http://schemas.openxmlformats.org/drawingml/2006/main" noGrp="1"/>
          </p:cNvSpPr>
          <p:nvPr/>
        </p:nvSpPr>
        <p:spPr>
          <a:xfrm xmlns:a="http://schemas.openxmlformats.org/drawingml/2006/main">
            <a:off x="723900" y="4191000"/>
            <a:ext cx="8191500" cy="19050"/>
          </a:xfrm>
          <a:prstGeom xmlns:a="http://schemas.openxmlformats.org/drawingml/2006/main" prst="rect">
            <a:avLst/>
          </a:prstGeom>
          <a:solidFill xmlns:a="http://schemas.openxmlformats.org/drawingml/2006/main">
            <a:srgbClr val="FF8A5B"/>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8737ABD-2891-44EC-BD96-AE5648D086A4}"/>
              </a:ext>
            </a:extLst>
          </p:cNvPr>
          <p:cNvSpPr>
            <a:spLocks xmlns:a="http://schemas.openxmlformats.org/drawingml/2006/main" noGrp="1"/>
          </p:cNvSpPr>
          <p:nvPr/>
        </p:nvSpPr>
        <p:spPr>
          <a:xfrm xmlns:a="http://schemas.openxmlformats.org/drawingml/2006/main">
            <a:off x="723900" y="4457700"/>
            <a:ext cx="8572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C7D2EA"/>
                </a:solidFill>
                <a:latin typeface="Arial"/>
                <a:ea typeface="Arial"/>
                <a:cs typeface="Arial"/>
              </a:defRPr>
            </a:pPr>
            <a:r>
              <a:rPr sz="1575" b="0">
                <a:solidFill>
                  <a:srgbClr val="C7D2EA"/>
                </a:solidFill>
                <a:latin typeface="Arial"/>
                <a:ea typeface="Arial"/>
                <a:cs typeface="Arial"/>
              </a:rPr>
              <a:t>Task goal and object state can specify what to do. This proposal isolates how much human manipulation information is needed to make contact-rich execution learnable.</a:t>
            </a:r>
          </a:p>
        </p:txBody>
      </p:sp>
      <p:sp>
        <p:nvSpPr>
          <p:cNvPr id="7" name="">
            <a:extLst xmlns:a="http://schemas.openxmlformats.org/drawingml/2006/main">
              <a:ext uri="{FF2B5EF4-FFF2-40B4-BE49-F238E27FC236}">
                <a16:creationId xmlns:a16="http://schemas.microsoft.com/office/drawing/2014/main" id="{60E84386-0EC9-464D-B2BF-CD4FC802C7CD}"/>
              </a:ext>
            </a:extLst>
          </p:cNvPr>
          <p:cNvSpPr>
            <a:spLocks xmlns:a="http://schemas.openxmlformats.org/drawingml/2006/main" noGrp="1"/>
          </p:cNvSpPr>
          <p:nvPr/>
        </p:nvSpPr>
        <p:spPr>
          <a:xfrm xmlns:a="http://schemas.openxmlformats.org/drawingml/2006/main">
            <a:off x="723900" y="5981700"/>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8EA3CA"/>
                </a:solidFill>
                <a:latin typeface="Arial"/>
                <a:ea typeface="Arial"/>
                <a:cs typeface="Arial"/>
              </a:defRPr>
            </a:pPr>
            <a:r>
              <a:rPr sz="1125" b="1">
                <a:solidFill>
                  <a:srgbClr val="8EA3CA"/>
                </a:solidFill>
                <a:latin typeface="Arial"/>
                <a:ea typeface="Arial"/>
                <a:cs typeface="Arial"/>
              </a:rPr>
              <a:t>Proposal presentation</a:t>
            </a:r>
          </a:p>
        </p:txBody>
      </p:sp>
      <p:sp>
        <p:nvSpPr>
          <p:cNvPr id="8" name="">
            <a:extLst xmlns:a="http://schemas.openxmlformats.org/drawingml/2006/main">
              <a:ext uri="{FF2B5EF4-FFF2-40B4-BE49-F238E27FC236}">
                <a16:creationId xmlns:a16="http://schemas.microsoft.com/office/drawing/2014/main" id="{CCEA7B05-AB19-46C9-93CD-C89FA2C74518}"/>
              </a:ext>
            </a:extLst>
          </p:cNvPr>
          <p:cNvSpPr>
            <a:spLocks xmlns:a="http://schemas.openxmlformats.org/drawingml/2006/main" noGrp="1"/>
          </p:cNvSpPr>
          <p:nvPr/>
        </p:nvSpPr>
        <p:spPr>
          <a:xfrm xmlns:a="http://schemas.openxmlformats.org/drawingml/2006/main">
            <a:off x="9620250" y="1381125"/>
            <a:ext cx="1428750" cy="666750"/>
          </a:xfrm>
          <a:prstGeom xmlns:a="http://schemas.openxmlformats.org/drawingml/2006/main" prst="roundRect">
            <a:avLst>
              <a:gd name="adj" fmla="val 22857"/>
            </a:avLst>
          </a:prstGeom>
          <a:solidFill xmlns:a="http://schemas.openxmlformats.org/drawingml/2006/main">
            <a:srgbClr val="182A54"/>
          </a:solidFill>
          <a:ln xmlns:a="http://schemas.openxmlformats.org/drawingml/2006/main" w="9525">
            <a:solidFill>
              <a:srgbClr val="2A4C8C"/>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TASK</a:t>
            </a:r>
          </a:p>
        </p:txBody>
      </p:sp>
      <p:sp>
        <p:nvSpPr>
          <p:cNvPr id="9" name="">
            <a:extLst xmlns:a="http://schemas.openxmlformats.org/drawingml/2006/main">
              <a:ext uri="{FF2B5EF4-FFF2-40B4-BE49-F238E27FC236}">
                <a16:creationId xmlns:a16="http://schemas.microsoft.com/office/drawing/2014/main" id="{F8B5BAB2-31BE-4251-BB5F-2A11DF099CAB}"/>
              </a:ext>
            </a:extLst>
          </p:cNvPr>
          <p:cNvSpPr>
            <a:spLocks xmlns:a="http://schemas.openxmlformats.org/drawingml/2006/main" noGrp="1"/>
          </p:cNvSpPr>
          <p:nvPr/>
        </p:nvSpPr>
        <p:spPr>
          <a:xfrm xmlns:a="http://schemas.openxmlformats.org/drawingml/2006/main">
            <a:off x="9620250" y="3000375"/>
            <a:ext cx="1428750" cy="666750"/>
          </a:xfrm>
          <a:prstGeom xmlns:a="http://schemas.openxmlformats.org/drawingml/2006/main" prst="roundRect">
            <a:avLst>
              <a:gd name="adj" fmla="val 22857"/>
            </a:avLst>
          </a:prstGeom>
          <a:solidFill xmlns:a="http://schemas.openxmlformats.org/drawingml/2006/main">
            <a:srgbClr val="FF8A5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0B1633"/>
                </a:solidFill>
                <a:latin typeface="Arial"/>
                <a:ea typeface="Arial"/>
                <a:cs typeface="Arial"/>
              </a:defRPr>
            </a:pPr>
            <a:r>
              <a:rPr sz="1350" b="1">
                <a:solidFill>
                  <a:srgbClr val="0B1633"/>
                </a:solidFill>
                <a:latin typeface="Arial"/>
                <a:ea typeface="Arial"/>
                <a:cs typeface="Arial"/>
              </a:rPr>
              <a:t>INTENT</a:t>
            </a:r>
          </a:p>
        </p:txBody>
      </p:sp>
      <p:sp>
        <p:nvSpPr>
          <p:cNvPr id="10" name="">
            <a:extLst xmlns:a="http://schemas.openxmlformats.org/drawingml/2006/main">
              <a:ext uri="{FF2B5EF4-FFF2-40B4-BE49-F238E27FC236}">
                <a16:creationId xmlns:a16="http://schemas.microsoft.com/office/drawing/2014/main" id="{7066E7C6-A53C-4BF3-BD16-3BBAB3E07160}"/>
              </a:ext>
            </a:extLst>
          </p:cNvPr>
          <p:cNvSpPr>
            <a:spLocks xmlns:a="http://schemas.openxmlformats.org/drawingml/2006/main" noGrp="1"/>
          </p:cNvSpPr>
          <p:nvPr/>
        </p:nvSpPr>
        <p:spPr>
          <a:xfrm xmlns:a="http://schemas.openxmlformats.org/drawingml/2006/main">
            <a:off x="9620250" y="4619625"/>
            <a:ext cx="1428750" cy="666750"/>
          </a:xfrm>
          <a:prstGeom xmlns:a="http://schemas.openxmlformats.org/drawingml/2006/main" prst="roundRect">
            <a:avLst>
              <a:gd name="adj" fmla="val 22857"/>
            </a:avLst>
          </a:prstGeom>
          <a:solidFill xmlns:a="http://schemas.openxmlformats.org/drawingml/2006/main">
            <a:srgbClr val="182A54"/>
          </a:solidFill>
          <a:ln xmlns:a="http://schemas.openxmlformats.org/drawingml/2006/main" w="9525">
            <a:solidFill>
              <a:srgbClr val="2A4C8C"/>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ACTION</a:t>
            </a:r>
          </a:p>
        </p:txBody>
      </p:sp>
      <p:cxnSp>
        <p:nvCxnSpPr>
          <p:cNvPr id="23" name=""/>
          <p:cNvCxnSpPr>
            <a:stCxn xmlns:a="http://schemas.openxmlformats.org/drawingml/2006/main" id="8" idx="2"/>
            <a:endCxn xmlns:a="http://schemas.openxmlformats.org/drawingml/2006/main" id="9" idx="0"/>
          </p:cNvCxnSpPr>
          <p:nvPr/>
        </p:nvCxnSpPr>
        <p:spPr>
          <a:xfrm xmlns:a="http://schemas.openxmlformats.org/drawingml/2006/main">
            <a:off x="10334625" y="2047875"/>
            <a:ext cx="0" cy="952500"/>
          </a:xfrm>
          <a:prstGeom xmlns:a="http://schemas.openxmlformats.org/drawingml/2006/main" prst="straightConnector1">
            <a:avLst/>
          </a:prstGeom>
          <a:ln xmlns:a="http://schemas.openxmlformats.org/drawingml/2006/main" w="28575">
            <a:solidFill>
              <a:srgbClr val="34D5E5"/>
            </a:solidFill>
            <a:prstDash val="solid"/>
            <a:tailEnd type="arrow" w="med" len="med"/>
          </a:ln>
        </p:spPr>
      </p:cxnSp>
      <p:cxnSp>
        <p:nvCxnSpPr>
          <p:cNvPr id="24" name=""/>
          <p:cNvCxnSpPr>
            <a:stCxn xmlns:a="http://schemas.openxmlformats.org/drawingml/2006/main" id="9" idx="2"/>
            <a:endCxn xmlns:a="http://schemas.openxmlformats.org/drawingml/2006/main" id="10" idx="0"/>
          </p:cNvCxnSpPr>
          <p:nvPr/>
        </p:nvCxnSpPr>
        <p:spPr>
          <a:xfrm xmlns:a="http://schemas.openxmlformats.org/drawingml/2006/main">
            <a:off x="10334625" y="3667125"/>
            <a:ext cx="0" cy="952500"/>
          </a:xfrm>
          <a:prstGeom xmlns:a="http://schemas.openxmlformats.org/drawingml/2006/main" prst="straightConnector1">
            <a:avLst/>
          </a:prstGeom>
          <a:ln xmlns:a="http://schemas.openxmlformats.org/drawingml/2006/main" w="28575">
            <a:solidFill>
              <a:srgbClr val="34D5E5"/>
            </a:solidFill>
            <a:prstDash val="solid"/>
            <a:tailEnd type="arrow" w="med" len="med"/>
          </a:ln>
        </p:spPr>
      </p:cxnSp>
    </p:spTree>
    <p:extLst>
      <p:ext uri="{BB962C8B-B14F-4D97-AF65-F5344CB8AC3E}">
        <p14:creationId xmlns:p14="http://schemas.microsoft.com/office/powerpoint/2010/main" val="152405836"/>
      </p:ext>
    </p:extLst>
  </p:cSld>
</p:sld>
</file>

<file path=ppt/slides/slide2.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E238A93-8D01-4B52-99B6-F0C62EB4E69F}"/>
              </a:ext>
            </a:extLst>
          </p:cNvPr>
          <p:cNvSpPr>
            <a:spLocks xmlns:a="http://schemas.openxmlformats.org/drawingml/2006/main" noGrp="1"/>
          </p:cNvSpPr>
          <p:nvPr/>
        </p:nvSpPr>
        <p:spPr>
          <a:xfrm xmlns:a="http://schemas.openxmlformats.org/drawingml/2006/main">
            <a:off x="609600" y="4000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B1633"/>
                </a:solidFill>
                <a:latin typeface="Arial"/>
                <a:ea typeface="Arial"/>
                <a:cs typeface="Arial"/>
              </a:defRPr>
            </a:pPr>
            <a:r>
              <a:rPr sz="2550" b="1">
                <a:solidFill>
                  <a:srgbClr val="0B1633"/>
                </a:solidFill>
                <a:latin typeface="Arial"/>
                <a:ea typeface="Arial"/>
                <a:cs typeface="Arial"/>
              </a:rPr>
              <a:t>The missing layer between task intent and dexterous action</a:t>
            </a:r>
          </a:p>
        </p:txBody>
      </p:sp>
      <p:sp>
        <p:nvSpPr>
          <p:cNvPr id="2" name="">
            <a:extLst xmlns:a="http://schemas.openxmlformats.org/drawingml/2006/main">
              <a:ext uri="{FF2B5EF4-FFF2-40B4-BE49-F238E27FC236}">
                <a16:creationId xmlns:a16="http://schemas.microsoft.com/office/drawing/2014/main" id="{FD67164F-0DCD-45EE-BDA0-8578911571F9}"/>
              </a:ext>
            </a:extLst>
          </p:cNvPr>
          <p:cNvSpPr>
            <a:spLocks xmlns:a="http://schemas.openxmlformats.org/drawingml/2006/main" noGrp="1"/>
          </p:cNvSpPr>
          <p:nvPr/>
        </p:nvSpPr>
        <p:spPr>
          <a:xfrm xmlns:a="http://schemas.openxmlformats.org/drawingml/2006/main">
            <a:off x="1104900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050" b="1">
                <a:solidFill>
                  <a:srgbClr val="2C67F2"/>
                </a:solidFill>
                <a:latin typeface="Arial"/>
                <a:ea typeface="Arial"/>
                <a:cs typeface="Arial"/>
              </a:defRPr>
            </a:pPr>
            <a:r>
              <a:rPr sz="1050" b="1">
                <a:solidFill>
                  <a:srgbClr val="2C67F2"/>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C709B9C1-06A9-40A8-BC64-4AE7B370B5F7}"/>
              </a:ext>
            </a:extLst>
          </p:cNvPr>
          <p:cNvSpPr>
            <a:spLocks xmlns:a="http://schemas.openxmlformats.org/drawingml/2006/main" noGrp="1"/>
          </p:cNvSpPr>
          <p:nvPr/>
        </p:nvSpPr>
        <p:spPr>
          <a:xfrm xmlns:a="http://schemas.openxmlformats.org/drawingml/2006/main">
            <a:off x="857250" y="1381125"/>
            <a:ext cx="2857500" cy="1066800"/>
          </a:xfrm>
          <a:prstGeom xmlns:a="http://schemas.openxmlformats.org/drawingml/2006/main" prst="roundRect">
            <a:avLst>
              <a:gd name="adj" fmla="val 14286"/>
            </a:avLst>
          </a:prstGeom>
          <a:solidFill xmlns:a="http://schemas.openxmlformats.org/drawingml/2006/main">
            <a:srgbClr val="EAF0FF"/>
          </a:solidFill>
          <a:ln xmlns:a="http://schemas.openxmlformats.org/drawingml/2006/main" w="9525">
            <a:solidFill>
              <a:srgbClr val="2C67F2"/>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0B1633"/>
                </a:solidFill>
                <a:latin typeface="Arial"/>
                <a:ea typeface="Arial"/>
                <a:cs typeface="Arial"/>
              </a:defRPr>
            </a:pPr>
            <a:r>
              <a:rPr sz="1725" b="1">
                <a:solidFill>
                  <a:srgbClr val="0B1633"/>
                </a:solidFill>
                <a:latin typeface="Arial"/>
                <a:ea typeface="Arial"/>
                <a:cs typeface="Arial"/>
              </a:rPr>
              <a:t>Task-level intent</a:t>
            </a:r>
          </a:p>
          <a:p xmlns:a="http://schemas.openxmlformats.org/drawingml/2006/main">
            <a:pPr algn="ctr">
              <a:defRPr sz="1725" b="1">
                <a:solidFill>
                  <a:srgbClr val="0B1633"/>
                </a:solidFill>
                <a:latin typeface="Arial"/>
                <a:ea typeface="Arial"/>
                <a:cs typeface="Arial"/>
              </a:defRPr>
            </a:pPr>
            <a:r>
              <a:rPr sz="1725" b="1">
                <a:solidFill>
                  <a:srgbClr val="0B1633"/>
                </a:solidFill>
                <a:latin typeface="Arial"/>
                <a:ea typeface="Arial"/>
                <a:cs typeface="Arial"/>
              </a:rPr>
              <a:t>"rotate the cube"</a:t>
            </a:r>
          </a:p>
        </p:txBody>
      </p:sp>
      <p:sp>
        <p:nvSpPr>
          <p:cNvPr id="4" name="">
            <a:extLst xmlns:a="http://schemas.openxmlformats.org/drawingml/2006/main">
              <a:ext uri="{FF2B5EF4-FFF2-40B4-BE49-F238E27FC236}">
                <a16:creationId xmlns:a16="http://schemas.microsoft.com/office/drawing/2014/main" id="{10948C49-E530-45AB-8CE5-670F73F24E18}"/>
              </a:ext>
            </a:extLst>
          </p:cNvPr>
          <p:cNvSpPr>
            <a:spLocks xmlns:a="http://schemas.openxmlformats.org/drawingml/2006/main" noGrp="1"/>
          </p:cNvSpPr>
          <p:nvPr/>
        </p:nvSpPr>
        <p:spPr>
          <a:xfrm xmlns:a="http://schemas.openxmlformats.org/drawingml/2006/main">
            <a:off x="4667250" y="1381125"/>
            <a:ext cx="2857500" cy="1066800"/>
          </a:xfrm>
          <a:prstGeom xmlns:a="http://schemas.openxmlformats.org/drawingml/2006/main" prst="roundRect">
            <a:avLst>
              <a:gd name="adj" fmla="val 14286"/>
            </a:avLst>
          </a:prstGeom>
          <a:solidFill xmlns:a="http://schemas.openxmlformats.org/drawingml/2006/main">
            <a:srgbClr val="FFF0EA"/>
          </a:solidFill>
          <a:ln xmlns:a="http://schemas.openxmlformats.org/drawingml/2006/main" w="9525">
            <a:solidFill>
              <a:srgbClr val="FF8A5B"/>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0B1633"/>
                </a:solidFill>
                <a:latin typeface="Arial"/>
                <a:ea typeface="Arial"/>
                <a:cs typeface="Arial"/>
              </a:defRPr>
            </a:pPr>
            <a:r>
              <a:rPr sz="1725" b="1">
                <a:solidFill>
                  <a:srgbClr val="0B1633"/>
                </a:solidFill>
                <a:latin typeface="Arial"/>
                <a:ea typeface="Arial"/>
                <a:cs typeface="Arial"/>
              </a:rPr>
              <a:t>Manipulation intent</a:t>
            </a:r>
          </a:p>
          <a:p xmlns:a="http://schemas.openxmlformats.org/drawingml/2006/main">
            <a:pPr algn="ctr">
              <a:defRPr sz="1725" b="1">
                <a:solidFill>
                  <a:srgbClr val="0B1633"/>
                </a:solidFill>
                <a:latin typeface="Arial"/>
                <a:ea typeface="Arial"/>
                <a:cs typeface="Arial"/>
              </a:defRPr>
            </a:pPr>
            <a:r>
              <a:rPr sz="1725" b="1">
                <a:solidFill>
                  <a:srgbClr val="0B1633"/>
                </a:solidFill>
                <a:latin typeface="Arial"/>
                <a:ea typeface="Arial"/>
                <a:cs typeface="Arial"/>
              </a:rPr>
              <a:t>?</a:t>
            </a:r>
          </a:p>
        </p:txBody>
      </p:sp>
      <p:sp>
        <p:nvSpPr>
          <p:cNvPr id="5" name="">
            <a:extLst xmlns:a="http://schemas.openxmlformats.org/drawingml/2006/main">
              <a:ext uri="{FF2B5EF4-FFF2-40B4-BE49-F238E27FC236}">
                <a16:creationId xmlns:a16="http://schemas.microsoft.com/office/drawing/2014/main" id="{21E32B6E-A844-4936-B0E6-616AEB4EFEF3}"/>
              </a:ext>
            </a:extLst>
          </p:cNvPr>
          <p:cNvSpPr>
            <a:spLocks xmlns:a="http://schemas.openxmlformats.org/drawingml/2006/main" noGrp="1"/>
          </p:cNvSpPr>
          <p:nvPr/>
        </p:nvSpPr>
        <p:spPr>
          <a:xfrm xmlns:a="http://schemas.openxmlformats.org/drawingml/2006/main">
            <a:off x="8477250" y="1381125"/>
            <a:ext cx="2857500" cy="1066800"/>
          </a:xfrm>
          <a:prstGeom xmlns:a="http://schemas.openxmlformats.org/drawingml/2006/main" prst="roundRect">
            <a:avLst>
              <a:gd name="adj" fmla="val 14286"/>
            </a:avLst>
          </a:prstGeom>
          <a:solidFill xmlns:a="http://schemas.openxmlformats.org/drawingml/2006/main">
            <a:srgbClr val="E7FAFC"/>
          </a:solidFill>
          <a:ln xmlns:a="http://schemas.openxmlformats.org/drawingml/2006/main" w="9525">
            <a:solidFill>
              <a:srgbClr val="34D5E5"/>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0B1633"/>
                </a:solidFill>
                <a:latin typeface="Arial"/>
                <a:ea typeface="Arial"/>
                <a:cs typeface="Arial"/>
              </a:defRPr>
            </a:pPr>
            <a:r>
              <a:rPr sz="1725" b="1">
                <a:solidFill>
                  <a:srgbClr val="0B1633"/>
                </a:solidFill>
                <a:latin typeface="Arial"/>
                <a:ea typeface="Arial"/>
                <a:cs typeface="Arial"/>
              </a:rPr>
              <a:t>Dexterous action</a:t>
            </a:r>
          </a:p>
          <a:p xmlns:a="http://schemas.openxmlformats.org/drawingml/2006/main">
            <a:pPr algn="ctr">
              <a:defRPr sz="1725" b="1">
                <a:solidFill>
                  <a:srgbClr val="0B1633"/>
                </a:solidFill>
                <a:latin typeface="Arial"/>
                <a:ea typeface="Arial"/>
                <a:cs typeface="Arial"/>
              </a:defRPr>
            </a:pPr>
            <a:r>
              <a:rPr sz="1725" b="1">
                <a:solidFill>
                  <a:srgbClr val="0B1633"/>
                </a:solidFill>
                <a:latin typeface="Arial"/>
                <a:ea typeface="Arial"/>
                <a:cs typeface="Arial"/>
              </a:rPr>
              <a:t>16-DoF Allegro</a:t>
            </a:r>
          </a:p>
        </p:txBody>
      </p:sp>
      <p:cxnSp>
        <p:nvCxnSpPr>
          <p:cNvPr id="23" name=""/>
          <p:cNvCxnSpPr>
            <a:stCxn xmlns:a="http://schemas.openxmlformats.org/drawingml/2006/main" id="3" idx="3"/>
            <a:endCxn xmlns:a="http://schemas.openxmlformats.org/drawingml/2006/main" id="4" idx="1"/>
          </p:cNvCxnSpPr>
          <p:nvPr/>
        </p:nvCxnSpPr>
        <p:spPr>
          <a:xfrm xmlns:a="http://schemas.openxmlformats.org/drawingml/2006/main">
            <a:off x="3714750" y="1914525"/>
            <a:ext cx="952500" cy="0"/>
          </a:xfrm>
          <a:prstGeom xmlns:a="http://schemas.openxmlformats.org/drawingml/2006/main" prst="straightConnector1">
            <a:avLst/>
          </a:prstGeom>
          <a:ln xmlns:a="http://schemas.openxmlformats.org/drawingml/2006/main" w="28575">
            <a:solidFill>
              <a:srgbClr val="2C67F2"/>
            </a:solidFill>
            <a:prstDash val="solid"/>
            <a:tailEnd type="arrow" w="med" len="med"/>
          </a:ln>
        </p:spPr>
      </p:cxnSp>
      <p:cxnSp>
        <p:nvCxnSpPr>
          <p:cNvPr id="24" name=""/>
          <p:cNvCxnSpPr>
            <a:stCxn xmlns:a="http://schemas.openxmlformats.org/drawingml/2006/main" id="4" idx="3"/>
            <a:endCxn xmlns:a="http://schemas.openxmlformats.org/drawingml/2006/main" id="5" idx="1"/>
          </p:cNvCxnSpPr>
          <p:nvPr/>
        </p:nvCxnSpPr>
        <p:spPr>
          <a:xfrm xmlns:a="http://schemas.openxmlformats.org/drawingml/2006/main">
            <a:off x="7524750" y="1914525"/>
            <a:ext cx="952500" cy="0"/>
          </a:xfrm>
          <a:prstGeom xmlns:a="http://schemas.openxmlformats.org/drawingml/2006/main" prst="straightConnector1">
            <a:avLst/>
          </a:prstGeom>
          <a:ln xmlns:a="http://schemas.openxmlformats.org/drawingml/2006/main" w="28575">
            <a:solidFill>
              <a:srgbClr val="2C67F2"/>
            </a:solidFill>
            <a:prstDash val="solid"/>
            <a:tailEnd type="arrow" w="med" len="med"/>
          </a:ln>
        </p:spPr>
      </p:cxnSp>
      <p:sp>
        <p:nvSpPr>
          <p:cNvPr id="8" name="">
            <a:extLst xmlns:a="http://schemas.openxmlformats.org/drawingml/2006/main">
              <a:ext uri="{FF2B5EF4-FFF2-40B4-BE49-F238E27FC236}">
                <a16:creationId xmlns:a16="http://schemas.microsoft.com/office/drawing/2014/main" id="{6D21AE81-3C29-4DA6-AC17-5E8AECEC311B}"/>
              </a:ext>
            </a:extLst>
          </p:cNvPr>
          <p:cNvSpPr>
            <a:spLocks xmlns:a="http://schemas.openxmlformats.org/drawingml/2006/main" noGrp="1"/>
          </p:cNvSpPr>
          <p:nvPr/>
        </p:nvSpPr>
        <p:spPr>
          <a:xfrm xmlns:a="http://schemas.openxmlformats.org/drawingml/2006/main">
            <a:off x="1047750" y="285750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2C67F2"/>
                </a:solidFill>
                <a:latin typeface="Arial"/>
                <a:ea typeface="Arial"/>
                <a:cs typeface="Arial"/>
              </a:defRPr>
            </a:pPr>
            <a:r>
              <a:rPr sz="1350" b="1">
                <a:solidFill>
                  <a:srgbClr val="2C67F2"/>
                </a:solidFill>
                <a:latin typeface="Arial"/>
                <a:ea typeface="Arial"/>
                <a:cs typeface="Arial"/>
              </a:rPr>
              <a:t>Language and VLMs</a:t>
            </a:r>
          </a:p>
        </p:txBody>
      </p:sp>
      <p:sp>
        <p:nvSpPr>
          <p:cNvPr id="9" name="">
            <a:extLst xmlns:a="http://schemas.openxmlformats.org/drawingml/2006/main">
              <a:ext uri="{FF2B5EF4-FFF2-40B4-BE49-F238E27FC236}">
                <a16:creationId xmlns:a16="http://schemas.microsoft.com/office/drawing/2014/main" id="{A7E4BC53-433F-4162-B464-CF84197766CF}"/>
              </a:ext>
            </a:extLst>
          </p:cNvPr>
          <p:cNvSpPr>
            <a:spLocks xmlns:a="http://schemas.openxmlformats.org/drawingml/2006/main" noGrp="1"/>
          </p:cNvSpPr>
          <p:nvPr/>
        </p:nvSpPr>
        <p:spPr>
          <a:xfrm xmlns:a="http://schemas.openxmlformats.org/drawingml/2006/main">
            <a:off x="1047750" y="3181350"/>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0B1633"/>
                </a:solidFill>
                <a:latin typeface="Arial"/>
                <a:ea typeface="Arial"/>
                <a:cs typeface="Arial"/>
              </a:defRPr>
            </a:pPr>
            <a:r>
              <a:rPr sz="1950" b="1">
                <a:solidFill>
                  <a:srgbClr val="0B1633"/>
                </a:solidFill>
                <a:latin typeface="Arial"/>
                <a:ea typeface="Arial"/>
                <a:cs typeface="Arial"/>
              </a:rPr>
              <a:t>what to do</a:t>
            </a:r>
          </a:p>
        </p:txBody>
      </p:sp>
      <p:sp>
        <p:nvSpPr>
          <p:cNvPr id="10" name="">
            <a:extLst xmlns:a="http://schemas.openxmlformats.org/drawingml/2006/main">
              <a:ext uri="{FF2B5EF4-FFF2-40B4-BE49-F238E27FC236}">
                <a16:creationId xmlns:a16="http://schemas.microsoft.com/office/drawing/2014/main" id="{1EB0F733-70F0-415E-9699-5AB6F106095F}"/>
              </a:ext>
            </a:extLst>
          </p:cNvPr>
          <p:cNvSpPr>
            <a:spLocks xmlns:a="http://schemas.openxmlformats.org/drawingml/2006/main" noGrp="1"/>
          </p:cNvSpPr>
          <p:nvPr/>
        </p:nvSpPr>
        <p:spPr>
          <a:xfrm xmlns:a="http://schemas.openxmlformats.org/drawingml/2006/main">
            <a:off x="8667750" y="285750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28B78D"/>
                </a:solidFill>
                <a:latin typeface="Arial"/>
                <a:ea typeface="Arial"/>
                <a:cs typeface="Arial"/>
              </a:defRPr>
            </a:pPr>
            <a:r>
              <a:rPr sz="1350" b="1">
                <a:solidFill>
                  <a:srgbClr val="28B78D"/>
                </a:solidFill>
                <a:latin typeface="Arial"/>
                <a:ea typeface="Arial"/>
                <a:cs typeface="Arial"/>
              </a:rPr>
              <a:t>Contact-rich control</a:t>
            </a:r>
          </a:p>
        </p:txBody>
      </p:sp>
      <p:sp>
        <p:nvSpPr>
          <p:cNvPr id="11" name="">
            <a:extLst xmlns:a="http://schemas.openxmlformats.org/drawingml/2006/main">
              <a:ext uri="{FF2B5EF4-FFF2-40B4-BE49-F238E27FC236}">
                <a16:creationId xmlns:a16="http://schemas.microsoft.com/office/drawing/2014/main" id="{F5C109AB-81C7-40A4-9623-1C6D332DA93A}"/>
              </a:ext>
            </a:extLst>
          </p:cNvPr>
          <p:cNvSpPr>
            <a:spLocks xmlns:a="http://schemas.openxmlformats.org/drawingml/2006/main" noGrp="1"/>
          </p:cNvSpPr>
          <p:nvPr/>
        </p:nvSpPr>
        <p:spPr>
          <a:xfrm xmlns:a="http://schemas.openxmlformats.org/drawingml/2006/main">
            <a:off x="8572500" y="3181350"/>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185"/>
          </a:bodyPr>
          <a:lstStyle xmlns:a="http://schemas.openxmlformats.org/drawingml/2006/main"/>
          <a:p xmlns:a="http://schemas.openxmlformats.org/drawingml/2006/main">
            <a:pPr algn="ctr">
              <a:defRPr sz="1800" b="1">
                <a:solidFill>
                  <a:srgbClr val="0B1633"/>
                </a:solidFill>
                <a:latin typeface="Arial"/>
                <a:ea typeface="Arial"/>
                <a:cs typeface="Arial"/>
              </a:defRPr>
            </a:pPr>
            <a:r>
              <a:rPr sz="1800" b="1">
                <a:solidFill>
                  <a:srgbClr val="0B1633"/>
                </a:solidFill>
                <a:latin typeface="Arial"/>
                <a:ea typeface="Arial"/>
                <a:cs typeface="Arial"/>
              </a:rPr>
              <a:t>how to do it physically</a:t>
            </a:r>
          </a:p>
        </p:txBody>
      </p:sp>
      <p:sp>
        <p:nvSpPr>
          <p:cNvPr id="12" name="">
            <a:extLst xmlns:a="http://schemas.openxmlformats.org/drawingml/2006/main">
              <a:ext uri="{FF2B5EF4-FFF2-40B4-BE49-F238E27FC236}">
                <a16:creationId xmlns:a16="http://schemas.microsoft.com/office/drawing/2014/main" id="{718D5339-4B91-42DF-8665-AED4FC233ED3}"/>
              </a:ext>
            </a:extLst>
          </p:cNvPr>
          <p:cNvSpPr>
            <a:spLocks xmlns:a="http://schemas.openxmlformats.org/drawingml/2006/main" noGrp="1"/>
          </p:cNvSpPr>
          <p:nvPr/>
        </p:nvSpPr>
        <p:spPr>
          <a:xfrm xmlns:a="http://schemas.openxmlformats.org/drawingml/2006/main">
            <a:off x="609600" y="3905250"/>
            <a:ext cx="10972800" cy="9525"/>
          </a:xfrm>
          <a:prstGeom xmlns:a="http://schemas.openxmlformats.org/drawingml/2006/main" prst="rect">
            <a:avLst/>
          </a:prstGeom>
          <a:solidFill xmlns:a="http://schemas.openxmlformats.org/drawingml/2006/main">
            <a:srgbClr val="D9E0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D96C662-62D4-4365-B903-F23609A9A601}"/>
              </a:ext>
            </a:extLst>
          </p:cNvPr>
          <p:cNvSpPr>
            <a:spLocks xmlns:a="http://schemas.openxmlformats.org/drawingml/2006/main" noGrp="1"/>
          </p:cNvSpPr>
          <p:nvPr/>
        </p:nvSpPr>
        <p:spPr>
          <a:xfrm xmlns:a="http://schemas.openxmlformats.org/drawingml/2006/main">
            <a:off x="838200" y="4238625"/>
            <a:ext cx="685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F8A5B"/>
                </a:solidFill>
                <a:latin typeface="Arial"/>
                <a:ea typeface="Arial"/>
                <a:cs typeface="Arial"/>
              </a:defRPr>
            </a:pPr>
            <a:r>
              <a:rPr sz="1275" b="1">
                <a:solidFill>
                  <a:srgbClr val="FF8A5B"/>
                </a:solidFill>
                <a:latin typeface="Arial"/>
                <a:ea typeface="Arial"/>
                <a:cs typeface="Arial"/>
              </a:rPr>
              <a:t>RQ1</a:t>
            </a:r>
          </a:p>
        </p:txBody>
      </p:sp>
      <p:sp>
        <p:nvSpPr>
          <p:cNvPr id="14" name="">
            <a:extLst xmlns:a="http://schemas.openxmlformats.org/drawingml/2006/main">
              <a:ext uri="{FF2B5EF4-FFF2-40B4-BE49-F238E27FC236}">
                <a16:creationId xmlns:a16="http://schemas.microsoft.com/office/drawing/2014/main" id="{0D85C8E6-6B12-49BA-B784-3CCFB6DDED23}"/>
              </a:ext>
            </a:extLst>
          </p:cNvPr>
          <p:cNvSpPr>
            <a:spLocks xmlns:a="http://schemas.openxmlformats.org/drawingml/2006/main" noGrp="1"/>
          </p:cNvSpPr>
          <p:nvPr/>
        </p:nvSpPr>
        <p:spPr>
          <a:xfrm xmlns:a="http://schemas.openxmlformats.org/drawingml/2006/main">
            <a:off x="1571625" y="4171950"/>
            <a:ext cx="9525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906"/>
          </a:bodyPr>
          <a:lstStyle xmlns:a="http://schemas.openxmlformats.org/drawingml/2006/main"/>
          <a:p xmlns:a="http://schemas.openxmlformats.org/drawingml/2006/main">
            <a:pPr algn="l">
              <a:defRPr sz="1725" b="1">
                <a:solidFill>
                  <a:srgbClr val="17213A"/>
                </a:solidFill>
                <a:latin typeface="Arial"/>
                <a:ea typeface="Arial"/>
                <a:cs typeface="Arial"/>
              </a:defRPr>
            </a:pPr>
            <a:r>
              <a:rPr sz="1725" b="1">
                <a:solidFill>
                  <a:srgbClr val="17213A"/>
                </a:solidFill>
                <a:latin typeface="Arial"/>
                <a:ea typeface="Arial"/>
                <a:cs typeface="Arial"/>
              </a:rPr>
              <a:t>Does intermediate manipulation intent improve dexterous control beyond task and object state alone?</a:t>
            </a:r>
          </a:p>
        </p:txBody>
      </p:sp>
      <p:sp>
        <p:nvSpPr>
          <p:cNvPr id="15" name="">
            <a:extLst xmlns:a="http://schemas.openxmlformats.org/drawingml/2006/main">
              <a:ext uri="{FF2B5EF4-FFF2-40B4-BE49-F238E27FC236}">
                <a16:creationId xmlns:a16="http://schemas.microsoft.com/office/drawing/2014/main" id="{C9814802-9D9F-4F34-849E-881B6A526809}"/>
              </a:ext>
            </a:extLst>
          </p:cNvPr>
          <p:cNvSpPr>
            <a:spLocks xmlns:a="http://schemas.openxmlformats.org/drawingml/2006/main" noGrp="1"/>
          </p:cNvSpPr>
          <p:nvPr/>
        </p:nvSpPr>
        <p:spPr>
          <a:xfrm xmlns:a="http://schemas.openxmlformats.org/drawingml/2006/main">
            <a:off x="838200" y="5095875"/>
            <a:ext cx="685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F8A5B"/>
                </a:solidFill>
                <a:latin typeface="Arial"/>
                <a:ea typeface="Arial"/>
                <a:cs typeface="Arial"/>
              </a:defRPr>
            </a:pPr>
            <a:r>
              <a:rPr sz="1275" b="1">
                <a:solidFill>
                  <a:srgbClr val="FF8A5B"/>
                </a:solidFill>
                <a:latin typeface="Arial"/>
                <a:ea typeface="Arial"/>
                <a:cs typeface="Arial"/>
              </a:rPr>
              <a:t>RQ2</a:t>
            </a:r>
          </a:p>
        </p:txBody>
      </p:sp>
      <p:sp>
        <p:nvSpPr>
          <p:cNvPr id="16" name="">
            <a:extLst xmlns:a="http://schemas.openxmlformats.org/drawingml/2006/main">
              <a:ext uri="{FF2B5EF4-FFF2-40B4-BE49-F238E27FC236}">
                <a16:creationId xmlns:a16="http://schemas.microsoft.com/office/drawing/2014/main" id="{99803315-C97A-4E79-985B-FA1010C602BA}"/>
              </a:ext>
            </a:extLst>
          </p:cNvPr>
          <p:cNvSpPr>
            <a:spLocks xmlns:a="http://schemas.openxmlformats.org/drawingml/2006/main" noGrp="1"/>
          </p:cNvSpPr>
          <p:nvPr/>
        </p:nvSpPr>
        <p:spPr>
          <a:xfrm xmlns:a="http://schemas.openxmlformats.org/drawingml/2006/main">
            <a:off x="1571625" y="5029200"/>
            <a:ext cx="9525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415"/>
          </a:bodyPr>
          <a:lstStyle xmlns:a="http://schemas.openxmlformats.org/drawingml/2006/main"/>
          <a:p xmlns:a="http://schemas.openxmlformats.org/drawingml/2006/main">
            <a:pPr algn="l">
              <a:defRPr sz="1725" b="1">
                <a:solidFill>
                  <a:srgbClr val="17213A"/>
                </a:solidFill>
                <a:latin typeface="Arial"/>
                <a:ea typeface="Arial"/>
                <a:cs typeface="Arial"/>
              </a:defRPr>
            </a:pPr>
            <a:r>
              <a:rPr sz="1725" b="1">
                <a:solidFill>
                  <a:srgbClr val="17213A"/>
                </a:solidFill>
                <a:latin typeface="Arial"/>
                <a:ea typeface="Arial"/>
                <a:cs typeface="Arial"/>
              </a:rPr>
              <a:t>Can low-dimensional hand synergies preserve the useful information in full hand tracking?</a:t>
            </a:r>
          </a:p>
        </p:txBody>
      </p:sp>
      <p:sp>
        <p:nvSpPr>
          <p:cNvPr id="17" name="">
            <a:extLst xmlns:a="http://schemas.openxmlformats.org/drawingml/2006/main">
              <a:ext uri="{FF2B5EF4-FFF2-40B4-BE49-F238E27FC236}">
                <a16:creationId xmlns:a16="http://schemas.microsoft.com/office/drawing/2014/main" id="{B964D6C6-5D3C-4298-8471-5990CB57ED9A}"/>
              </a:ext>
            </a:extLst>
          </p:cNvPr>
          <p:cNvSpPr>
            <a:spLocks xmlns:a="http://schemas.openxmlformats.org/drawingml/2006/main" noGrp="1"/>
          </p:cNvSpPr>
          <p:nvPr/>
        </p:nvSpPr>
        <p:spPr>
          <a:xfrm xmlns:a="http://schemas.openxmlformats.org/drawingml/2006/main">
            <a:off x="609600" y="6496050"/>
            <a:ext cx="10382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a:solidFill>
                  <a:srgbClr val="62708D"/>
                </a:solidFill>
                <a:latin typeface="Arial"/>
                <a:ea typeface="Arial"/>
                <a:cs typeface="Arial"/>
              </a:defRPr>
            </a:pPr>
            <a:r>
              <a:rPr sz="825" b="0">
                <a:solidFill>
                  <a:srgbClr val="62708D"/>
                </a:solidFill>
                <a:latin typeface="Arial"/>
                <a:ea typeface="Arial"/>
                <a:cs typeface="Arial"/>
              </a:rPr>
              <a:t>Controlled study: the representation changes; the task, policy and training setup stay fixed.</a:t>
            </a:r>
          </a:p>
        </p:txBody>
      </p:sp>
    </p:spTree>
    <p:extLst>
      <p:ext uri="{BB962C8B-B14F-4D97-AF65-F5344CB8AC3E}">
        <p14:creationId xmlns:p14="http://schemas.microsoft.com/office/powerpoint/2010/main" val="181485756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4D053E4D-5A0F-4AE5-88AD-4DA3EC010ACE}"/>
              </a:ext>
            </a:extLst>
          </p:cNvPr>
          <p:cNvSpPr>
            <a:spLocks xmlns:a="http://schemas.openxmlformats.org/drawingml/2006/main" noGrp="1"/>
          </p:cNvSpPr>
          <p:nvPr/>
        </p:nvSpPr>
        <p:spPr>
          <a:xfrm xmlns:a="http://schemas.openxmlformats.org/drawingml/2006/main">
            <a:off x="609600" y="4000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248"/>
          </a:bodyPr>
          <a:lstStyle xmlns:a="http://schemas.openxmlformats.org/drawingml/2006/main"/>
          <a:p xmlns:a="http://schemas.openxmlformats.org/drawingml/2006/main">
            <a:pPr algn="l">
              <a:defRPr sz="2550" b="1">
                <a:solidFill>
                  <a:srgbClr val="0B1633"/>
                </a:solidFill>
                <a:latin typeface="Arial"/>
                <a:ea typeface="Arial"/>
                <a:cs typeface="Arial"/>
              </a:defRPr>
            </a:pPr>
            <a:r>
              <a:rPr sz="2550" b="1">
                <a:solidFill>
                  <a:srgbClr val="0B1633"/>
                </a:solidFill>
                <a:latin typeface="Arial"/>
                <a:ea typeface="Arial"/>
                <a:cs typeface="Arial"/>
              </a:rPr>
              <a:t>Research gap: prior work changes the pipeline, not the information budget</a:t>
            </a:r>
          </a:p>
        </p:txBody>
      </p:sp>
      <p:sp>
        <p:nvSpPr>
          <p:cNvPr id="2" name="">
            <a:extLst xmlns:a="http://schemas.openxmlformats.org/drawingml/2006/main">
              <a:ext uri="{FF2B5EF4-FFF2-40B4-BE49-F238E27FC236}">
                <a16:creationId xmlns:a16="http://schemas.microsoft.com/office/drawing/2014/main" id="{801194A3-25F1-468B-8F7D-58F70E98E188}"/>
              </a:ext>
            </a:extLst>
          </p:cNvPr>
          <p:cNvSpPr>
            <a:spLocks xmlns:a="http://schemas.openxmlformats.org/drawingml/2006/main" noGrp="1"/>
          </p:cNvSpPr>
          <p:nvPr/>
        </p:nvSpPr>
        <p:spPr>
          <a:xfrm xmlns:a="http://schemas.openxmlformats.org/drawingml/2006/main">
            <a:off x="1104900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050" b="1">
                <a:solidFill>
                  <a:srgbClr val="2C67F2"/>
                </a:solidFill>
                <a:latin typeface="Arial"/>
                <a:ea typeface="Arial"/>
                <a:cs typeface="Arial"/>
              </a:defRPr>
            </a:pPr>
            <a:r>
              <a:rPr sz="1050" b="1">
                <a:solidFill>
                  <a:srgbClr val="2C67F2"/>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5C986C7A-D064-4BB8-8A88-3AFF8E6F8E24}"/>
              </a:ext>
            </a:extLst>
          </p:cNvPr>
          <p:cNvSpPr>
            <a:spLocks xmlns:a="http://schemas.openxmlformats.org/drawingml/2006/main" noGrp="1"/>
          </p:cNvSpPr>
          <p:nvPr/>
        </p:nvSpPr>
        <p:spPr>
          <a:xfrm xmlns:a="http://schemas.openxmlformats.org/drawingml/2006/main">
            <a:off x="609600" y="1257300"/>
            <a:ext cx="76200" cy="762000"/>
          </a:xfrm>
          <a:prstGeom xmlns:a="http://schemas.openxmlformats.org/drawingml/2006/main" prst="rect">
            <a:avLst/>
          </a:prstGeom>
          <a:solidFill xmlns:a="http://schemas.openxmlformats.org/drawingml/2006/main">
            <a:srgbClr val="2C67F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94B4426-8E52-48B9-8FDB-204EAF982B65}"/>
              </a:ext>
            </a:extLst>
          </p:cNvPr>
          <p:cNvSpPr>
            <a:spLocks xmlns:a="http://schemas.openxmlformats.org/drawingml/2006/main" noGrp="1"/>
          </p:cNvSpPr>
          <p:nvPr/>
        </p:nvSpPr>
        <p:spPr>
          <a:xfrm xmlns:a="http://schemas.openxmlformats.org/drawingml/2006/main">
            <a:off x="876300" y="125730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2C67F2"/>
                </a:solidFill>
                <a:latin typeface="Arial"/>
                <a:ea typeface="Arial"/>
                <a:cs typeface="Arial"/>
              </a:defRPr>
            </a:pPr>
            <a:r>
              <a:rPr sz="1425" b="1">
                <a:solidFill>
                  <a:srgbClr val="2C67F2"/>
                </a:solidFill>
                <a:latin typeface="Arial"/>
                <a:ea typeface="Arial"/>
                <a:cs typeface="Arial"/>
              </a:rPr>
              <a:t>Traditional teleoperation</a:t>
            </a:r>
          </a:p>
        </p:txBody>
      </p:sp>
      <p:sp>
        <p:nvSpPr>
          <p:cNvPr id="5" name="">
            <a:extLst xmlns:a="http://schemas.openxmlformats.org/drawingml/2006/main">
              <a:ext uri="{FF2B5EF4-FFF2-40B4-BE49-F238E27FC236}">
                <a16:creationId xmlns:a16="http://schemas.microsoft.com/office/drawing/2014/main" id="{D74805B6-8F9F-4421-85FC-423CE7FEF856}"/>
              </a:ext>
            </a:extLst>
          </p:cNvPr>
          <p:cNvSpPr>
            <a:spLocks xmlns:a="http://schemas.openxmlformats.org/drawingml/2006/main" noGrp="1"/>
          </p:cNvSpPr>
          <p:nvPr/>
        </p:nvSpPr>
        <p:spPr>
          <a:xfrm xmlns:a="http://schemas.openxmlformats.org/drawingml/2006/main">
            <a:off x="3238500" y="1257300"/>
            <a:ext cx="3952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17213A"/>
                </a:solidFill>
                <a:latin typeface="Arial"/>
                <a:ea typeface="Arial"/>
                <a:cs typeface="Arial"/>
              </a:defRPr>
            </a:pPr>
            <a:r>
              <a:rPr sz="1500" b="1">
                <a:solidFill>
                  <a:srgbClr val="17213A"/>
                </a:solidFill>
                <a:latin typeface="Arial"/>
                <a:ea typeface="Arial"/>
                <a:cs typeface="Arial"/>
              </a:rPr>
              <a:t>Full human pose is retargeted to robot pose</a:t>
            </a:r>
          </a:p>
        </p:txBody>
      </p:sp>
      <p:sp>
        <p:nvSpPr>
          <p:cNvPr id="6" name="">
            <a:extLst xmlns:a="http://schemas.openxmlformats.org/drawingml/2006/main">
              <a:ext uri="{FF2B5EF4-FFF2-40B4-BE49-F238E27FC236}">
                <a16:creationId xmlns:a16="http://schemas.microsoft.com/office/drawing/2014/main" id="{31C3112C-3F33-4412-8338-995C77ABC006}"/>
              </a:ext>
            </a:extLst>
          </p:cNvPr>
          <p:cNvSpPr>
            <a:spLocks xmlns:a="http://schemas.openxmlformats.org/drawingml/2006/main" noGrp="1"/>
          </p:cNvSpPr>
          <p:nvPr/>
        </p:nvSpPr>
        <p:spPr>
          <a:xfrm xmlns:a="http://schemas.openxmlformats.org/drawingml/2006/main">
            <a:off x="7524750" y="1257300"/>
            <a:ext cx="3905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2708D"/>
                </a:solidFill>
                <a:latin typeface="Arial"/>
                <a:ea typeface="Arial"/>
                <a:cs typeface="Arial"/>
              </a:defRPr>
            </a:pPr>
            <a:r>
              <a:rPr sz="1350" b="0">
                <a:solidFill>
                  <a:srgbClr val="62708D"/>
                </a:solidFill>
                <a:latin typeface="Arial"/>
                <a:ea typeface="Arial"/>
                <a:cs typeface="Arial"/>
              </a:rPr>
              <a:t>Embodiment mismatch can distort contacts</a:t>
            </a:r>
          </a:p>
        </p:txBody>
      </p:sp>
      <p:sp>
        <p:nvSpPr>
          <p:cNvPr id="7" name="">
            <a:extLst xmlns:a="http://schemas.openxmlformats.org/drawingml/2006/main">
              <a:ext uri="{FF2B5EF4-FFF2-40B4-BE49-F238E27FC236}">
                <a16:creationId xmlns:a16="http://schemas.microsoft.com/office/drawing/2014/main" id="{54C8171F-CB8E-4D27-A8D3-21057C5454CF}"/>
              </a:ext>
            </a:extLst>
          </p:cNvPr>
          <p:cNvSpPr>
            <a:spLocks xmlns:a="http://schemas.openxmlformats.org/drawingml/2006/main" noGrp="1"/>
          </p:cNvSpPr>
          <p:nvPr/>
        </p:nvSpPr>
        <p:spPr>
          <a:xfrm xmlns:a="http://schemas.openxmlformats.org/drawingml/2006/main">
            <a:off x="876300" y="2162175"/>
            <a:ext cx="10553700" cy="9525"/>
          </a:xfrm>
          <a:prstGeom xmlns:a="http://schemas.openxmlformats.org/drawingml/2006/main" prst="rect">
            <a:avLst/>
          </a:prstGeom>
          <a:solidFill xmlns:a="http://schemas.openxmlformats.org/drawingml/2006/main">
            <a:srgbClr val="D9E0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388FA86-26CF-4F4C-BEEC-3E19E26F8067}"/>
              </a:ext>
            </a:extLst>
          </p:cNvPr>
          <p:cNvSpPr>
            <a:spLocks xmlns:a="http://schemas.openxmlformats.org/drawingml/2006/main" noGrp="1"/>
          </p:cNvSpPr>
          <p:nvPr/>
        </p:nvSpPr>
        <p:spPr>
          <a:xfrm xmlns:a="http://schemas.openxmlformats.org/drawingml/2006/main">
            <a:off x="609600" y="2324100"/>
            <a:ext cx="76200" cy="762000"/>
          </a:xfrm>
          <a:prstGeom xmlns:a="http://schemas.openxmlformats.org/drawingml/2006/main" prst="rect">
            <a:avLst/>
          </a:prstGeom>
          <a:solidFill xmlns:a="http://schemas.openxmlformats.org/drawingml/2006/main">
            <a:srgbClr val="FF8A5B"/>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9610F2B-56C3-42C0-A339-51556F4F6942}"/>
              </a:ext>
            </a:extLst>
          </p:cNvPr>
          <p:cNvSpPr>
            <a:spLocks xmlns:a="http://schemas.openxmlformats.org/drawingml/2006/main" noGrp="1"/>
          </p:cNvSpPr>
          <p:nvPr/>
        </p:nvSpPr>
        <p:spPr>
          <a:xfrm xmlns:a="http://schemas.openxmlformats.org/drawingml/2006/main">
            <a:off x="876300" y="232410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FF8A5B"/>
                </a:solidFill>
                <a:latin typeface="Arial"/>
                <a:ea typeface="Arial"/>
                <a:cs typeface="Arial"/>
              </a:defRPr>
            </a:pPr>
            <a:r>
              <a:rPr sz="1425" b="1">
                <a:solidFill>
                  <a:srgbClr val="FF8A5B"/>
                </a:solidFill>
                <a:latin typeface="Arial"/>
                <a:ea typeface="Arial"/>
                <a:cs typeface="Arial"/>
              </a:rPr>
              <a:t>DexUMI / DOGlove</a:t>
            </a:r>
          </a:p>
        </p:txBody>
      </p:sp>
      <p:sp>
        <p:nvSpPr>
          <p:cNvPr id="10" name="">
            <a:extLst xmlns:a="http://schemas.openxmlformats.org/drawingml/2006/main">
              <a:ext uri="{FF2B5EF4-FFF2-40B4-BE49-F238E27FC236}">
                <a16:creationId xmlns:a16="http://schemas.microsoft.com/office/drawing/2014/main" id="{DAD2E749-A927-4C78-84C0-8363F58EBE79}"/>
              </a:ext>
            </a:extLst>
          </p:cNvPr>
          <p:cNvSpPr>
            <a:spLocks xmlns:a="http://schemas.openxmlformats.org/drawingml/2006/main" noGrp="1"/>
          </p:cNvSpPr>
          <p:nvPr/>
        </p:nvSpPr>
        <p:spPr>
          <a:xfrm xmlns:a="http://schemas.openxmlformats.org/drawingml/2006/main">
            <a:off x="3238500" y="2324100"/>
            <a:ext cx="3952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17213A"/>
                </a:solidFill>
                <a:latin typeface="Arial"/>
                <a:ea typeface="Arial"/>
                <a:cs typeface="Arial"/>
              </a:defRPr>
            </a:pPr>
            <a:r>
              <a:rPr sz="1500" b="1">
                <a:solidFill>
                  <a:srgbClr val="17213A"/>
                </a:solidFill>
                <a:latin typeface="Arial"/>
                <a:ea typeface="Arial"/>
                <a:cs typeface="Arial"/>
              </a:rPr>
              <a:t>Hardware improves feasible, precise demonstrations</a:t>
            </a:r>
          </a:p>
        </p:txBody>
      </p:sp>
      <p:sp>
        <p:nvSpPr>
          <p:cNvPr id="11" name="">
            <a:extLst xmlns:a="http://schemas.openxmlformats.org/drawingml/2006/main">
              <a:ext uri="{FF2B5EF4-FFF2-40B4-BE49-F238E27FC236}">
                <a16:creationId xmlns:a16="http://schemas.microsoft.com/office/drawing/2014/main" id="{3DD77C31-CF36-423B-932A-95C5D72E13B4}"/>
              </a:ext>
            </a:extLst>
          </p:cNvPr>
          <p:cNvSpPr>
            <a:spLocks xmlns:a="http://schemas.openxmlformats.org/drawingml/2006/main" noGrp="1"/>
          </p:cNvSpPr>
          <p:nvPr/>
        </p:nvSpPr>
        <p:spPr>
          <a:xfrm xmlns:a="http://schemas.openxmlformats.org/drawingml/2006/main">
            <a:off x="7524750" y="2324100"/>
            <a:ext cx="3905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2708D"/>
                </a:solidFill>
                <a:latin typeface="Arial"/>
                <a:ea typeface="Arial"/>
                <a:cs typeface="Arial"/>
              </a:defRPr>
            </a:pPr>
            <a:r>
              <a:rPr sz="1350" b="0">
                <a:solidFill>
                  <a:srgbClr val="62708D"/>
                </a:solidFill>
                <a:latin typeface="Arial"/>
                <a:ea typeface="Arial"/>
                <a:cs typeface="Arial"/>
              </a:rPr>
              <a:t>Focus: collection quality and transfer</a:t>
            </a:r>
          </a:p>
        </p:txBody>
      </p:sp>
      <p:sp>
        <p:nvSpPr>
          <p:cNvPr id="12" name="">
            <a:extLst xmlns:a="http://schemas.openxmlformats.org/drawingml/2006/main">
              <a:ext uri="{FF2B5EF4-FFF2-40B4-BE49-F238E27FC236}">
                <a16:creationId xmlns:a16="http://schemas.microsoft.com/office/drawing/2014/main" id="{433968EA-4607-49EC-AFA7-575A2A54D882}"/>
              </a:ext>
            </a:extLst>
          </p:cNvPr>
          <p:cNvSpPr>
            <a:spLocks xmlns:a="http://schemas.openxmlformats.org/drawingml/2006/main" noGrp="1"/>
          </p:cNvSpPr>
          <p:nvPr/>
        </p:nvSpPr>
        <p:spPr>
          <a:xfrm xmlns:a="http://schemas.openxmlformats.org/drawingml/2006/main">
            <a:off x="876300" y="3228975"/>
            <a:ext cx="10553700" cy="9525"/>
          </a:xfrm>
          <a:prstGeom xmlns:a="http://schemas.openxmlformats.org/drawingml/2006/main" prst="rect">
            <a:avLst/>
          </a:prstGeom>
          <a:solidFill xmlns:a="http://schemas.openxmlformats.org/drawingml/2006/main">
            <a:srgbClr val="D9E0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AA0F212-A49A-420D-A228-2272C66B4492}"/>
              </a:ext>
            </a:extLst>
          </p:cNvPr>
          <p:cNvSpPr>
            <a:spLocks xmlns:a="http://schemas.openxmlformats.org/drawingml/2006/main" noGrp="1"/>
          </p:cNvSpPr>
          <p:nvPr/>
        </p:nvSpPr>
        <p:spPr>
          <a:xfrm xmlns:a="http://schemas.openxmlformats.org/drawingml/2006/main">
            <a:off x="609600" y="3390900"/>
            <a:ext cx="76200" cy="762000"/>
          </a:xfrm>
          <a:prstGeom xmlns:a="http://schemas.openxmlformats.org/drawingml/2006/main" prst="rect">
            <a:avLst/>
          </a:prstGeom>
          <a:solidFill xmlns:a="http://schemas.openxmlformats.org/drawingml/2006/main">
            <a:srgbClr val="8A68E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F6FCE97-B9CC-459A-8260-D12C32743B11}"/>
              </a:ext>
            </a:extLst>
          </p:cNvPr>
          <p:cNvSpPr>
            <a:spLocks xmlns:a="http://schemas.openxmlformats.org/drawingml/2006/main" noGrp="1"/>
          </p:cNvSpPr>
          <p:nvPr/>
        </p:nvSpPr>
        <p:spPr>
          <a:xfrm xmlns:a="http://schemas.openxmlformats.org/drawingml/2006/main">
            <a:off x="876300" y="339090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8A68E8"/>
                </a:solidFill>
                <a:latin typeface="Arial"/>
                <a:ea typeface="Arial"/>
                <a:cs typeface="Arial"/>
              </a:defRPr>
            </a:pPr>
            <a:r>
              <a:rPr sz="1425" b="1">
                <a:solidFill>
                  <a:srgbClr val="8A68E8"/>
                </a:solidFill>
                <a:latin typeface="Arial"/>
                <a:ea typeface="Arial"/>
                <a:cs typeface="Arial"/>
              </a:rPr>
              <a:t>TypeTele / Dexplore</a:t>
            </a:r>
          </a:p>
        </p:txBody>
      </p:sp>
      <p:sp>
        <p:nvSpPr>
          <p:cNvPr id="15" name="">
            <a:extLst xmlns:a="http://schemas.openxmlformats.org/drawingml/2006/main">
              <a:ext uri="{FF2B5EF4-FFF2-40B4-BE49-F238E27FC236}">
                <a16:creationId xmlns:a16="http://schemas.microsoft.com/office/drawing/2014/main" id="{BA761ED8-74DB-4E70-B017-59639C2800F5}"/>
              </a:ext>
            </a:extLst>
          </p:cNvPr>
          <p:cNvSpPr>
            <a:spLocks xmlns:a="http://schemas.openxmlformats.org/drawingml/2006/main" noGrp="1"/>
          </p:cNvSpPr>
          <p:nvPr/>
        </p:nvSpPr>
        <p:spPr>
          <a:xfrm xmlns:a="http://schemas.openxmlformats.org/drawingml/2006/main">
            <a:off x="3238500" y="3390900"/>
            <a:ext cx="3952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17213A"/>
                </a:solidFill>
                <a:latin typeface="Arial"/>
                <a:ea typeface="Arial"/>
                <a:cs typeface="Arial"/>
              </a:defRPr>
            </a:pPr>
            <a:r>
              <a:rPr sz="1500" b="1">
                <a:solidFill>
                  <a:srgbClr val="17213A"/>
                </a:solidFill>
                <a:latin typeface="Arial"/>
                <a:ea typeface="Arial"/>
                <a:cs typeface="Arial"/>
              </a:rPr>
              <a:t>Types or soft references relax exact pose matching</a:t>
            </a:r>
          </a:p>
        </p:txBody>
      </p:sp>
      <p:sp>
        <p:nvSpPr>
          <p:cNvPr id="16" name="">
            <a:extLst xmlns:a="http://schemas.openxmlformats.org/drawingml/2006/main">
              <a:ext uri="{FF2B5EF4-FFF2-40B4-BE49-F238E27FC236}">
                <a16:creationId xmlns:a16="http://schemas.microsoft.com/office/drawing/2014/main" id="{7B6F3FFC-44B5-4AF1-926A-AE1F85E6F176}"/>
              </a:ext>
            </a:extLst>
          </p:cNvPr>
          <p:cNvSpPr>
            <a:spLocks xmlns:a="http://schemas.openxmlformats.org/drawingml/2006/main" noGrp="1"/>
          </p:cNvSpPr>
          <p:nvPr/>
        </p:nvSpPr>
        <p:spPr>
          <a:xfrm xmlns:a="http://schemas.openxmlformats.org/drawingml/2006/main">
            <a:off x="7524750" y="3390900"/>
            <a:ext cx="3905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2708D"/>
                </a:solidFill>
                <a:latin typeface="Arial"/>
                <a:ea typeface="Arial"/>
                <a:cs typeface="Arial"/>
              </a:defRPr>
            </a:pPr>
            <a:r>
              <a:rPr sz="1350" b="0">
                <a:solidFill>
                  <a:srgbClr val="62708D"/>
                </a:solidFill>
                <a:latin typeface="Arial"/>
                <a:ea typeface="Arial"/>
                <a:cs typeface="Arial"/>
              </a:rPr>
              <a:t>Focus: better guidance under mismatch</a:t>
            </a:r>
          </a:p>
        </p:txBody>
      </p:sp>
      <p:sp>
        <p:nvSpPr>
          <p:cNvPr id="17" name="">
            <a:extLst xmlns:a="http://schemas.openxmlformats.org/drawingml/2006/main">
              <a:ext uri="{FF2B5EF4-FFF2-40B4-BE49-F238E27FC236}">
                <a16:creationId xmlns:a16="http://schemas.microsoft.com/office/drawing/2014/main" id="{DFC5F5C7-BF36-44FC-A29D-7CF9C2CDF80A}"/>
              </a:ext>
            </a:extLst>
          </p:cNvPr>
          <p:cNvSpPr>
            <a:spLocks xmlns:a="http://schemas.openxmlformats.org/drawingml/2006/main" noGrp="1"/>
          </p:cNvSpPr>
          <p:nvPr/>
        </p:nvSpPr>
        <p:spPr>
          <a:xfrm xmlns:a="http://schemas.openxmlformats.org/drawingml/2006/main">
            <a:off x="876300" y="4295775"/>
            <a:ext cx="10553700" cy="9525"/>
          </a:xfrm>
          <a:prstGeom xmlns:a="http://schemas.openxmlformats.org/drawingml/2006/main" prst="rect">
            <a:avLst/>
          </a:prstGeom>
          <a:solidFill xmlns:a="http://schemas.openxmlformats.org/drawingml/2006/main">
            <a:srgbClr val="D9E0E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51B92716-269A-48F9-B287-3D4E5A82B9A6}"/>
              </a:ext>
            </a:extLst>
          </p:cNvPr>
          <p:cNvSpPr>
            <a:spLocks xmlns:a="http://schemas.openxmlformats.org/drawingml/2006/main" noGrp="1"/>
          </p:cNvSpPr>
          <p:nvPr/>
        </p:nvSpPr>
        <p:spPr>
          <a:xfrm xmlns:a="http://schemas.openxmlformats.org/drawingml/2006/main">
            <a:off x="609600" y="4457700"/>
            <a:ext cx="76200" cy="762000"/>
          </a:xfrm>
          <a:prstGeom xmlns:a="http://schemas.openxmlformats.org/drawingml/2006/main" prst="rect">
            <a:avLst/>
          </a:prstGeom>
          <a:solidFill xmlns:a="http://schemas.openxmlformats.org/drawingml/2006/main">
            <a:srgbClr val="28B78D"/>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05BA9F3-14C3-431D-9069-B92AF24664CF}"/>
              </a:ext>
            </a:extLst>
          </p:cNvPr>
          <p:cNvSpPr>
            <a:spLocks xmlns:a="http://schemas.openxmlformats.org/drawingml/2006/main" noGrp="1"/>
          </p:cNvSpPr>
          <p:nvPr/>
        </p:nvSpPr>
        <p:spPr>
          <a:xfrm xmlns:a="http://schemas.openxmlformats.org/drawingml/2006/main">
            <a:off x="876300" y="445770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28B78D"/>
                </a:solidFill>
                <a:latin typeface="Arial"/>
                <a:ea typeface="Arial"/>
                <a:cs typeface="Arial"/>
              </a:defRPr>
            </a:pPr>
            <a:r>
              <a:rPr sz="1425" b="1">
                <a:solidFill>
                  <a:srgbClr val="28B78D"/>
                </a:solidFill>
                <a:latin typeface="Arial"/>
                <a:ea typeface="Arial"/>
                <a:cs typeface="Arial"/>
              </a:rPr>
              <a:t>UniDex</a:t>
            </a:r>
          </a:p>
        </p:txBody>
      </p:sp>
      <p:sp>
        <p:nvSpPr>
          <p:cNvPr id="20" name="">
            <a:extLst xmlns:a="http://schemas.openxmlformats.org/drawingml/2006/main">
              <a:ext uri="{FF2B5EF4-FFF2-40B4-BE49-F238E27FC236}">
                <a16:creationId xmlns:a16="http://schemas.microsoft.com/office/drawing/2014/main" id="{3FD482C9-BB0D-4233-B934-57EF4A75AD60}"/>
              </a:ext>
            </a:extLst>
          </p:cNvPr>
          <p:cNvSpPr>
            <a:spLocks xmlns:a="http://schemas.openxmlformats.org/drawingml/2006/main" noGrp="1"/>
          </p:cNvSpPr>
          <p:nvPr/>
        </p:nvSpPr>
        <p:spPr>
          <a:xfrm xmlns:a="http://schemas.openxmlformats.org/drawingml/2006/main">
            <a:off x="3238500" y="4457700"/>
            <a:ext cx="3952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17213A"/>
                </a:solidFill>
                <a:latin typeface="Arial"/>
                <a:ea typeface="Arial"/>
                <a:cs typeface="Arial"/>
              </a:defRPr>
            </a:pPr>
            <a:r>
              <a:rPr sz="1500" b="1">
                <a:solidFill>
                  <a:srgbClr val="17213A"/>
                </a:solidFill>
                <a:latin typeface="Arial"/>
                <a:ea typeface="Arial"/>
                <a:cs typeface="Arial"/>
              </a:rPr>
              <a:t>Unified action space and VLA scale across hands</a:t>
            </a:r>
          </a:p>
        </p:txBody>
      </p:sp>
      <p:sp>
        <p:nvSpPr>
          <p:cNvPr id="21" name="">
            <a:extLst xmlns:a="http://schemas.openxmlformats.org/drawingml/2006/main">
              <a:ext uri="{FF2B5EF4-FFF2-40B4-BE49-F238E27FC236}">
                <a16:creationId xmlns:a16="http://schemas.microsoft.com/office/drawing/2014/main" id="{818CB8EC-CAA1-44E0-B9E3-D1D1CD413AE9}"/>
              </a:ext>
            </a:extLst>
          </p:cNvPr>
          <p:cNvSpPr>
            <a:spLocks xmlns:a="http://schemas.openxmlformats.org/drawingml/2006/main" noGrp="1"/>
          </p:cNvSpPr>
          <p:nvPr/>
        </p:nvSpPr>
        <p:spPr>
          <a:xfrm xmlns:a="http://schemas.openxmlformats.org/drawingml/2006/main">
            <a:off x="7524750" y="4457700"/>
            <a:ext cx="3905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2708D"/>
                </a:solidFill>
                <a:latin typeface="Arial"/>
                <a:ea typeface="Arial"/>
                <a:cs typeface="Arial"/>
              </a:defRPr>
            </a:pPr>
            <a:r>
              <a:rPr sz="1350" b="0">
                <a:solidFill>
                  <a:srgbClr val="62708D"/>
                </a:solidFill>
                <a:latin typeface="Arial"/>
                <a:ea typeface="Arial"/>
                <a:cs typeface="Arial"/>
              </a:rPr>
              <a:t>Focus: generalization and data scale</a:t>
            </a:r>
          </a:p>
        </p:txBody>
      </p:sp>
      <p:sp>
        <p:nvSpPr>
          <p:cNvPr id="22" name="">
            <a:extLst xmlns:a="http://schemas.openxmlformats.org/drawingml/2006/main">
              <a:ext uri="{FF2B5EF4-FFF2-40B4-BE49-F238E27FC236}">
                <a16:creationId xmlns:a16="http://schemas.microsoft.com/office/drawing/2014/main" id="{CF352D5A-F530-4734-B06F-CC5AAA2D47E1}"/>
              </a:ext>
            </a:extLst>
          </p:cNvPr>
          <p:cNvSpPr>
            <a:spLocks xmlns:a="http://schemas.openxmlformats.org/drawingml/2006/main" noGrp="1"/>
          </p:cNvSpPr>
          <p:nvPr/>
        </p:nvSpPr>
        <p:spPr>
          <a:xfrm xmlns:a="http://schemas.openxmlformats.org/drawingml/2006/main">
            <a:off x="609600" y="5734050"/>
            <a:ext cx="10972800" cy="552450"/>
          </a:xfrm>
          <a:prstGeom xmlns:a="http://schemas.openxmlformats.org/drawingml/2006/main" prst="rect">
            <a:avLst/>
          </a:prstGeom>
          <a:solidFill xmlns:a="http://schemas.openxmlformats.org/drawingml/2006/main">
            <a:srgbClr val="0B163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44EBFBBD-4E65-4E6C-9BE0-4377ECB8FA28}"/>
              </a:ext>
            </a:extLst>
          </p:cNvPr>
          <p:cNvSpPr>
            <a:spLocks xmlns:a="http://schemas.openxmlformats.org/drawingml/2006/main" noGrp="1"/>
          </p:cNvSpPr>
          <p:nvPr/>
        </p:nvSpPr>
        <p:spPr>
          <a:xfrm xmlns:a="http://schemas.openxmlformats.org/drawingml/2006/main">
            <a:off x="819150" y="5848350"/>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34D5E5"/>
                </a:solidFill>
                <a:latin typeface="Arial"/>
                <a:ea typeface="Arial"/>
                <a:cs typeface="Arial"/>
              </a:defRPr>
            </a:pPr>
            <a:r>
              <a:rPr sz="1275" b="1">
                <a:solidFill>
                  <a:srgbClr val="34D5E5"/>
                </a:solidFill>
                <a:latin typeface="Arial"/>
                <a:ea typeface="Arial"/>
                <a:cs typeface="Arial"/>
              </a:rPr>
              <a:t>Open question</a:t>
            </a:r>
          </a:p>
        </p:txBody>
      </p:sp>
      <p:sp>
        <p:nvSpPr>
          <p:cNvPr id="24" name="">
            <a:extLst xmlns:a="http://schemas.openxmlformats.org/drawingml/2006/main">
              <a:ext uri="{FF2B5EF4-FFF2-40B4-BE49-F238E27FC236}">
                <a16:creationId xmlns:a16="http://schemas.microsoft.com/office/drawing/2014/main" id="{4C1EE40C-E887-44BE-9829-254523CC2BAB}"/>
              </a:ext>
            </a:extLst>
          </p:cNvPr>
          <p:cNvSpPr>
            <a:spLocks xmlns:a="http://schemas.openxmlformats.org/drawingml/2006/main" noGrp="1"/>
          </p:cNvSpPr>
          <p:nvPr/>
        </p:nvSpPr>
        <p:spPr>
          <a:xfrm xmlns:a="http://schemas.openxmlformats.org/drawingml/2006/main">
            <a:off x="2333625" y="5781675"/>
            <a:ext cx="876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How much intermediate human information is actually necessary?</a:t>
            </a:r>
          </a:p>
        </p:txBody>
      </p:sp>
      <p:sp>
        <p:nvSpPr>
          <p:cNvPr id="25" name="">
            <a:extLst xmlns:a="http://schemas.openxmlformats.org/drawingml/2006/main">
              <a:ext uri="{FF2B5EF4-FFF2-40B4-BE49-F238E27FC236}">
                <a16:creationId xmlns:a16="http://schemas.microsoft.com/office/drawing/2014/main" id="{9D5EABC4-E455-4EE4-BAD8-D8C7A872ADE9}"/>
              </a:ext>
            </a:extLst>
          </p:cNvPr>
          <p:cNvSpPr>
            <a:spLocks xmlns:a="http://schemas.openxmlformats.org/drawingml/2006/main" noGrp="1"/>
          </p:cNvSpPr>
          <p:nvPr/>
        </p:nvSpPr>
        <p:spPr>
          <a:xfrm xmlns:a="http://schemas.openxmlformats.org/drawingml/2006/main">
            <a:off x="609600" y="6496050"/>
            <a:ext cx="10382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a:solidFill>
                  <a:srgbClr val="62708D"/>
                </a:solidFill>
                <a:latin typeface="Arial"/>
                <a:ea typeface="Arial"/>
                <a:cs typeface="Arial"/>
              </a:defRPr>
            </a:pPr>
            <a:r>
              <a:rPr sz="825" b="0">
                <a:solidFill>
                  <a:srgbClr val="62708D"/>
                </a:solidFill>
                <a:latin typeface="Arial"/>
                <a:ea typeface="Arial"/>
                <a:cs typeface="Arial"/>
              </a:rPr>
              <a:t>Sources: TypeTele (Lin et al., 2025); DexUMI (Xu et al., 2025); Dexplore (Xu et al., 2025); DOGlove (Zhang et al., 2025); UniDex (Zhang et al., 2026).</a:t>
            </a:r>
          </a:p>
        </p:txBody>
      </p:sp>
    </p:spTree>
    <p:extLst>
      <p:ext uri="{BB962C8B-B14F-4D97-AF65-F5344CB8AC3E}">
        <p14:creationId xmlns:p14="http://schemas.microsoft.com/office/powerpoint/2010/main" val="845025710"/>
      </p:ext>
    </p:extLst>
  </p:cSld>
</p:sld>
</file>

<file path=ppt/slides/slide4.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8E224250-0557-4224-8D2D-B457F8E25DF1}"/>
              </a:ext>
            </a:extLst>
          </p:cNvPr>
          <p:cNvSpPr>
            <a:spLocks xmlns:a="http://schemas.openxmlformats.org/drawingml/2006/main" noGrp="1"/>
          </p:cNvSpPr>
          <p:nvPr/>
        </p:nvSpPr>
        <p:spPr>
          <a:xfrm xmlns:a="http://schemas.openxmlformats.org/drawingml/2006/main">
            <a:off x="609600" y="4000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B1633"/>
                </a:solidFill>
                <a:latin typeface="Arial"/>
                <a:ea typeface="Arial"/>
                <a:cs typeface="Arial"/>
              </a:defRPr>
            </a:pPr>
            <a:r>
              <a:rPr sz="2550" b="1">
                <a:solidFill>
                  <a:srgbClr val="0B1633"/>
                </a:solidFill>
                <a:latin typeface="Arial"/>
                <a:ea typeface="Arial"/>
                <a:cs typeface="Arial"/>
              </a:rPr>
              <a:t>Literature map along the representation abstraction axis</a:t>
            </a:r>
          </a:p>
        </p:txBody>
      </p:sp>
      <p:sp>
        <p:nvSpPr>
          <p:cNvPr id="2" name="">
            <a:extLst xmlns:a="http://schemas.openxmlformats.org/drawingml/2006/main">
              <a:ext uri="{FF2B5EF4-FFF2-40B4-BE49-F238E27FC236}">
                <a16:creationId xmlns:a16="http://schemas.microsoft.com/office/drawing/2014/main" id="{4D3757BE-7420-45EB-8AA8-FED90F7CB0C7}"/>
              </a:ext>
            </a:extLst>
          </p:cNvPr>
          <p:cNvSpPr>
            <a:spLocks xmlns:a="http://schemas.openxmlformats.org/drawingml/2006/main" noGrp="1"/>
          </p:cNvSpPr>
          <p:nvPr/>
        </p:nvSpPr>
        <p:spPr>
          <a:xfrm xmlns:a="http://schemas.openxmlformats.org/drawingml/2006/main">
            <a:off x="1104900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050" b="1">
                <a:solidFill>
                  <a:srgbClr val="2C67F2"/>
                </a:solidFill>
                <a:latin typeface="Arial"/>
                <a:ea typeface="Arial"/>
                <a:cs typeface="Arial"/>
              </a:defRPr>
            </a:pPr>
            <a:r>
              <a:rPr sz="1050" b="1">
                <a:solidFill>
                  <a:srgbClr val="2C67F2"/>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5B3481D3-036C-40BC-A0A9-DF3BEDA89F38}"/>
              </a:ext>
            </a:extLst>
          </p:cNvPr>
          <p:cNvSpPr>
            <a:spLocks xmlns:a="http://schemas.openxmlformats.org/drawingml/2006/main" noGrp="1"/>
          </p:cNvSpPr>
          <p:nvPr/>
        </p:nvSpPr>
        <p:spPr>
          <a:xfrm xmlns:a="http://schemas.openxmlformats.org/drawingml/2006/main">
            <a:off x="781050" y="10858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FF8A5B"/>
                </a:solidFill>
                <a:latin typeface="Arial"/>
                <a:ea typeface="Arial"/>
                <a:cs typeface="Arial"/>
              </a:defRPr>
            </a:pPr>
            <a:r>
              <a:rPr sz="1050" b="1">
                <a:solidFill>
                  <a:srgbClr val="FF8A5B"/>
                </a:solidFill>
                <a:latin typeface="Arial"/>
                <a:ea typeface="Arial"/>
                <a:cs typeface="Arial"/>
              </a:rPr>
              <a:t>MORE HUMAN DETAIL</a:t>
            </a:r>
          </a:p>
        </p:txBody>
      </p:sp>
      <p:sp>
        <p:nvSpPr>
          <p:cNvPr id="4" name="">
            <a:extLst xmlns:a="http://schemas.openxmlformats.org/drawingml/2006/main">
              <a:ext uri="{FF2B5EF4-FFF2-40B4-BE49-F238E27FC236}">
                <a16:creationId xmlns:a16="http://schemas.microsoft.com/office/drawing/2014/main" id="{D4721805-D72A-4BB3-B597-484818283149}"/>
              </a:ext>
            </a:extLst>
          </p:cNvPr>
          <p:cNvSpPr>
            <a:spLocks xmlns:a="http://schemas.openxmlformats.org/drawingml/2006/main" noGrp="1"/>
          </p:cNvSpPr>
          <p:nvPr/>
        </p:nvSpPr>
        <p:spPr>
          <a:xfrm xmlns:a="http://schemas.openxmlformats.org/drawingml/2006/main">
            <a:off x="8858250" y="10858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050" b="1">
                <a:solidFill>
                  <a:srgbClr val="2C67F2"/>
                </a:solidFill>
                <a:latin typeface="Arial"/>
                <a:ea typeface="Arial"/>
                <a:cs typeface="Arial"/>
              </a:defRPr>
            </a:pPr>
            <a:r>
              <a:rPr sz="1050" b="1">
                <a:solidFill>
                  <a:srgbClr val="2C67F2"/>
                </a:solidFill>
                <a:latin typeface="Arial"/>
                <a:ea typeface="Arial"/>
                <a:cs typeface="Arial"/>
              </a:rPr>
              <a:t>LESS HUMAN DETAIL</a:t>
            </a:r>
          </a:p>
        </p:txBody>
      </p:sp>
      <p:sp>
        <p:nvSpPr>
          <p:cNvPr id="5" name="">
            <a:extLst xmlns:a="http://schemas.openxmlformats.org/drawingml/2006/main">
              <a:ext uri="{FF2B5EF4-FFF2-40B4-BE49-F238E27FC236}">
                <a16:creationId xmlns:a16="http://schemas.microsoft.com/office/drawing/2014/main" id="{CF8FCA09-BF1C-477B-90AC-02B40C47DE6E}"/>
              </a:ext>
            </a:extLst>
          </p:cNvPr>
          <p:cNvSpPr>
            <a:spLocks xmlns:a="http://schemas.openxmlformats.org/drawingml/2006/main" noGrp="1"/>
          </p:cNvSpPr>
          <p:nvPr/>
        </p:nvSpPr>
        <p:spPr>
          <a:xfrm xmlns:a="http://schemas.openxmlformats.org/drawingml/2006/main">
            <a:off x="952500" y="1752600"/>
            <a:ext cx="10287000" cy="57150"/>
          </a:xfrm>
          <a:prstGeom xmlns:a="http://schemas.openxmlformats.org/drawingml/2006/main" prst="rect">
            <a:avLst/>
          </a:prstGeom>
          <a:solidFill xmlns:a="http://schemas.openxmlformats.org/drawingml/2006/main">
            <a:srgbClr val="D9E0E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47DB429-75A4-40AF-86A4-30353516D4C1}"/>
              </a:ext>
            </a:extLst>
          </p:cNvPr>
          <p:cNvSpPr>
            <a:spLocks xmlns:a="http://schemas.openxmlformats.org/drawingml/2006/main" noGrp="1"/>
          </p:cNvSpPr>
          <p:nvPr/>
        </p:nvSpPr>
        <p:spPr>
          <a:xfrm xmlns:a="http://schemas.openxmlformats.org/drawingml/2006/main">
            <a:off x="952500" y="1609725"/>
            <a:ext cx="190500" cy="342900"/>
          </a:xfrm>
          <a:prstGeom xmlns:a="http://schemas.openxmlformats.org/drawingml/2006/main" prst="roundRect">
            <a:avLst>
              <a:gd name="adj" fmla="val 50000"/>
            </a:avLst>
          </a:prstGeom>
          <a:solidFill xmlns:a="http://schemas.openxmlformats.org/drawingml/2006/main">
            <a:srgbClr val="FF8A5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D9DDB13-4325-4460-9E77-3DBCAD59E0C8}"/>
              </a:ext>
            </a:extLst>
          </p:cNvPr>
          <p:cNvSpPr>
            <a:spLocks xmlns:a="http://schemas.openxmlformats.org/drawingml/2006/main" noGrp="1"/>
          </p:cNvSpPr>
          <p:nvPr/>
        </p:nvSpPr>
        <p:spPr>
          <a:xfrm xmlns:a="http://schemas.openxmlformats.org/drawingml/2006/main">
            <a:off x="904875" y="2190750"/>
            <a:ext cx="2333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0B1633"/>
                </a:solidFill>
                <a:latin typeface="Arial"/>
                <a:ea typeface="Arial"/>
                <a:cs typeface="Arial"/>
              </a:defRPr>
            </a:pPr>
            <a:r>
              <a:rPr sz="1650" b="1">
                <a:solidFill>
                  <a:srgbClr val="0B1633"/>
                </a:solidFill>
                <a:latin typeface="Arial"/>
                <a:ea typeface="Arial"/>
                <a:cs typeface="Arial"/>
              </a:rPr>
              <a:t>Full pose</a:t>
            </a:r>
          </a:p>
        </p:txBody>
      </p:sp>
      <p:sp>
        <p:nvSpPr>
          <p:cNvPr id="8" name="">
            <a:extLst xmlns:a="http://schemas.openxmlformats.org/drawingml/2006/main">
              <a:ext uri="{FF2B5EF4-FFF2-40B4-BE49-F238E27FC236}">
                <a16:creationId xmlns:a16="http://schemas.microsoft.com/office/drawing/2014/main" id="{05A1B0A9-874F-4BD8-921A-6D3E31112FDC}"/>
              </a:ext>
            </a:extLst>
          </p:cNvPr>
          <p:cNvSpPr>
            <a:spLocks xmlns:a="http://schemas.openxmlformats.org/drawingml/2006/main" noGrp="1"/>
          </p:cNvSpPr>
          <p:nvPr/>
        </p:nvSpPr>
        <p:spPr>
          <a:xfrm xmlns:a="http://schemas.openxmlformats.org/drawingml/2006/main">
            <a:off x="904875" y="2676525"/>
            <a:ext cx="2333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FF8A5B"/>
                </a:solidFill>
                <a:latin typeface="Arial"/>
                <a:ea typeface="Arial"/>
                <a:cs typeface="Arial"/>
              </a:defRPr>
            </a:pPr>
            <a:r>
              <a:rPr sz="1350" b="1">
                <a:solidFill>
                  <a:srgbClr val="FF8A5B"/>
                </a:solidFill>
                <a:latin typeface="Arial"/>
                <a:ea typeface="Arial"/>
                <a:cs typeface="Arial"/>
              </a:rPr>
              <a:t>DexUMI / DOGlove</a:t>
            </a:r>
          </a:p>
        </p:txBody>
      </p:sp>
      <p:sp>
        <p:nvSpPr>
          <p:cNvPr id="9" name="">
            <a:extLst xmlns:a="http://schemas.openxmlformats.org/drawingml/2006/main">
              <a:ext uri="{FF2B5EF4-FFF2-40B4-BE49-F238E27FC236}">
                <a16:creationId xmlns:a16="http://schemas.microsoft.com/office/drawing/2014/main" id="{BA26AB14-3B81-48A1-9FAB-75546DEB4856}"/>
              </a:ext>
            </a:extLst>
          </p:cNvPr>
          <p:cNvSpPr>
            <a:spLocks xmlns:a="http://schemas.openxmlformats.org/drawingml/2006/main" noGrp="1"/>
          </p:cNvSpPr>
          <p:nvPr/>
        </p:nvSpPr>
        <p:spPr>
          <a:xfrm xmlns:a="http://schemas.openxmlformats.org/drawingml/2006/main">
            <a:off x="904875" y="3257550"/>
            <a:ext cx="2238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2708D"/>
                </a:solidFill>
                <a:latin typeface="Arial"/>
                <a:ea typeface="Arial"/>
                <a:cs typeface="Arial"/>
              </a:defRPr>
            </a:pPr>
            <a:r>
              <a:rPr sz="1350" b="0">
                <a:solidFill>
                  <a:srgbClr val="62708D"/>
                </a:solidFill>
                <a:latin typeface="Arial"/>
                <a:ea typeface="Arial"/>
                <a:cs typeface="Arial"/>
              </a:rPr>
              <a:t>Precise demonstrations</a:t>
            </a:r>
          </a:p>
        </p:txBody>
      </p:sp>
      <p:sp>
        <p:nvSpPr>
          <p:cNvPr id="10" name="">
            <a:extLst xmlns:a="http://schemas.openxmlformats.org/drawingml/2006/main">
              <a:ext uri="{FF2B5EF4-FFF2-40B4-BE49-F238E27FC236}">
                <a16:creationId xmlns:a16="http://schemas.microsoft.com/office/drawing/2014/main" id="{8614A889-92E1-467D-828C-0053EEE5F35C}"/>
              </a:ext>
            </a:extLst>
          </p:cNvPr>
          <p:cNvSpPr>
            <a:spLocks xmlns:a="http://schemas.openxmlformats.org/drawingml/2006/main" noGrp="1"/>
          </p:cNvSpPr>
          <p:nvPr/>
        </p:nvSpPr>
        <p:spPr>
          <a:xfrm xmlns:a="http://schemas.openxmlformats.org/drawingml/2006/main">
            <a:off x="3524250" y="1609725"/>
            <a:ext cx="190500" cy="342900"/>
          </a:xfrm>
          <a:prstGeom xmlns:a="http://schemas.openxmlformats.org/drawingml/2006/main" prst="roundRect">
            <a:avLst>
              <a:gd name="adj" fmla="val 50000"/>
            </a:avLst>
          </a:prstGeom>
          <a:solidFill xmlns:a="http://schemas.openxmlformats.org/drawingml/2006/main">
            <a:srgbClr val="8A68E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050C6A9-CFAC-43D3-91D4-A66C0B8E6C1A}"/>
              </a:ext>
            </a:extLst>
          </p:cNvPr>
          <p:cNvSpPr>
            <a:spLocks xmlns:a="http://schemas.openxmlformats.org/drawingml/2006/main" noGrp="1"/>
          </p:cNvSpPr>
          <p:nvPr/>
        </p:nvSpPr>
        <p:spPr>
          <a:xfrm xmlns:a="http://schemas.openxmlformats.org/drawingml/2006/main">
            <a:off x="3476625" y="2190750"/>
            <a:ext cx="2333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0B1633"/>
                </a:solidFill>
                <a:latin typeface="Arial"/>
                <a:ea typeface="Arial"/>
                <a:cs typeface="Arial"/>
              </a:defRPr>
            </a:pPr>
            <a:r>
              <a:rPr sz="1650" b="1">
                <a:solidFill>
                  <a:srgbClr val="0B1633"/>
                </a:solidFill>
                <a:latin typeface="Arial"/>
                <a:ea typeface="Arial"/>
                <a:cs typeface="Arial"/>
              </a:rPr>
              <a:t>Fingertip geometry</a:t>
            </a:r>
          </a:p>
        </p:txBody>
      </p:sp>
      <p:sp>
        <p:nvSpPr>
          <p:cNvPr id="12" name="">
            <a:extLst xmlns:a="http://schemas.openxmlformats.org/drawingml/2006/main">
              <a:ext uri="{FF2B5EF4-FFF2-40B4-BE49-F238E27FC236}">
                <a16:creationId xmlns:a16="http://schemas.microsoft.com/office/drawing/2014/main" id="{E260FB0C-1F14-4230-BE7B-7C2971C7B9FC}"/>
              </a:ext>
            </a:extLst>
          </p:cNvPr>
          <p:cNvSpPr>
            <a:spLocks xmlns:a="http://schemas.openxmlformats.org/drawingml/2006/main" noGrp="1"/>
          </p:cNvSpPr>
          <p:nvPr/>
        </p:nvSpPr>
        <p:spPr>
          <a:xfrm xmlns:a="http://schemas.openxmlformats.org/drawingml/2006/main">
            <a:off x="3476625" y="2676525"/>
            <a:ext cx="2333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297"/>
          </a:bodyPr>
          <a:lstStyle xmlns:a="http://schemas.openxmlformats.org/drawingml/2006/main"/>
          <a:p xmlns:a="http://schemas.openxmlformats.org/drawingml/2006/main">
            <a:pPr algn="l">
              <a:defRPr sz="1350" b="1">
                <a:solidFill>
                  <a:srgbClr val="8A68E8"/>
                </a:solidFill>
                <a:latin typeface="Arial"/>
                <a:ea typeface="Arial"/>
                <a:cs typeface="Arial"/>
              </a:defRPr>
            </a:pPr>
            <a:r>
              <a:rPr sz="1350" b="1">
                <a:solidFill>
                  <a:srgbClr val="8A68E8"/>
                </a:solidFill>
                <a:latin typeface="Arial"/>
                <a:ea typeface="Arial"/>
                <a:cs typeface="Arial"/>
              </a:rPr>
              <a:t>Common retargeting signal</a:t>
            </a:r>
          </a:p>
        </p:txBody>
      </p:sp>
      <p:sp>
        <p:nvSpPr>
          <p:cNvPr id="13" name="">
            <a:extLst xmlns:a="http://schemas.openxmlformats.org/drawingml/2006/main">
              <a:ext uri="{FF2B5EF4-FFF2-40B4-BE49-F238E27FC236}">
                <a16:creationId xmlns:a16="http://schemas.microsoft.com/office/drawing/2014/main" id="{AAD7AE51-9F62-4EB6-B01C-017AFA8FC93E}"/>
              </a:ext>
            </a:extLst>
          </p:cNvPr>
          <p:cNvSpPr>
            <a:spLocks xmlns:a="http://schemas.openxmlformats.org/drawingml/2006/main" noGrp="1"/>
          </p:cNvSpPr>
          <p:nvPr/>
        </p:nvSpPr>
        <p:spPr>
          <a:xfrm xmlns:a="http://schemas.openxmlformats.org/drawingml/2006/main">
            <a:off x="3476625" y="3257550"/>
            <a:ext cx="2238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2708D"/>
                </a:solidFill>
                <a:latin typeface="Arial"/>
                <a:ea typeface="Arial"/>
                <a:cs typeface="Arial"/>
              </a:defRPr>
            </a:pPr>
            <a:r>
              <a:rPr sz="1350" b="0">
                <a:solidFill>
                  <a:srgbClr val="62708D"/>
                </a:solidFill>
                <a:latin typeface="Arial"/>
                <a:ea typeface="Arial"/>
                <a:cs typeface="Arial"/>
              </a:rPr>
              <a:t>Contact-relevant structure</a:t>
            </a:r>
          </a:p>
        </p:txBody>
      </p:sp>
      <p:sp>
        <p:nvSpPr>
          <p:cNvPr id="14" name="">
            <a:extLst xmlns:a="http://schemas.openxmlformats.org/drawingml/2006/main">
              <a:ext uri="{FF2B5EF4-FFF2-40B4-BE49-F238E27FC236}">
                <a16:creationId xmlns:a16="http://schemas.microsoft.com/office/drawing/2014/main" id="{712A77B5-DF34-4F43-8F6E-6DACA9787255}"/>
              </a:ext>
            </a:extLst>
          </p:cNvPr>
          <p:cNvSpPr>
            <a:spLocks xmlns:a="http://schemas.openxmlformats.org/drawingml/2006/main" noGrp="1"/>
          </p:cNvSpPr>
          <p:nvPr/>
        </p:nvSpPr>
        <p:spPr>
          <a:xfrm xmlns:a="http://schemas.openxmlformats.org/drawingml/2006/main">
            <a:off x="6096000" y="1609725"/>
            <a:ext cx="190500" cy="342900"/>
          </a:xfrm>
          <a:prstGeom xmlns:a="http://schemas.openxmlformats.org/drawingml/2006/main" prst="roundRect">
            <a:avLst>
              <a:gd name="adj" fmla="val 50000"/>
            </a:avLst>
          </a:prstGeom>
          <a:solidFill xmlns:a="http://schemas.openxmlformats.org/drawingml/2006/main">
            <a:srgbClr val="8A68E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7F34155-AADF-4452-A0EB-4D916C2444E2}"/>
              </a:ext>
            </a:extLst>
          </p:cNvPr>
          <p:cNvSpPr>
            <a:spLocks xmlns:a="http://schemas.openxmlformats.org/drawingml/2006/main" noGrp="1"/>
          </p:cNvSpPr>
          <p:nvPr/>
        </p:nvSpPr>
        <p:spPr>
          <a:xfrm xmlns:a="http://schemas.openxmlformats.org/drawingml/2006/main">
            <a:off x="6048375" y="2190750"/>
            <a:ext cx="2333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0B1633"/>
                </a:solidFill>
                <a:latin typeface="Arial"/>
                <a:ea typeface="Arial"/>
                <a:cs typeface="Arial"/>
              </a:defRPr>
            </a:pPr>
            <a:r>
              <a:rPr sz="1650" b="1">
                <a:solidFill>
                  <a:srgbClr val="0B1633"/>
                </a:solidFill>
                <a:latin typeface="Arial"/>
                <a:ea typeface="Arial"/>
                <a:cs typeface="Arial"/>
              </a:rPr>
              <a:t>Synergy / type</a:t>
            </a:r>
          </a:p>
        </p:txBody>
      </p:sp>
      <p:sp>
        <p:nvSpPr>
          <p:cNvPr id="16" name="">
            <a:extLst xmlns:a="http://schemas.openxmlformats.org/drawingml/2006/main">
              <a:ext uri="{FF2B5EF4-FFF2-40B4-BE49-F238E27FC236}">
                <a16:creationId xmlns:a16="http://schemas.microsoft.com/office/drawing/2014/main" id="{66EEE49D-28C5-4BE4-895C-FA2F405DE859}"/>
              </a:ext>
            </a:extLst>
          </p:cNvPr>
          <p:cNvSpPr>
            <a:spLocks xmlns:a="http://schemas.openxmlformats.org/drawingml/2006/main" noGrp="1"/>
          </p:cNvSpPr>
          <p:nvPr/>
        </p:nvSpPr>
        <p:spPr>
          <a:xfrm xmlns:a="http://schemas.openxmlformats.org/drawingml/2006/main">
            <a:off x="6048375" y="2676525"/>
            <a:ext cx="2333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481"/>
          </a:bodyPr>
          <a:lstStyle xmlns:a="http://schemas.openxmlformats.org/drawingml/2006/main"/>
          <a:p xmlns:a="http://schemas.openxmlformats.org/drawingml/2006/main">
            <a:pPr algn="l">
              <a:defRPr sz="1350" b="1">
                <a:solidFill>
                  <a:srgbClr val="8A68E8"/>
                </a:solidFill>
                <a:latin typeface="Arial"/>
                <a:ea typeface="Arial"/>
                <a:cs typeface="Arial"/>
              </a:defRPr>
            </a:pPr>
            <a:r>
              <a:rPr sz="1350" b="1">
                <a:solidFill>
                  <a:srgbClr val="8A68E8"/>
                </a:solidFill>
                <a:latin typeface="Arial"/>
                <a:ea typeface="Arial"/>
                <a:cs typeface="Arial"/>
              </a:rPr>
              <a:t>TypeTele; latent skill codes</a:t>
            </a:r>
          </a:p>
        </p:txBody>
      </p:sp>
      <p:sp>
        <p:nvSpPr>
          <p:cNvPr id="17" name="">
            <a:extLst xmlns:a="http://schemas.openxmlformats.org/drawingml/2006/main">
              <a:ext uri="{FF2B5EF4-FFF2-40B4-BE49-F238E27FC236}">
                <a16:creationId xmlns:a16="http://schemas.microsoft.com/office/drawing/2014/main" id="{9785B12B-9B53-4B67-B6AA-C169BAD697BA}"/>
              </a:ext>
            </a:extLst>
          </p:cNvPr>
          <p:cNvSpPr>
            <a:spLocks xmlns:a="http://schemas.openxmlformats.org/drawingml/2006/main" noGrp="1"/>
          </p:cNvSpPr>
          <p:nvPr/>
        </p:nvSpPr>
        <p:spPr>
          <a:xfrm xmlns:a="http://schemas.openxmlformats.org/drawingml/2006/main">
            <a:off x="6048375" y="3257550"/>
            <a:ext cx="2238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2708D"/>
                </a:solidFill>
                <a:latin typeface="Arial"/>
                <a:ea typeface="Arial"/>
                <a:cs typeface="Arial"/>
              </a:defRPr>
            </a:pPr>
            <a:r>
              <a:rPr sz="1350" b="0">
                <a:solidFill>
                  <a:srgbClr val="62708D"/>
                </a:solidFill>
                <a:latin typeface="Arial"/>
                <a:ea typeface="Arial"/>
                <a:cs typeface="Arial"/>
              </a:rPr>
              <a:t>Compressed intent</a:t>
            </a:r>
          </a:p>
        </p:txBody>
      </p:sp>
      <p:sp>
        <p:nvSpPr>
          <p:cNvPr id="18" name="">
            <a:extLst xmlns:a="http://schemas.openxmlformats.org/drawingml/2006/main">
              <a:ext uri="{FF2B5EF4-FFF2-40B4-BE49-F238E27FC236}">
                <a16:creationId xmlns:a16="http://schemas.microsoft.com/office/drawing/2014/main" id="{00F9F2B5-5C83-40F4-A635-09599C08359B}"/>
              </a:ext>
            </a:extLst>
          </p:cNvPr>
          <p:cNvSpPr>
            <a:spLocks xmlns:a="http://schemas.openxmlformats.org/drawingml/2006/main" noGrp="1"/>
          </p:cNvSpPr>
          <p:nvPr/>
        </p:nvSpPr>
        <p:spPr>
          <a:xfrm xmlns:a="http://schemas.openxmlformats.org/drawingml/2006/main">
            <a:off x="8667750" y="1609725"/>
            <a:ext cx="190500" cy="342900"/>
          </a:xfrm>
          <a:prstGeom xmlns:a="http://schemas.openxmlformats.org/drawingml/2006/main" prst="roundRect">
            <a:avLst>
              <a:gd name="adj" fmla="val 50000"/>
            </a:avLst>
          </a:prstGeom>
          <a:solidFill xmlns:a="http://schemas.openxmlformats.org/drawingml/2006/main">
            <a:srgbClr val="2C67F2"/>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853230E-41FD-423E-8457-CF2698C82E0F}"/>
              </a:ext>
            </a:extLst>
          </p:cNvPr>
          <p:cNvSpPr>
            <a:spLocks xmlns:a="http://schemas.openxmlformats.org/drawingml/2006/main" noGrp="1"/>
          </p:cNvSpPr>
          <p:nvPr/>
        </p:nvSpPr>
        <p:spPr>
          <a:xfrm xmlns:a="http://schemas.openxmlformats.org/drawingml/2006/main">
            <a:off x="8620125" y="2190750"/>
            <a:ext cx="2333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0B1633"/>
                </a:solidFill>
                <a:latin typeface="Arial"/>
                <a:ea typeface="Arial"/>
                <a:cs typeface="Arial"/>
              </a:defRPr>
            </a:pPr>
            <a:r>
              <a:rPr sz="1650" b="1">
                <a:solidFill>
                  <a:srgbClr val="0B1633"/>
                </a:solidFill>
                <a:latin typeface="Arial"/>
                <a:ea typeface="Arial"/>
                <a:cs typeface="Arial"/>
              </a:rPr>
              <a:t>Task goal only</a:t>
            </a:r>
          </a:p>
        </p:txBody>
      </p:sp>
      <p:sp>
        <p:nvSpPr>
          <p:cNvPr id="20" name="">
            <a:extLst xmlns:a="http://schemas.openxmlformats.org/drawingml/2006/main">
              <a:ext uri="{FF2B5EF4-FFF2-40B4-BE49-F238E27FC236}">
                <a16:creationId xmlns:a16="http://schemas.microsoft.com/office/drawing/2014/main" id="{13970A92-EC9E-4864-AA44-01ACE7318745}"/>
              </a:ext>
            </a:extLst>
          </p:cNvPr>
          <p:cNvSpPr>
            <a:spLocks xmlns:a="http://schemas.openxmlformats.org/drawingml/2006/main" noGrp="1"/>
          </p:cNvSpPr>
          <p:nvPr/>
        </p:nvSpPr>
        <p:spPr>
          <a:xfrm xmlns:a="http://schemas.openxmlformats.org/drawingml/2006/main">
            <a:off x="8620125" y="2676525"/>
            <a:ext cx="2333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89"/>
          </a:bodyPr>
          <a:lstStyle xmlns:a="http://schemas.openxmlformats.org/drawingml/2006/main"/>
          <a:p xmlns:a="http://schemas.openxmlformats.org/drawingml/2006/main">
            <a:pPr algn="l">
              <a:defRPr sz="1350" b="1">
                <a:solidFill>
                  <a:srgbClr val="2C67F2"/>
                </a:solidFill>
                <a:latin typeface="Arial"/>
                <a:ea typeface="Arial"/>
                <a:cs typeface="Arial"/>
              </a:defRPr>
            </a:pPr>
            <a:r>
              <a:rPr sz="1350" b="1">
                <a:solidFill>
                  <a:srgbClr val="2C67F2"/>
                </a:solidFill>
                <a:latin typeface="Arial"/>
                <a:ea typeface="Arial"/>
                <a:cs typeface="Arial"/>
              </a:rPr>
              <a:t>VLA instruction + object state</a:t>
            </a:r>
          </a:p>
        </p:txBody>
      </p:sp>
      <p:sp>
        <p:nvSpPr>
          <p:cNvPr id="21" name="">
            <a:extLst xmlns:a="http://schemas.openxmlformats.org/drawingml/2006/main">
              <a:ext uri="{FF2B5EF4-FFF2-40B4-BE49-F238E27FC236}">
                <a16:creationId xmlns:a16="http://schemas.microsoft.com/office/drawing/2014/main" id="{7D3DDE55-CB54-4B58-9291-814DF7FA1D4D}"/>
              </a:ext>
            </a:extLst>
          </p:cNvPr>
          <p:cNvSpPr>
            <a:spLocks xmlns:a="http://schemas.openxmlformats.org/drawingml/2006/main" noGrp="1"/>
          </p:cNvSpPr>
          <p:nvPr/>
        </p:nvSpPr>
        <p:spPr>
          <a:xfrm xmlns:a="http://schemas.openxmlformats.org/drawingml/2006/main">
            <a:off x="8620125" y="3257550"/>
            <a:ext cx="2238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2708D"/>
                </a:solidFill>
                <a:latin typeface="Arial"/>
                <a:ea typeface="Arial"/>
                <a:cs typeface="Arial"/>
              </a:defRPr>
            </a:pPr>
            <a:r>
              <a:rPr sz="1350" b="0">
                <a:solidFill>
                  <a:srgbClr val="62708D"/>
                </a:solidFill>
                <a:latin typeface="Arial"/>
                <a:ea typeface="Arial"/>
                <a:cs typeface="Arial"/>
              </a:rPr>
              <a:t>No human motion</a:t>
            </a:r>
          </a:p>
        </p:txBody>
      </p:sp>
      <p:sp>
        <p:nvSpPr>
          <p:cNvPr id="22" name="">
            <a:extLst xmlns:a="http://schemas.openxmlformats.org/drawingml/2006/main">
              <a:ext uri="{FF2B5EF4-FFF2-40B4-BE49-F238E27FC236}">
                <a16:creationId xmlns:a16="http://schemas.microsoft.com/office/drawing/2014/main" id="{B9D9B810-D767-4FFA-9393-30386DC84E40}"/>
              </a:ext>
            </a:extLst>
          </p:cNvPr>
          <p:cNvSpPr>
            <a:spLocks xmlns:a="http://schemas.openxmlformats.org/drawingml/2006/main" noGrp="1"/>
          </p:cNvSpPr>
          <p:nvPr/>
        </p:nvSpPr>
        <p:spPr>
          <a:xfrm xmlns:a="http://schemas.openxmlformats.org/drawingml/2006/main">
            <a:off x="609600" y="4238625"/>
            <a:ext cx="10972800" cy="1219200"/>
          </a:xfrm>
          <a:prstGeom xmlns:a="http://schemas.openxmlformats.org/drawingml/2006/main" prst="roundRect">
            <a:avLst>
              <a:gd name="adj" fmla="val 14063"/>
            </a:avLst>
          </a:prstGeom>
          <a:solidFill xmlns:a="http://schemas.openxmlformats.org/drawingml/2006/main">
            <a:srgbClr val="FFFFFF"/>
          </a:solidFill>
          <a:ln xmlns:a="http://schemas.openxmlformats.org/drawingml/2006/main" w="9525">
            <a:solidFill>
              <a:srgbClr val="D9E0EC"/>
            </a:solidFill>
            <a:prstDash val="solid"/>
          </a:ln>
        </p:spPr>
      </p:sp>
      <p:sp>
        <p:nvSpPr>
          <p:cNvPr id="23" name="">
            <a:extLst xmlns:a="http://schemas.openxmlformats.org/drawingml/2006/main">
              <a:ext uri="{FF2B5EF4-FFF2-40B4-BE49-F238E27FC236}">
                <a16:creationId xmlns:a16="http://schemas.microsoft.com/office/drawing/2014/main" id="{191619E0-F81E-4C53-AA25-F8085177A83F}"/>
              </a:ext>
            </a:extLst>
          </p:cNvPr>
          <p:cNvSpPr>
            <a:spLocks xmlns:a="http://schemas.openxmlformats.org/drawingml/2006/main" noGrp="1"/>
          </p:cNvSpPr>
          <p:nvPr/>
        </p:nvSpPr>
        <p:spPr>
          <a:xfrm xmlns:a="http://schemas.openxmlformats.org/drawingml/2006/main">
            <a:off x="857250" y="44481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2C67F2"/>
                </a:solidFill>
                <a:latin typeface="Arial"/>
                <a:ea typeface="Arial"/>
                <a:cs typeface="Arial"/>
              </a:defRPr>
            </a:pPr>
            <a:r>
              <a:rPr sz="1350" b="1">
                <a:solidFill>
                  <a:srgbClr val="2C67F2"/>
                </a:solidFill>
                <a:latin typeface="Arial"/>
                <a:ea typeface="Arial"/>
                <a:cs typeface="Arial"/>
              </a:rPr>
              <a:t>Our experiment</a:t>
            </a:r>
          </a:p>
        </p:txBody>
      </p:sp>
      <p:sp>
        <p:nvSpPr>
          <p:cNvPr id="24" name="">
            <a:extLst xmlns:a="http://schemas.openxmlformats.org/drawingml/2006/main">
              <a:ext uri="{FF2B5EF4-FFF2-40B4-BE49-F238E27FC236}">
                <a16:creationId xmlns:a16="http://schemas.microsoft.com/office/drawing/2014/main" id="{EB925EE9-E706-42CF-B2ED-EF04760D4D59}"/>
              </a:ext>
            </a:extLst>
          </p:cNvPr>
          <p:cNvSpPr>
            <a:spLocks xmlns:a="http://schemas.openxmlformats.org/drawingml/2006/main" noGrp="1"/>
          </p:cNvSpPr>
          <p:nvPr/>
        </p:nvSpPr>
        <p:spPr>
          <a:xfrm xmlns:a="http://schemas.openxmlformats.org/drawingml/2006/main">
            <a:off x="857250" y="4781550"/>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609"/>
          </a:bodyPr>
          <a:lstStyle xmlns:a="http://schemas.openxmlformats.org/drawingml/2006/main"/>
          <a:p xmlns:a="http://schemas.openxmlformats.org/drawingml/2006/main">
            <a:pPr algn="l">
              <a:defRPr sz="2100" b="1">
                <a:solidFill>
                  <a:srgbClr val="0B1633"/>
                </a:solidFill>
                <a:latin typeface="Arial"/>
                <a:ea typeface="Arial"/>
                <a:cs typeface="Arial"/>
              </a:defRPr>
            </a:pPr>
            <a:r>
              <a:rPr sz="2100" b="1">
                <a:solidFill>
                  <a:srgbClr val="0B1633"/>
                </a:solidFill>
                <a:latin typeface="Arial"/>
                <a:ea typeface="Arial"/>
                <a:cs typeface="Arial"/>
              </a:rPr>
              <a:t>A controlled comparison across the same axis</a:t>
            </a:r>
          </a:p>
        </p:txBody>
      </p:sp>
      <p:sp>
        <p:nvSpPr>
          <p:cNvPr id="25" name="">
            <a:extLst xmlns:a="http://schemas.openxmlformats.org/drawingml/2006/main">
              <a:ext uri="{FF2B5EF4-FFF2-40B4-BE49-F238E27FC236}">
                <a16:creationId xmlns:a16="http://schemas.microsoft.com/office/drawing/2014/main" id="{451B76D8-F64C-46C0-BC94-A224852DA16F}"/>
              </a:ext>
            </a:extLst>
          </p:cNvPr>
          <p:cNvSpPr>
            <a:spLocks xmlns:a="http://schemas.openxmlformats.org/drawingml/2006/main" noGrp="1"/>
          </p:cNvSpPr>
          <p:nvPr/>
        </p:nvSpPr>
        <p:spPr>
          <a:xfrm xmlns:a="http://schemas.openxmlformats.org/drawingml/2006/main">
            <a:off x="5619750" y="4495800"/>
            <a:ext cx="5429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17213A"/>
                </a:solidFill>
                <a:latin typeface="Arial"/>
                <a:ea typeface="Arial"/>
                <a:cs typeface="Arial"/>
              </a:defRPr>
            </a:pPr>
            <a:r>
              <a:rPr sz="1500" b="0">
                <a:solidFill>
                  <a:srgbClr val="17213A"/>
                </a:solidFill>
                <a:latin typeface="Arial"/>
                <a:ea typeface="Arial"/>
                <a:cs typeface="Arial"/>
              </a:rPr>
              <a:t>The study tests whether performance saturates before full hand pose. A positive result would identify the smallest useful interface between high-level intent and dexterous control.</a:t>
            </a:r>
          </a:p>
        </p:txBody>
      </p:sp>
      <p:sp>
        <p:nvSpPr>
          <p:cNvPr id="26" name="">
            <a:extLst xmlns:a="http://schemas.openxmlformats.org/drawingml/2006/main">
              <a:ext uri="{FF2B5EF4-FFF2-40B4-BE49-F238E27FC236}">
                <a16:creationId xmlns:a16="http://schemas.microsoft.com/office/drawing/2014/main" id="{419D7F4B-BD20-4E6F-A3E2-19CEA3C899A8}"/>
              </a:ext>
            </a:extLst>
          </p:cNvPr>
          <p:cNvSpPr>
            <a:spLocks xmlns:a="http://schemas.openxmlformats.org/drawingml/2006/main" noGrp="1"/>
          </p:cNvSpPr>
          <p:nvPr/>
        </p:nvSpPr>
        <p:spPr>
          <a:xfrm xmlns:a="http://schemas.openxmlformats.org/drawingml/2006/main">
            <a:off x="609600" y="6496050"/>
            <a:ext cx="10382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a:solidFill>
                  <a:srgbClr val="62708D"/>
                </a:solidFill>
                <a:latin typeface="Arial"/>
                <a:ea typeface="Arial"/>
                <a:cs typeface="Arial"/>
              </a:defRPr>
            </a:pPr>
            <a:r>
              <a:rPr sz="825" b="0">
                <a:solidFill>
                  <a:srgbClr val="62708D"/>
                </a:solidFill>
                <a:latin typeface="Arial"/>
                <a:ea typeface="Arial"/>
                <a:cs typeface="Arial"/>
              </a:rPr>
              <a:t>The axis organizes representation content, not hardware quality or overall system capability.</a:t>
            </a:r>
          </a:p>
        </p:txBody>
      </p:sp>
    </p:spTree>
    <p:extLst>
      <p:ext uri="{BB962C8B-B14F-4D97-AF65-F5344CB8AC3E}">
        <p14:creationId xmlns:p14="http://schemas.microsoft.com/office/powerpoint/2010/main" val="754801124"/>
      </p:ext>
    </p:extLst>
  </p:cSld>
</p:sld>
</file>

<file path=ppt/slides/slide5.xml><?xml version="1.0" encoding="utf-8"?>
<p:sld xmlns:p="http://schemas.openxmlformats.org/presentationml/2006/main">
  <p:cSld>
    <p:bg>
      <p:bgPr>
        <a:solidFill xmlns:a="http://schemas.openxmlformats.org/drawingml/2006/main">
          <a:srgbClr val="0B1633"/>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28D7532C-9CE6-4555-897B-92166210C921}"/>
              </a:ext>
            </a:extLst>
          </p:cNvPr>
          <p:cNvSpPr>
            <a:spLocks xmlns:a="http://schemas.openxmlformats.org/drawingml/2006/main" noGrp="1"/>
          </p:cNvSpPr>
          <p:nvPr/>
        </p:nvSpPr>
        <p:spPr>
          <a:xfrm xmlns:a="http://schemas.openxmlformats.org/drawingml/2006/main">
            <a:off x="609600" y="4000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472"/>
          </a:bodyPr>
          <a:lstStyle xmlns:a="http://schemas.openxmlformats.org/drawingml/2006/main"/>
          <a:p xmlns:a="http://schemas.openxmlformats.org/drawingml/2006/main">
            <a:pPr algn="l">
              <a:defRPr sz="2550" b="1">
                <a:solidFill>
                  <a:srgbClr val="FFFFFF"/>
                </a:solidFill>
                <a:latin typeface="Arial"/>
                <a:ea typeface="Arial"/>
                <a:cs typeface="Arial"/>
              </a:defRPr>
            </a:pPr>
            <a:r>
              <a:rPr sz="2550" b="1">
                <a:solidFill>
                  <a:srgbClr val="FFFFFF"/>
                </a:solidFill>
                <a:latin typeface="Arial"/>
                <a:ea typeface="Arial"/>
                <a:cs typeface="Arial"/>
              </a:rPr>
              <a:t>Controlled comparison of four manipulation-intent representations</a:t>
            </a:r>
          </a:p>
        </p:txBody>
      </p:sp>
      <p:sp>
        <p:nvSpPr>
          <p:cNvPr id="2" name="">
            <a:extLst xmlns:a="http://schemas.openxmlformats.org/drawingml/2006/main">
              <a:ext uri="{FF2B5EF4-FFF2-40B4-BE49-F238E27FC236}">
                <a16:creationId xmlns:a16="http://schemas.microsoft.com/office/drawing/2014/main" id="{2FCAF04D-7B3F-4BE2-B5BD-F6DB78DA7C5E}"/>
              </a:ext>
            </a:extLst>
          </p:cNvPr>
          <p:cNvSpPr>
            <a:spLocks xmlns:a="http://schemas.openxmlformats.org/drawingml/2006/main" noGrp="1"/>
          </p:cNvSpPr>
          <p:nvPr/>
        </p:nvSpPr>
        <p:spPr>
          <a:xfrm xmlns:a="http://schemas.openxmlformats.org/drawingml/2006/main">
            <a:off x="1104900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050" b="1">
                <a:solidFill>
                  <a:srgbClr val="34D5E5"/>
                </a:solidFill>
                <a:latin typeface="Arial"/>
                <a:ea typeface="Arial"/>
                <a:cs typeface="Arial"/>
              </a:defRPr>
            </a:pPr>
            <a:r>
              <a:rPr sz="1050" b="1">
                <a:solidFill>
                  <a:srgbClr val="34D5E5"/>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300C827E-C9CE-43D9-BCC4-2AE7B274FA30}"/>
              </a:ext>
            </a:extLst>
          </p:cNvPr>
          <p:cNvSpPr>
            <a:spLocks xmlns:a="http://schemas.openxmlformats.org/drawingml/2006/main" noGrp="1"/>
          </p:cNvSpPr>
          <p:nvPr/>
        </p:nvSpPr>
        <p:spPr>
          <a:xfrm xmlns:a="http://schemas.openxmlformats.org/drawingml/2006/main">
            <a:off x="6667500" y="1123950"/>
            <a:ext cx="2190750" cy="685800"/>
          </a:xfrm>
          <a:prstGeom xmlns:a="http://schemas.openxmlformats.org/drawingml/2006/main" prst="roundRect">
            <a:avLst>
              <a:gd name="adj" fmla="val 22222"/>
            </a:avLst>
          </a:prstGeom>
          <a:solidFill xmlns:a="http://schemas.openxmlformats.org/drawingml/2006/main">
            <a:srgbClr val="182A54"/>
          </a:solidFill>
          <a:ln xmlns:a="http://schemas.openxmlformats.org/drawingml/2006/main" w="9525">
            <a:solidFill>
              <a:srgbClr val="36528B"/>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Task + object goal</a:t>
            </a:r>
          </a:p>
        </p:txBody>
      </p:sp>
      <p:sp>
        <p:nvSpPr>
          <p:cNvPr id="4" name="">
            <a:extLst xmlns:a="http://schemas.openxmlformats.org/drawingml/2006/main">
              <a:ext uri="{FF2B5EF4-FFF2-40B4-BE49-F238E27FC236}">
                <a16:creationId xmlns:a16="http://schemas.microsoft.com/office/drawing/2014/main" id="{EAE6431E-A400-4396-90C6-695301259BF3}"/>
              </a:ext>
            </a:extLst>
          </p:cNvPr>
          <p:cNvSpPr>
            <a:spLocks xmlns:a="http://schemas.openxmlformats.org/drawingml/2006/main" noGrp="1"/>
          </p:cNvSpPr>
          <p:nvPr/>
        </p:nvSpPr>
        <p:spPr>
          <a:xfrm xmlns:a="http://schemas.openxmlformats.org/drawingml/2006/main">
            <a:off x="9239250" y="1123950"/>
            <a:ext cx="2190750" cy="685800"/>
          </a:xfrm>
          <a:prstGeom xmlns:a="http://schemas.openxmlformats.org/drawingml/2006/main" prst="roundRect">
            <a:avLst>
              <a:gd name="adj" fmla="val 22222"/>
            </a:avLst>
          </a:prstGeom>
          <a:solidFill xmlns:a="http://schemas.openxmlformats.org/drawingml/2006/main">
            <a:srgbClr val="182A54"/>
          </a:solidFill>
          <a:ln xmlns:a="http://schemas.openxmlformats.org/drawingml/2006/main" w="9525">
            <a:solidFill>
              <a:srgbClr val="36528B"/>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Robot + object state</a:t>
            </a:r>
          </a:p>
        </p:txBody>
      </p:sp>
      <p:sp>
        <p:nvSpPr>
          <p:cNvPr id="5" name="">
            <a:extLst xmlns:a="http://schemas.openxmlformats.org/drawingml/2006/main">
              <a:ext uri="{FF2B5EF4-FFF2-40B4-BE49-F238E27FC236}">
                <a16:creationId xmlns:a16="http://schemas.microsoft.com/office/drawing/2014/main" id="{0A986DBE-D2A0-4038-B61A-BB0F95366685}"/>
              </a:ext>
            </a:extLst>
          </p:cNvPr>
          <p:cNvSpPr>
            <a:spLocks xmlns:a="http://schemas.openxmlformats.org/drawingml/2006/main" noGrp="1"/>
          </p:cNvSpPr>
          <p:nvPr/>
        </p:nvSpPr>
        <p:spPr>
          <a:xfrm xmlns:a="http://schemas.openxmlformats.org/drawingml/2006/main">
            <a:off x="952500" y="1095375"/>
            <a:ext cx="2238375" cy="685800"/>
          </a:xfrm>
          <a:prstGeom xmlns:a="http://schemas.openxmlformats.org/drawingml/2006/main" prst="roundRect">
            <a:avLst>
              <a:gd name="adj" fmla="val 22222"/>
            </a:avLst>
          </a:prstGeom>
          <a:solidFill xmlns:a="http://schemas.openxmlformats.org/drawingml/2006/main">
            <a:srgbClr val="263553"/>
          </a:solidFill>
          <a:ln xmlns:a="http://schemas.openxmlformats.org/drawingml/2006/main" w="9525">
            <a:solidFill>
              <a:srgbClr val="425577"/>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Object-only</a:t>
            </a:r>
          </a:p>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0 human dims</a:t>
            </a:r>
          </a:p>
        </p:txBody>
      </p:sp>
      <p:sp>
        <p:nvSpPr>
          <p:cNvPr id="6" name="">
            <a:extLst xmlns:a="http://schemas.openxmlformats.org/drawingml/2006/main">
              <a:ext uri="{FF2B5EF4-FFF2-40B4-BE49-F238E27FC236}">
                <a16:creationId xmlns:a16="http://schemas.microsoft.com/office/drawing/2014/main" id="{840DEDA5-752A-45AE-ABDF-F131CE800C48}"/>
              </a:ext>
            </a:extLst>
          </p:cNvPr>
          <p:cNvSpPr>
            <a:spLocks xmlns:a="http://schemas.openxmlformats.org/drawingml/2006/main" noGrp="1"/>
          </p:cNvSpPr>
          <p:nvPr/>
        </p:nvSpPr>
        <p:spPr>
          <a:xfrm xmlns:a="http://schemas.openxmlformats.org/drawingml/2006/main">
            <a:off x="952500" y="2143125"/>
            <a:ext cx="2238375" cy="685800"/>
          </a:xfrm>
          <a:prstGeom xmlns:a="http://schemas.openxmlformats.org/drawingml/2006/main" prst="roundRect">
            <a:avLst>
              <a:gd name="adj" fmla="val 22222"/>
            </a:avLst>
          </a:prstGeom>
          <a:solidFill xmlns:a="http://schemas.openxmlformats.org/drawingml/2006/main">
            <a:srgbClr val="163C4D"/>
          </a:solidFill>
          <a:ln xmlns:a="http://schemas.openxmlformats.org/drawingml/2006/main" w="9525">
            <a:solidFill>
              <a:srgbClr val="34D5E5"/>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Fingertips</a:t>
            </a:r>
          </a:p>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medium dimension</a:t>
            </a:r>
          </a:p>
        </p:txBody>
      </p:sp>
      <p:sp>
        <p:nvSpPr>
          <p:cNvPr id="7" name="">
            <a:extLst xmlns:a="http://schemas.openxmlformats.org/drawingml/2006/main">
              <a:ext uri="{FF2B5EF4-FFF2-40B4-BE49-F238E27FC236}">
                <a16:creationId xmlns:a16="http://schemas.microsoft.com/office/drawing/2014/main" id="{AFBE22D6-AABB-4446-BDEE-7E00BFCBBBE8}"/>
              </a:ext>
            </a:extLst>
          </p:cNvPr>
          <p:cNvSpPr>
            <a:spLocks xmlns:a="http://schemas.openxmlformats.org/drawingml/2006/main" noGrp="1"/>
          </p:cNvSpPr>
          <p:nvPr/>
        </p:nvSpPr>
        <p:spPr>
          <a:xfrm xmlns:a="http://schemas.openxmlformats.org/drawingml/2006/main">
            <a:off x="952500" y="3190875"/>
            <a:ext cx="2238375" cy="685800"/>
          </a:xfrm>
          <a:prstGeom xmlns:a="http://schemas.openxmlformats.org/drawingml/2006/main" prst="roundRect">
            <a:avLst>
              <a:gd name="adj" fmla="val 22222"/>
            </a:avLst>
          </a:prstGeom>
          <a:solidFill xmlns:a="http://schemas.openxmlformats.org/drawingml/2006/main">
            <a:srgbClr val="503623"/>
          </a:solidFill>
          <a:ln xmlns:a="http://schemas.openxmlformats.org/drawingml/2006/main" w="9525">
            <a:solidFill>
              <a:srgbClr val="FF8A5B"/>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PCA synergy</a:t>
            </a:r>
          </a:p>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low dimension</a:t>
            </a:r>
          </a:p>
        </p:txBody>
      </p:sp>
      <p:sp>
        <p:nvSpPr>
          <p:cNvPr id="8" name="">
            <a:extLst xmlns:a="http://schemas.openxmlformats.org/drawingml/2006/main">
              <a:ext uri="{FF2B5EF4-FFF2-40B4-BE49-F238E27FC236}">
                <a16:creationId xmlns:a16="http://schemas.microsoft.com/office/drawing/2014/main" id="{0BD774B5-EAFF-4D98-8E34-B19C9A1F4A55}"/>
              </a:ext>
            </a:extLst>
          </p:cNvPr>
          <p:cNvSpPr>
            <a:spLocks xmlns:a="http://schemas.openxmlformats.org/drawingml/2006/main" noGrp="1"/>
          </p:cNvSpPr>
          <p:nvPr/>
        </p:nvSpPr>
        <p:spPr>
          <a:xfrm xmlns:a="http://schemas.openxmlformats.org/drawingml/2006/main">
            <a:off x="952500" y="4238625"/>
            <a:ext cx="2238375" cy="685800"/>
          </a:xfrm>
          <a:prstGeom xmlns:a="http://schemas.openxmlformats.org/drawingml/2006/main" prst="roundRect">
            <a:avLst>
              <a:gd name="adj" fmla="val 22222"/>
            </a:avLst>
          </a:prstGeom>
          <a:solidFill xmlns:a="http://schemas.openxmlformats.org/drawingml/2006/main">
            <a:srgbClr val="2B2852"/>
          </a:solidFill>
          <a:ln xmlns:a="http://schemas.openxmlformats.org/drawingml/2006/main" w="9525">
            <a:solidFill>
              <a:srgbClr val="8A68E8"/>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Full hand</a:t>
            </a:r>
          </a:p>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high dimension</a:t>
            </a:r>
          </a:p>
        </p:txBody>
      </p:sp>
      <p:sp>
        <p:nvSpPr>
          <p:cNvPr id="9" name="">
            <a:extLst xmlns:a="http://schemas.openxmlformats.org/drawingml/2006/main">
              <a:ext uri="{FF2B5EF4-FFF2-40B4-BE49-F238E27FC236}">
                <a16:creationId xmlns:a16="http://schemas.microsoft.com/office/drawing/2014/main" id="{B86B4EA8-38C1-438D-8095-B05FF0D443D7}"/>
              </a:ext>
            </a:extLst>
          </p:cNvPr>
          <p:cNvSpPr>
            <a:spLocks xmlns:a="http://schemas.openxmlformats.org/drawingml/2006/main" noGrp="1"/>
          </p:cNvSpPr>
          <p:nvPr/>
        </p:nvSpPr>
        <p:spPr>
          <a:xfrm xmlns:a="http://schemas.openxmlformats.org/drawingml/2006/main">
            <a:off x="6667500" y="2714625"/>
            <a:ext cx="2381250" cy="876300"/>
          </a:xfrm>
          <a:prstGeom xmlns:a="http://schemas.openxmlformats.org/drawingml/2006/main" prst="roundRect">
            <a:avLst>
              <a:gd name="adj" fmla="val 17391"/>
            </a:avLst>
          </a:prstGeom>
          <a:solidFill xmlns:a="http://schemas.openxmlformats.org/drawingml/2006/main">
            <a:srgbClr val="2C67F2"/>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Goal-conditioned PPO</a:t>
            </a:r>
          </a:p>
        </p:txBody>
      </p:sp>
      <p:sp>
        <p:nvSpPr>
          <p:cNvPr id="10" name="">
            <a:extLst xmlns:a="http://schemas.openxmlformats.org/drawingml/2006/main">
              <a:ext uri="{FF2B5EF4-FFF2-40B4-BE49-F238E27FC236}">
                <a16:creationId xmlns:a16="http://schemas.microsoft.com/office/drawing/2014/main" id="{671F31A8-8BAD-407C-BA15-F19C37B8B356}"/>
              </a:ext>
            </a:extLst>
          </p:cNvPr>
          <p:cNvSpPr>
            <a:spLocks xmlns:a="http://schemas.openxmlformats.org/drawingml/2006/main" noGrp="1"/>
          </p:cNvSpPr>
          <p:nvPr/>
        </p:nvSpPr>
        <p:spPr>
          <a:xfrm xmlns:a="http://schemas.openxmlformats.org/drawingml/2006/main">
            <a:off x="9906000" y="2714625"/>
            <a:ext cx="1762125" cy="876300"/>
          </a:xfrm>
          <a:prstGeom xmlns:a="http://schemas.openxmlformats.org/drawingml/2006/main" prst="roundRect">
            <a:avLst>
              <a:gd name="adj" fmla="val 17391"/>
            </a:avLst>
          </a:prstGeom>
          <a:solidFill xmlns:a="http://schemas.openxmlformats.org/drawingml/2006/main">
            <a:srgbClr val="E7FAFC"/>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B1633"/>
                </a:solidFill>
                <a:latin typeface="Arial"/>
                <a:ea typeface="Arial"/>
                <a:cs typeface="Arial"/>
              </a:defRPr>
            </a:pPr>
            <a:r>
              <a:rPr sz="1500" b="1">
                <a:solidFill>
                  <a:srgbClr val="0B1633"/>
                </a:solidFill>
                <a:latin typeface="Arial"/>
                <a:ea typeface="Arial"/>
                <a:cs typeface="Arial"/>
              </a:rPr>
              <a:t>16-DoF Allegro</a:t>
            </a:r>
          </a:p>
          <a:p xmlns:a="http://schemas.openxmlformats.org/drawingml/2006/main">
            <a:pPr algn="ctr">
              <a:defRPr sz="1500" b="1">
                <a:solidFill>
                  <a:srgbClr val="0B1633"/>
                </a:solidFill>
                <a:latin typeface="Arial"/>
                <a:ea typeface="Arial"/>
                <a:cs typeface="Arial"/>
              </a:defRPr>
            </a:pPr>
            <a:r>
              <a:rPr sz="1500" b="1">
                <a:solidFill>
                  <a:srgbClr val="0B1633"/>
                </a:solidFill>
                <a:latin typeface="Arial"/>
                <a:ea typeface="Arial"/>
                <a:cs typeface="Arial"/>
              </a:rPr>
              <a:t>Cube reorientation</a:t>
            </a:r>
          </a:p>
        </p:txBody>
      </p:sp>
      <p:cxnSp>
        <p:nvCxnSpPr>
          <p:cNvPr id="32" name=""/>
          <p:cNvCxnSpPr>
            <a:stCxn xmlns:a="http://schemas.openxmlformats.org/drawingml/2006/main" id="5" idx="3"/>
            <a:endCxn xmlns:a="http://schemas.openxmlformats.org/drawingml/2006/main" id="9" idx="1"/>
          </p:cNvCxnSpPr>
          <p:nvPr/>
        </p:nvCxnSpPr>
        <p:spPr>
          <a:xfrm xmlns:a="http://schemas.openxmlformats.org/drawingml/2006/main">
            <a:off x="3190875" y="1438275"/>
            <a:ext cx="3476625" cy="1714500"/>
          </a:xfrm>
          <a:prstGeom xmlns:a="http://schemas.openxmlformats.org/drawingml/2006/main" prst="straightConnector1">
            <a:avLst/>
          </a:prstGeom>
          <a:ln xmlns:a="http://schemas.openxmlformats.org/drawingml/2006/main" w="28575">
            <a:solidFill>
              <a:srgbClr val="2C67F2"/>
            </a:solidFill>
            <a:prstDash val="solid"/>
            <a:tailEnd type="arrow" w="med" len="med"/>
          </a:ln>
        </p:spPr>
      </p:cxnSp>
      <p:cxnSp>
        <p:nvCxnSpPr>
          <p:cNvPr id="33" name=""/>
          <p:cNvCxnSpPr>
            <a:stCxn xmlns:a="http://schemas.openxmlformats.org/drawingml/2006/main" id="6" idx="3"/>
            <a:endCxn xmlns:a="http://schemas.openxmlformats.org/drawingml/2006/main" id="9" idx="1"/>
          </p:cNvCxnSpPr>
          <p:nvPr/>
        </p:nvCxnSpPr>
        <p:spPr>
          <a:xfrm xmlns:a="http://schemas.openxmlformats.org/drawingml/2006/main">
            <a:off x="3190875" y="2486025"/>
            <a:ext cx="3476625" cy="666750"/>
          </a:xfrm>
          <a:prstGeom xmlns:a="http://schemas.openxmlformats.org/drawingml/2006/main" prst="straightConnector1">
            <a:avLst/>
          </a:prstGeom>
          <a:ln xmlns:a="http://schemas.openxmlformats.org/drawingml/2006/main" w="28575">
            <a:solidFill>
              <a:srgbClr val="2C67F2"/>
            </a:solidFill>
            <a:prstDash val="solid"/>
            <a:tailEnd type="arrow" w="med" len="med"/>
          </a:ln>
        </p:spPr>
      </p:cxnSp>
      <p:cxnSp>
        <p:nvCxnSpPr>
          <p:cNvPr id="34" name=""/>
          <p:cNvCxnSpPr>
            <a:stCxn xmlns:a="http://schemas.openxmlformats.org/drawingml/2006/main" id="7" idx="3"/>
            <a:endCxn xmlns:a="http://schemas.openxmlformats.org/drawingml/2006/main" id="9" idx="1"/>
          </p:cNvCxnSpPr>
          <p:nvPr/>
        </p:nvCxnSpPr>
        <p:spPr>
          <a:xfrm xmlns:a="http://schemas.openxmlformats.org/drawingml/2006/main" flipV="1">
            <a:off x="3190875" y="3152775"/>
            <a:ext cx="3476625" cy="381000"/>
          </a:xfrm>
          <a:prstGeom xmlns:a="http://schemas.openxmlformats.org/drawingml/2006/main" prst="straightConnector1">
            <a:avLst/>
          </a:prstGeom>
          <a:ln xmlns:a="http://schemas.openxmlformats.org/drawingml/2006/main" w="28575">
            <a:solidFill>
              <a:srgbClr val="2C67F2"/>
            </a:solidFill>
            <a:prstDash val="solid"/>
            <a:tailEnd type="arrow" w="med" len="med"/>
          </a:ln>
        </p:spPr>
      </p:cxnSp>
      <p:cxnSp>
        <p:nvCxnSpPr>
          <p:cNvPr id="35" name=""/>
          <p:cNvCxnSpPr>
            <a:stCxn xmlns:a="http://schemas.openxmlformats.org/drawingml/2006/main" id="8" idx="3"/>
            <a:endCxn xmlns:a="http://schemas.openxmlformats.org/drawingml/2006/main" id="9" idx="1"/>
          </p:cNvCxnSpPr>
          <p:nvPr/>
        </p:nvCxnSpPr>
        <p:spPr>
          <a:xfrm xmlns:a="http://schemas.openxmlformats.org/drawingml/2006/main" flipV="1">
            <a:off x="3190875" y="3152775"/>
            <a:ext cx="3476625" cy="1428750"/>
          </a:xfrm>
          <a:prstGeom xmlns:a="http://schemas.openxmlformats.org/drawingml/2006/main" prst="straightConnector1">
            <a:avLst/>
          </a:prstGeom>
          <a:ln xmlns:a="http://schemas.openxmlformats.org/drawingml/2006/main" w="28575">
            <a:solidFill>
              <a:srgbClr val="2C67F2"/>
            </a:solidFill>
            <a:prstDash val="solid"/>
            <a:tailEnd type="arrow" w="med" len="med"/>
          </a:ln>
        </p:spPr>
      </p:cxnSp>
      <p:cxnSp>
        <p:nvCxnSpPr>
          <p:cNvPr id="36" name=""/>
          <p:cNvCxnSpPr>
            <a:stCxn xmlns:a="http://schemas.openxmlformats.org/drawingml/2006/main" id="9" idx="3"/>
            <a:endCxn xmlns:a="http://schemas.openxmlformats.org/drawingml/2006/main" id="10" idx="1"/>
          </p:cNvCxnSpPr>
          <p:nvPr/>
        </p:nvCxnSpPr>
        <p:spPr>
          <a:xfrm xmlns:a="http://schemas.openxmlformats.org/drawingml/2006/main">
            <a:off x="9048750" y="3152775"/>
            <a:ext cx="857250" cy="0"/>
          </a:xfrm>
          <a:prstGeom xmlns:a="http://schemas.openxmlformats.org/drawingml/2006/main" prst="straightConnector1">
            <a:avLst/>
          </a:prstGeom>
          <a:ln xmlns:a="http://schemas.openxmlformats.org/drawingml/2006/main" w="28575">
            <a:solidFill>
              <a:srgbClr val="2C67F2"/>
            </a:solidFill>
            <a:prstDash val="solid"/>
            <a:tailEnd type="arrow" w="med" len="med"/>
          </a:ln>
        </p:spPr>
      </p:cxnSp>
      <p:cxnSp>
        <p:nvCxnSpPr>
          <p:cNvPr id="37" name=""/>
          <p:cNvCxnSpPr>
            <a:stCxn xmlns:a="http://schemas.openxmlformats.org/drawingml/2006/main" id="3" idx="2"/>
            <a:endCxn xmlns:a="http://schemas.openxmlformats.org/drawingml/2006/main" id="9" idx="0"/>
          </p:cNvCxnSpPr>
          <p:nvPr/>
        </p:nvCxnSpPr>
        <p:spPr>
          <a:xfrm xmlns:a="http://schemas.openxmlformats.org/drawingml/2006/main">
            <a:off x="7762875" y="1809750"/>
            <a:ext cx="95250" cy="904875"/>
          </a:xfrm>
          <a:prstGeom xmlns:a="http://schemas.openxmlformats.org/drawingml/2006/main" prst="straightConnector1">
            <a:avLst/>
          </a:prstGeom>
          <a:ln xmlns:a="http://schemas.openxmlformats.org/drawingml/2006/main" w="28575">
            <a:solidFill>
              <a:srgbClr val="2C67F2"/>
            </a:solidFill>
            <a:prstDash val="solid"/>
            <a:tailEnd type="arrow" w="med" len="med"/>
          </a:ln>
        </p:spPr>
      </p:cxnSp>
      <p:cxnSp>
        <p:nvCxnSpPr>
          <p:cNvPr id="38" name=""/>
          <p:cNvCxnSpPr>
            <a:stCxn xmlns:a="http://schemas.openxmlformats.org/drawingml/2006/main" id="4" idx="2"/>
            <a:endCxn xmlns:a="http://schemas.openxmlformats.org/drawingml/2006/main" id="9" idx="0"/>
          </p:cNvCxnSpPr>
          <p:nvPr/>
        </p:nvCxnSpPr>
        <p:spPr>
          <a:xfrm xmlns:a="http://schemas.openxmlformats.org/drawingml/2006/main" flipH="1">
            <a:off x="7858125" y="1809750"/>
            <a:ext cx="2476500" cy="904875"/>
          </a:xfrm>
          <a:prstGeom xmlns:a="http://schemas.openxmlformats.org/drawingml/2006/main" prst="straightConnector1">
            <a:avLst/>
          </a:prstGeom>
          <a:ln xmlns:a="http://schemas.openxmlformats.org/drawingml/2006/main" w="28575">
            <a:solidFill>
              <a:srgbClr val="2C67F2"/>
            </a:solidFill>
            <a:prstDash val="solid"/>
            <a:tailEnd type="arrow" w="med" len="med"/>
          </a:ln>
        </p:spPr>
      </p:cxnSp>
      <p:sp>
        <p:nvSpPr>
          <p:cNvPr id="18" name="">
            <a:extLst xmlns:a="http://schemas.openxmlformats.org/drawingml/2006/main">
              <a:ext uri="{FF2B5EF4-FFF2-40B4-BE49-F238E27FC236}">
                <a16:creationId xmlns:a16="http://schemas.microsoft.com/office/drawing/2014/main" id="{365B3BCC-8AAA-4997-A700-50A40781BB6F}"/>
              </a:ext>
            </a:extLst>
          </p:cNvPr>
          <p:cNvSpPr>
            <a:spLocks xmlns:a="http://schemas.openxmlformats.org/drawingml/2006/main" noGrp="1"/>
          </p:cNvSpPr>
          <p:nvPr/>
        </p:nvSpPr>
        <p:spPr>
          <a:xfrm xmlns:a="http://schemas.openxmlformats.org/drawingml/2006/main">
            <a:off x="685800" y="5391150"/>
            <a:ext cx="11077575" cy="590550"/>
          </a:xfrm>
          <a:prstGeom xmlns:a="http://schemas.openxmlformats.org/drawingml/2006/main" prst="roundRect">
            <a:avLst>
              <a:gd name="adj" fmla="val 22581"/>
            </a:avLst>
          </a:prstGeom>
          <a:solidFill xmlns:a="http://schemas.openxmlformats.org/drawingml/2006/main">
            <a:srgbClr val="111F42"/>
          </a:solidFill>
          <a:ln xmlns:a="http://schemas.openxmlformats.org/drawingml/2006/main" w="9525">
            <a:solidFill>
              <a:srgbClr val="36528B"/>
            </a:solidFill>
            <a:prstDash val="solid"/>
          </a:ln>
        </p:spPr>
      </p:sp>
      <p:sp>
        <p:nvSpPr>
          <p:cNvPr id="19" name="">
            <a:extLst xmlns:a="http://schemas.openxmlformats.org/drawingml/2006/main">
              <a:ext uri="{FF2B5EF4-FFF2-40B4-BE49-F238E27FC236}">
                <a16:creationId xmlns:a16="http://schemas.microsoft.com/office/drawing/2014/main" id="{3E47A7B9-F147-4FF2-BAC6-DCE90FB9F375}"/>
              </a:ext>
            </a:extLst>
          </p:cNvPr>
          <p:cNvSpPr>
            <a:spLocks xmlns:a="http://schemas.openxmlformats.org/drawingml/2006/main" noGrp="1"/>
          </p:cNvSpPr>
          <p:nvPr/>
        </p:nvSpPr>
        <p:spPr>
          <a:xfrm xmlns:a="http://schemas.openxmlformats.org/drawingml/2006/main">
            <a:off x="895350" y="550545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34D5E5"/>
                </a:solidFill>
                <a:latin typeface="Arial"/>
                <a:ea typeface="Arial"/>
                <a:cs typeface="Arial"/>
              </a:defRPr>
            </a:pPr>
            <a:r>
              <a:rPr sz="1200" b="1">
                <a:solidFill>
                  <a:srgbClr val="34D5E5"/>
                </a:solidFill>
                <a:latin typeface="Arial"/>
                <a:ea typeface="Arial"/>
                <a:cs typeface="Arial"/>
              </a:rPr>
              <a:t>Fixed across conditions</a:t>
            </a:r>
          </a:p>
        </p:txBody>
      </p:sp>
      <p:sp>
        <p:nvSpPr>
          <p:cNvPr id="20" name="">
            <a:extLst xmlns:a="http://schemas.openxmlformats.org/drawingml/2006/main">
              <a:ext uri="{FF2B5EF4-FFF2-40B4-BE49-F238E27FC236}">
                <a16:creationId xmlns:a16="http://schemas.microsoft.com/office/drawing/2014/main" id="{EA349E48-BF76-4E37-B667-CCDD2C803AF2}"/>
              </a:ext>
            </a:extLst>
          </p:cNvPr>
          <p:cNvSpPr>
            <a:spLocks xmlns:a="http://schemas.openxmlformats.org/drawingml/2006/main" noGrp="1"/>
          </p:cNvSpPr>
          <p:nvPr/>
        </p:nvSpPr>
        <p:spPr>
          <a:xfrm xmlns:a="http://schemas.openxmlformats.org/drawingml/2006/main">
            <a:off x="3000375" y="5476875"/>
            <a:ext cx="8429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FFFFF"/>
                </a:solidFill>
                <a:latin typeface="Arial"/>
                <a:ea typeface="Arial"/>
                <a:cs typeface="Arial"/>
              </a:defRPr>
            </a:pPr>
            <a:r>
              <a:rPr sz="1500" b="1">
                <a:solidFill>
                  <a:srgbClr val="FFFFFF"/>
                </a:solidFill>
                <a:latin typeface="Arial"/>
                <a:ea typeface="Arial"/>
                <a:cs typeface="Arial"/>
              </a:rPr>
              <a:t>robot state  •  object state  •  reward  •  PPO  •  action space  •  training budget</a:t>
            </a:r>
          </a:p>
        </p:txBody>
      </p:sp>
      <p:sp>
        <p:nvSpPr>
          <p:cNvPr id="21" name="">
            <a:extLst xmlns:a="http://schemas.openxmlformats.org/drawingml/2006/main">
              <a:ext uri="{FF2B5EF4-FFF2-40B4-BE49-F238E27FC236}">
                <a16:creationId xmlns:a16="http://schemas.microsoft.com/office/drawing/2014/main" id="{9587089B-5EF0-427D-A2DE-02DE6328DCC8}"/>
              </a:ext>
            </a:extLst>
          </p:cNvPr>
          <p:cNvSpPr>
            <a:spLocks xmlns:a="http://schemas.openxmlformats.org/drawingml/2006/main" noGrp="1"/>
          </p:cNvSpPr>
          <p:nvPr/>
        </p:nvSpPr>
        <p:spPr>
          <a:xfrm xmlns:a="http://schemas.openxmlformats.org/drawingml/2006/main">
            <a:off x="609600" y="6496050"/>
            <a:ext cx="10382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a:solidFill>
                  <a:srgbClr val="9CB0D7"/>
                </a:solidFill>
                <a:latin typeface="Arial"/>
                <a:ea typeface="Arial"/>
                <a:cs typeface="Arial"/>
              </a:defRPr>
            </a:pPr>
            <a:r>
              <a:rPr sz="825" b="0">
                <a:solidFill>
                  <a:srgbClr val="9CB0D7"/>
                </a:solidFill>
                <a:latin typeface="Arial"/>
                <a:ea typeface="Arial"/>
                <a:cs typeface="Arial"/>
              </a:rPr>
              <a:t>Only the manipulation-intent representation changes.</a:t>
            </a:r>
          </a:p>
        </p:txBody>
      </p:sp>
    </p:spTree>
    <p:extLst>
      <p:ext uri="{BB962C8B-B14F-4D97-AF65-F5344CB8AC3E}">
        <p14:creationId xmlns:p14="http://schemas.microsoft.com/office/powerpoint/2010/main" val="74617942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B1E587D6-F614-47CD-8EAE-A4FDE0C59EF4}"/>
              </a:ext>
            </a:extLst>
          </p:cNvPr>
          <p:cNvSpPr>
            <a:spLocks xmlns:a="http://schemas.openxmlformats.org/drawingml/2006/main" noGrp="1"/>
          </p:cNvSpPr>
          <p:nvPr/>
        </p:nvSpPr>
        <p:spPr>
          <a:xfrm xmlns:a="http://schemas.openxmlformats.org/drawingml/2006/main">
            <a:off x="609600" y="4000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B1633"/>
                </a:solidFill>
                <a:latin typeface="Arial"/>
                <a:ea typeface="Arial"/>
                <a:cs typeface="Arial"/>
              </a:defRPr>
            </a:pPr>
            <a:r>
              <a:rPr sz="2550" b="1">
                <a:solidFill>
                  <a:srgbClr val="0B1633"/>
                </a:solidFill>
                <a:latin typeface="Arial"/>
                <a:ea typeface="Arial"/>
                <a:cs typeface="Arial"/>
              </a:rPr>
              <a:t>Palm-normalized hand synergies isolate compact intent</a:t>
            </a:r>
          </a:p>
        </p:txBody>
      </p:sp>
      <p:sp>
        <p:nvSpPr>
          <p:cNvPr id="2" name="">
            <a:extLst xmlns:a="http://schemas.openxmlformats.org/drawingml/2006/main">
              <a:ext uri="{FF2B5EF4-FFF2-40B4-BE49-F238E27FC236}">
                <a16:creationId xmlns:a16="http://schemas.microsoft.com/office/drawing/2014/main" id="{78DE2DFB-4903-4091-A775-1D6D1E666171}"/>
              </a:ext>
            </a:extLst>
          </p:cNvPr>
          <p:cNvSpPr>
            <a:spLocks xmlns:a="http://schemas.openxmlformats.org/drawingml/2006/main" noGrp="1"/>
          </p:cNvSpPr>
          <p:nvPr/>
        </p:nvSpPr>
        <p:spPr>
          <a:xfrm xmlns:a="http://schemas.openxmlformats.org/drawingml/2006/main">
            <a:off x="1104900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050" b="1">
                <a:solidFill>
                  <a:srgbClr val="2C67F2"/>
                </a:solidFill>
                <a:latin typeface="Arial"/>
                <a:ea typeface="Arial"/>
                <a:cs typeface="Arial"/>
              </a:defRPr>
            </a:pPr>
            <a:r>
              <a:rPr sz="1050" b="1">
                <a:solidFill>
                  <a:srgbClr val="2C67F2"/>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12A4D178-30DB-46F7-8780-E8FB97D79BFC}"/>
              </a:ext>
            </a:extLst>
          </p:cNvPr>
          <p:cNvSpPr>
            <a:spLocks xmlns:a="http://schemas.openxmlformats.org/drawingml/2006/main" noGrp="1"/>
          </p:cNvSpPr>
          <p:nvPr/>
        </p:nvSpPr>
        <p:spPr>
          <a:xfrm xmlns:a="http://schemas.openxmlformats.org/drawingml/2006/main">
            <a:off x="685800" y="1476375"/>
            <a:ext cx="2381250" cy="857250"/>
          </a:xfrm>
          <a:prstGeom xmlns:a="http://schemas.openxmlformats.org/drawingml/2006/main" prst="roundRect">
            <a:avLst>
              <a:gd name="adj" fmla="val 17778"/>
            </a:avLst>
          </a:prstGeom>
          <a:solidFill xmlns:a="http://schemas.openxmlformats.org/drawingml/2006/main">
            <a:srgbClr val="FFF0EA"/>
          </a:solidFill>
          <a:ln xmlns:a="http://schemas.openxmlformats.org/drawingml/2006/main" w="9525">
            <a:solidFill>
              <a:srgbClr val="FF8A5B"/>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B1633"/>
                </a:solidFill>
                <a:latin typeface="Arial"/>
                <a:ea typeface="Arial"/>
                <a:cs typeface="Arial"/>
              </a:defRPr>
            </a:pPr>
            <a:r>
              <a:rPr sz="1500" b="1">
                <a:solidFill>
                  <a:srgbClr val="0B1633"/>
                </a:solidFill>
                <a:latin typeface="Arial"/>
                <a:ea typeface="Arial"/>
                <a:cs typeface="Arial"/>
              </a:rPr>
              <a:t>Quest hand tracking</a:t>
            </a:r>
          </a:p>
          <a:p xmlns:a="http://schemas.openxmlformats.org/drawingml/2006/main">
            <a:pPr algn="ctr">
              <a:defRPr sz="1500" b="1">
                <a:solidFill>
                  <a:srgbClr val="0B1633"/>
                </a:solidFill>
                <a:latin typeface="Arial"/>
                <a:ea typeface="Arial"/>
                <a:cs typeface="Arial"/>
              </a:defRPr>
            </a:pPr>
            <a:r>
              <a:rPr sz="1500" b="1">
                <a:solidFill>
                  <a:srgbClr val="0B1633"/>
                </a:solidFill>
                <a:latin typeface="Arial"/>
                <a:ea typeface="Arial"/>
                <a:cs typeface="Arial"/>
              </a:rPr>
              <a:t>pᵢ in world frame</a:t>
            </a:r>
          </a:p>
        </p:txBody>
      </p:sp>
      <p:sp>
        <p:nvSpPr>
          <p:cNvPr id="4" name="">
            <a:extLst xmlns:a="http://schemas.openxmlformats.org/drawingml/2006/main">
              <a:ext uri="{FF2B5EF4-FFF2-40B4-BE49-F238E27FC236}">
                <a16:creationId xmlns:a16="http://schemas.microsoft.com/office/drawing/2014/main" id="{D9A4A306-2134-4848-BCFF-80FB910B1EB1}"/>
              </a:ext>
            </a:extLst>
          </p:cNvPr>
          <p:cNvSpPr>
            <a:spLocks xmlns:a="http://schemas.openxmlformats.org/drawingml/2006/main" noGrp="1"/>
          </p:cNvSpPr>
          <p:nvPr/>
        </p:nvSpPr>
        <p:spPr>
          <a:xfrm xmlns:a="http://schemas.openxmlformats.org/drawingml/2006/main">
            <a:off x="3762375" y="1476375"/>
            <a:ext cx="3190875" cy="857250"/>
          </a:xfrm>
          <a:prstGeom xmlns:a="http://schemas.openxmlformats.org/drawingml/2006/main" prst="roundRect">
            <a:avLst>
              <a:gd name="adj" fmla="val 17778"/>
            </a:avLst>
          </a:prstGeom>
          <a:solidFill xmlns:a="http://schemas.openxmlformats.org/drawingml/2006/main">
            <a:srgbClr val="E7FAFC"/>
          </a:solidFill>
          <a:ln xmlns:a="http://schemas.openxmlformats.org/drawingml/2006/main" w="9525">
            <a:solidFill>
              <a:srgbClr val="34D5E5"/>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B1633"/>
                </a:solidFill>
                <a:latin typeface="Arial"/>
                <a:ea typeface="Arial"/>
                <a:cs typeface="Arial"/>
              </a:defRPr>
            </a:pPr>
            <a:r>
              <a:rPr sz="1500" b="1">
                <a:solidFill>
                  <a:srgbClr val="0B1633"/>
                </a:solidFill>
                <a:latin typeface="Arial"/>
                <a:ea typeface="Arial"/>
                <a:cs typeface="Arial"/>
              </a:rPr>
              <a:t>Palm-frame normalization</a:t>
            </a:r>
          </a:p>
          <a:p xmlns:a="http://schemas.openxmlformats.org/drawingml/2006/main">
            <a:pPr algn="ctr">
              <a:defRPr sz="1500" b="1">
                <a:solidFill>
                  <a:srgbClr val="0B1633"/>
                </a:solidFill>
                <a:latin typeface="Arial"/>
                <a:ea typeface="Arial"/>
                <a:cs typeface="Arial"/>
              </a:defRPr>
            </a:pPr>
            <a:r>
              <a:rPr sz="1500" b="1">
                <a:solidFill>
                  <a:srgbClr val="0B1633"/>
                </a:solidFill>
                <a:latin typeface="Arial"/>
                <a:ea typeface="Arial"/>
                <a:cs typeface="Arial"/>
              </a:rPr>
              <a:t>p̃ᵢ = Rₚₐₗₘ⁻¹(pᵢ − pₚₐₗₘ)</a:t>
            </a:r>
          </a:p>
        </p:txBody>
      </p:sp>
      <p:sp>
        <p:nvSpPr>
          <p:cNvPr id="5" name="">
            <a:extLst xmlns:a="http://schemas.openxmlformats.org/drawingml/2006/main">
              <a:ext uri="{FF2B5EF4-FFF2-40B4-BE49-F238E27FC236}">
                <a16:creationId xmlns:a16="http://schemas.microsoft.com/office/drawing/2014/main" id="{8A145DD7-5E2D-4930-9CFB-741F099803A8}"/>
              </a:ext>
            </a:extLst>
          </p:cNvPr>
          <p:cNvSpPr>
            <a:spLocks xmlns:a="http://schemas.openxmlformats.org/drawingml/2006/main" noGrp="1"/>
          </p:cNvSpPr>
          <p:nvPr/>
        </p:nvSpPr>
        <p:spPr>
          <a:xfrm xmlns:a="http://schemas.openxmlformats.org/drawingml/2006/main">
            <a:off x="7648575" y="1476375"/>
            <a:ext cx="2857500" cy="857250"/>
          </a:xfrm>
          <a:prstGeom xmlns:a="http://schemas.openxmlformats.org/drawingml/2006/main" prst="roundRect">
            <a:avLst>
              <a:gd name="adj" fmla="val 17778"/>
            </a:avLst>
          </a:prstGeom>
          <a:solidFill xmlns:a="http://schemas.openxmlformats.org/drawingml/2006/main">
            <a:srgbClr val="EAF0FF"/>
          </a:solidFill>
          <a:ln xmlns:a="http://schemas.openxmlformats.org/drawingml/2006/main" w="9525">
            <a:solidFill>
              <a:srgbClr val="2C67F2"/>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0B1633"/>
                </a:solidFill>
                <a:latin typeface="Arial"/>
                <a:ea typeface="Arial"/>
                <a:cs typeface="Arial"/>
              </a:defRPr>
            </a:pPr>
            <a:r>
              <a:rPr sz="1575" b="1">
                <a:solidFill>
                  <a:srgbClr val="0B1633"/>
                </a:solidFill>
                <a:latin typeface="Arial"/>
                <a:ea typeface="Arial"/>
                <a:cs typeface="Arial"/>
              </a:rPr>
              <a:t>PCA encoding</a:t>
            </a:r>
          </a:p>
          <a:p xmlns:a="http://schemas.openxmlformats.org/drawingml/2006/main">
            <a:pPr algn="ctr">
              <a:defRPr sz="1575" b="1">
                <a:solidFill>
                  <a:srgbClr val="0B1633"/>
                </a:solidFill>
                <a:latin typeface="Arial"/>
                <a:ea typeface="Arial"/>
                <a:cs typeface="Arial"/>
              </a:defRPr>
            </a:pPr>
            <a:r>
              <a:rPr sz="1575" b="1">
                <a:solidFill>
                  <a:srgbClr val="0B1633"/>
                </a:solidFill>
                <a:latin typeface="Arial"/>
                <a:ea typeface="Arial"/>
                <a:cs typeface="Arial"/>
              </a:rPr>
              <a:t>zₜ = Wₖᵀ(hₜ − μ)</a:t>
            </a:r>
          </a:p>
        </p:txBody>
      </p:sp>
      <p:cxnSp>
        <p:nvCxnSpPr>
          <p:cNvPr id="31" name=""/>
          <p:cNvCxnSpPr>
            <a:stCxn xmlns:a="http://schemas.openxmlformats.org/drawingml/2006/main" id="3" idx="3"/>
            <a:endCxn xmlns:a="http://schemas.openxmlformats.org/drawingml/2006/main" id="4" idx="1"/>
          </p:cNvCxnSpPr>
          <p:nvPr/>
        </p:nvCxnSpPr>
        <p:spPr>
          <a:xfrm xmlns:a="http://schemas.openxmlformats.org/drawingml/2006/main">
            <a:off x="3067050" y="1905000"/>
            <a:ext cx="695325" cy="0"/>
          </a:xfrm>
          <a:prstGeom xmlns:a="http://schemas.openxmlformats.org/drawingml/2006/main" prst="straightConnector1">
            <a:avLst/>
          </a:prstGeom>
          <a:ln xmlns:a="http://schemas.openxmlformats.org/drawingml/2006/main" w="28575">
            <a:solidFill>
              <a:srgbClr val="2C67F2"/>
            </a:solidFill>
            <a:prstDash val="solid"/>
            <a:tailEnd type="arrow" w="med" len="med"/>
          </a:ln>
        </p:spPr>
      </p:cxnSp>
      <p:cxnSp>
        <p:nvCxnSpPr>
          <p:cNvPr id="32" name=""/>
          <p:cNvCxnSpPr>
            <a:stCxn xmlns:a="http://schemas.openxmlformats.org/drawingml/2006/main" id="4" idx="3"/>
            <a:endCxn xmlns:a="http://schemas.openxmlformats.org/drawingml/2006/main" id="5" idx="1"/>
          </p:cNvCxnSpPr>
          <p:nvPr/>
        </p:nvCxnSpPr>
        <p:spPr>
          <a:xfrm xmlns:a="http://schemas.openxmlformats.org/drawingml/2006/main">
            <a:off x="6953250" y="1905000"/>
            <a:ext cx="695325" cy="0"/>
          </a:xfrm>
          <a:prstGeom xmlns:a="http://schemas.openxmlformats.org/drawingml/2006/main" prst="straightConnector1">
            <a:avLst/>
          </a:prstGeom>
          <a:ln xmlns:a="http://schemas.openxmlformats.org/drawingml/2006/main" w="28575">
            <a:solidFill>
              <a:srgbClr val="2C67F2"/>
            </a:solidFill>
            <a:prstDash val="solid"/>
            <a:tailEnd type="arrow" w="med" len="med"/>
          </a:ln>
        </p:spPr>
      </p:cxnSp>
      <p:sp>
        <p:nvSpPr>
          <p:cNvPr id="8" name="">
            <a:extLst xmlns:a="http://schemas.openxmlformats.org/drawingml/2006/main">
              <a:ext uri="{FF2B5EF4-FFF2-40B4-BE49-F238E27FC236}">
                <a16:creationId xmlns:a16="http://schemas.microsoft.com/office/drawing/2014/main" id="{5CFCE2BE-3307-45F6-90BE-6C39283CA41B}"/>
              </a:ext>
            </a:extLst>
          </p:cNvPr>
          <p:cNvSpPr>
            <a:spLocks xmlns:a="http://schemas.openxmlformats.org/drawingml/2006/main" noGrp="1"/>
          </p:cNvSpPr>
          <p:nvPr/>
        </p:nvSpPr>
        <p:spPr>
          <a:xfrm xmlns:a="http://schemas.openxmlformats.org/drawingml/2006/main">
            <a:off x="10715625" y="1524000"/>
            <a:ext cx="838200" cy="762000"/>
          </a:xfrm>
          <a:prstGeom xmlns:a="http://schemas.openxmlformats.org/drawingml/2006/main" prst="roundRect">
            <a:avLst>
              <a:gd name="adj" fmla="val 15000"/>
            </a:avLst>
          </a:prstGeom>
          <a:solidFill xmlns:a="http://schemas.openxmlformats.org/drawingml/2006/main">
            <a:srgbClr val="0B163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FA805B4-68C5-401F-B515-46227CBA9801}"/>
              </a:ext>
            </a:extLst>
          </p:cNvPr>
          <p:cNvSpPr>
            <a:spLocks xmlns:a="http://schemas.openxmlformats.org/drawingml/2006/main" noGrp="1"/>
          </p:cNvSpPr>
          <p:nvPr/>
        </p:nvSpPr>
        <p:spPr>
          <a:xfrm xmlns:a="http://schemas.openxmlformats.org/drawingml/2006/main">
            <a:off x="10820400" y="1695450"/>
            <a:ext cx="6286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590"/>
          </a:bodyPr>
          <a:lstStyle xmlns:a="http://schemas.openxmlformats.org/drawingml/2006/main"/>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k = 4</a:t>
            </a:r>
          </a:p>
        </p:txBody>
      </p:sp>
      <p:sp>
        <p:nvSpPr>
          <p:cNvPr id="10" name="">
            <a:extLst xmlns:a="http://schemas.openxmlformats.org/drawingml/2006/main">
              <a:ext uri="{FF2B5EF4-FFF2-40B4-BE49-F238E27FC236}">
                <a16:creationId xmlns:a16="http://schemas.microsoft.com/office/drawing/2014/main" id="{31386704-C171-486C-83A2-B7E59D5FB5A8}"/>
              </a:ext>
            </a:extLst>
          </p:cNvPr>
          <p:cNvSpPr>
            <a:spLocks xmlns:a="http://schemas.openxmlformats.org/drawingml/2006/main" noGrp="1"/>
          </p:cNvSpPr>
          <p:nvPr/>
        </p:nvSpPr>
        <p:spPr>
          <a:xfrm xmlns:a="http://schemas.openxmlformats.org/drawingml/2006/main">
            <a:off x="685800" y="29527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0B1633"/>
                </a:solidFill>
                <a:latin typeface="Arial"/>
                <a:ea typeface="Arial"/>
                <a:cs typeface="Arial"/>
              </a:defRPr>
            </a:pPr>
            <a:r>
              <a:rPr sz="1650" b="1">
                <a:solidFill>
                  <a:srgbClr val="0B1633"/>
                </a:solidFill>
                <a:latin typeface="Arial"/>
                <a:ea typeface="Arial"/>
                <a:cs typeface="Arial"/>
              </a:rPr>
              <a:t>Information supplied to the policy</a:t>
            </a:r>
          </a:p>
        </p:txBody>
      </p:sp>
      <p:sp>
        <p:nvSpPr>
          <p:cNvPr id="11" name="">
            <a:extLst xmlns:a="http://schemas.openxmlformats.org/drawingml/2006/main">
              <a:ext uri="{FF2B5EF4-FFF2-40B4-BE49-F238E27FC236}">
                <a16:creationId xmlns:a16="http://schemas.microsoft.com/office/drawing/2014/main" id="{5301B640-0921-4EC9-AA3D-B83AE8E5BFAF}"/>
              </a:ext>
            </a:extLst>
          </p:cNvPr>
          <p:cNvSpPr>
            <a:spLocks xmlns:a="http://schemas.openxmlformats.org/drawingml/2006/main" noGrp="1"/>
          </p:cNvSpPr>
          <p:nvPr/>
        </p:nvSpPr>
        <p:spPr>
          <a:xfrm xmlns:a="http://schemas.openxmlformats.org/drawingml/2006/main">
            <a:off x="685800" y="352425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17213A"/>
                </a:solidFill>
                <a:latin typeface="Arial"/>
                <a:ea typeface="Arial"/>
                <a:cs typeface="Arial"/>
              </a:defRPr>
            </a:pPr>
            <a:r>
              <a:rPr sz="1350" b="1">
                <a:solidFill>
                  <a:srgbClr val="17213A"/>
                </a:solidFill>
                <a:latin typeface="Arial"/>
                <a:ea typeface="Arial"/>
                <a:cs typeface="Arial"/>
              </a:rPr>
              <a:t>Full hand</a:t>
            </a:r>
          </a:p>
        </p:txBody>
      </p:sp>
      <p:sp>
        <p:nvSpPr>
          <p:cNvPr id="12" name="">
            <a:extLst xmlns:a="http://schemas.openxmlformats.org/drawingml/2006/main">
              <a:ext uri="{FF2B5EF4-FFF2-40B4-BE49-F238E27FC236}">
                <a16:creationId xmlns:a16="http://schemas.microsoft.com/office/drawing/2014/main" id="{3FA4B34B-A6CF-473E-A07C-BF4C73B70A32}"/>
              </a:ext>
            </a:extLst>
          </p:cNvPr>
          <p:cNvSpPr>
            <a:spLocks xmlns:a="http://schemas.openxmlformats.org/drawingml/2006/main" noGrp="1"/>
          </p:cNvSpPr>
          <p:nvPr/>
        </p:nvSpPr>
        <p:spPr>
          <a:xfrm xmlns:a="http://schemas.openxmlformats.org/drawingml/2006/main">
            <a:off x="2476500" y="3562350"/>
            <a:ext cx="8096250" cy="209550"/>
          </a:xfrm>
          <a:prstGeom xmlns:a="http://schemas.openxmlformats.org/drawingml/2006/main" prst="roundRect">
            <a:avLst>
              <a:gd name="adj" fmla="val 50000"/>
            </a:avLst>
          </a:prstGeom>
          <a:solidFill xmlns:a="http://schemas.openxmlformats.org/drawingml/2006/main">
            <a:srgbClr val="8A68E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597BBAB-0307-43F8-9296-417C3F11F64D}"/>
              </a:ext>
            </a:extLst>
          </p:cNvPr>
          <p:cNvSpPr>
            <a:spLocks xmlns:a="http://schemas.openxmlformats.org/drawingml/2006/main" noGrp="1"/>
          </p:cNvSpPr>
          <p:nvPr/>
        </p:nvSpPr>
        <p:spPr>
          <a:xfrm xmlns:a="http://schemas.openxmlformats.org/drawingml/2006/main">
            <a:off x="10287000" y="3524250"/>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8A68E8"/>
                </a:solidFill>
                <a:latin typeface="Arial"/>
                <a:ea typeface="Arial"/>
                <a:cs typeface="Arial"/>
              </a:defRPr>
            </a:pPr>
            <a:r>
              <a:rPr sz="1200" b="1">
                <a:solidFill>
                  <a:srgbClr val="8A68E8"/>
                </a:solidFill>
                <a:latin typeface="Arial"/>
                <a:ea typeface="Arial"/>
                <a:cs typeface="Arial"/>
              </a:rPr>
              <a:t>high</a:t>
            </a:r>
          </a:p>
        </p:txBody>
      </p:sp>
      <p:sp>
        <p:nvSpPr>
          <p:cNvPr id="14" name="">
            <a:extLst xmlns:a="http://schemas.openxmlformats.org/drawingml/2006/main">
              <a:ext uri="{FF2B5EF4-FFF2-40B4-BE49-F238E27FC236}">
                <a16:creationId xmlns:a16="http://schemas.microsoft.com/office/drawing/2014/main" id="{D510396A-6A33-4181-A251-EA4AB3D2F4C4}"/>
              </a:ext>
            </a:extLst>
          </p:cNvPr>
          <p:cNvSpPr>
            <a:spLocks xmlns:a="http://schemas.openxmlformats.org/drawingml/2006/main" noGrp="1"/>
          </p:cNvSpPr>
          <p:nvPr/>
        </p:nvSpPr>
        <p:spPr>
          <a:xfrm xmlns:a="http://schemas.openxmlformats.org/drawingml/2006/main">
            <a:off x="685800" y="41148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17213A"/>
                </a:solidFill>
                <a:latin typeface="Arial"/>
                <a:ea typeface="Arial"/>
                <a:cs typeface="Arial"/>
              </a:defRPr>
            </a:pPr>
            <a:r>
              <a:rPr sz="1350" b="1">
                <a:solidFill>
                  <a:srgbClr val="17213A"/>
                </a:solidFill>
                <a:latin typeface="Arial"/>
                <a:ea typeface="Arial"/>
                <a:cs typeface="Arial"/>
              </a:rPr>
              <a:t>Fingertips</a:t>
            </a:r>
          </a:p>
        </p:txBody>
      </p:sp>
      <p:sp>
        <p:nvSpPr>
          <p:cNvPr id="15" name="">
            <a:extLst xmlns:a="http://schemas.openxmlformats.org/drawingml/2006/main">
              <a:ext uri="{FF2B5EF4-FFF2-40B4-BE49-F238E27FC236}">
                <a16:creationId xmlns:a16="http://schemas.microsoft.com/office/drawing/2014/main" id="{684BF017-FAC3-4F75-BCEB-A1335B4DDFD7}"/>
              </a:ext>
            </a:extLst>
          </p:cNvPr>
          <p:cNvSpPr>
            <a:spLocks xmlns:a="http://schemas.openxmlformats.org/drawingml/2006/main" noGrp="1"/>
          </p:cNvSpPr>
          <p:nvPr/>
        </p:nvSpPr>
        <p:spPr>
          <a:xfrm xmlns:a="http://schemas.openxmlformats.org/drawingml/2006/main">
            <a:off x="2476500" y="4152900"/>
            <a:ext cx="6191250" cy="209550"/>
          </a:xfrm>
          <a:prstGeom xmlns:a="http://schemas.openxmlformats.org/drawingml/2006/main" prst="roundRect">
            <a:avLst>
              <a:gd name="adj" fmla="val 50000"/>
            </a:avLst>
          </a:prstGeom>
          <a:solidFill xmlns:a="http://schemas.openxmlformats.org/drawingml/2006/main">
            <a:srgbClr val="34D5E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6273399-E164-4D2C-BCB8-C927642B46DC}"/>
              </a:ext>
            </a:extLst>
          </p:cNvPr>
          <p:cNvSpPr>
            <a:spLocks xmlns:a="http://schemas.openxmlformats.org/drawingml/2006/main" noGrp="1"/>
          </p:cNvSpPr>
          <p:nvPr/>
        </p:nvSpPr>
        <p:spPr>
          <a:xfrm xmlns:a="http://schemas.openxmlformats.org/drawingml/2006/main">
            <a:off x="10287000" y="4114800"/>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34D5E5"/>
                </a:solidFill>
                <a:latin typeface="Arial"/>
                <a:ea typeface="Arial"/>
                <a:cs typeface="Arial"/>
              </a:defRPr>
            </a:pPr>
            <a:r>
              <a:rPr sz="1200" b="1">
                <a:solidFill>
                  <a:srgbClr val="34D5E5"/>
                </a:solidFill>
                <a:latin typeface="Arial"/>
                <a:ea typeface="Arial"/>
                <a:cs typeface="Arial"/>
              </a:rPr>
              <a:t>medium</a:t>
            </a:r>
          </a:p>
        </p:txBody>
      </p:sp>
      <p:sp>
        <p:nvSpPr>
          <p:cNvPr id="17" name="">
            <a:extLst xmlns:a="http://schemas.openxmlformats.org/drawingml/2006/main">
              <a:ext uri="{FF2B5EF4-FFF2-40B4-BE49-F238E27FC236}">
                <a16:creationId xmlns:a16="http://schemas.microsoft.com/office/drawing/2014/main" id="{BC942CB3-E65F-4D30-951C-01C7E98EFA64}"/>
              </a:ext>
            </a:extLst>
          </p:cNvPr>
          <p:cNvSpPr>
            <a:spLocks xmlns:a="http://schemas.openxmlformats.org/drawingml/2006/main" noGrp="1"/>
          </p:cNvSpPr>
          <p:nvPr/>
        </p:nvSpPr>
        <p:spPr>
          <a:xfrm xmlns:a="http://schemas.openxmlformats.org/drawingml/2006/main">
            <a:off x="685800" y="470535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17213A"/>
                </a:solidFill>
                <a:latin typeface="Arial"/>
                <a:ea typeface="Arial"/>
                <a:cs typeface="Arial"/>
              </a:defRPr>
            </a:pPr>
            <a:r>
              <a:rPr sz="1350" b="1">
                <a:solidFill>
                  <a:srgbClr val="17213A"/>
                </a:solidFill>
                <a:latin typeface="Arial"/>
                <a:ea typeface="Arial"/>
                <a:cs typeface="Arial"/>
              </a:rPr>
              <a:t>PCA synergy</a:t>
            </a:r>
          </a:p>
        </p:txBody>
      </p:sp>
      <p:sp>
        <p:nvSpPr>
          <p:cNvPr id="18" name="">
            <a:extLst xmlns:a="http://schemas.openxmlformats.org/drawingml/2006/main">
              <a:ext uri="{FF2B5EF4-FFF2-40B4-BE49-F238E27FC236}">
                <a16:creationId xmlns:a16="http://schemas.microsoft.com/office/drawing/2014/main" id="{96F02FA3-3634-4822-BA05-23453E73F225}"/>
              </a:ext>
            </a:extLst>
          </p:cNvPr>
          <p:cNvSpPr>
            <a:spLocks xmlns:a="http://schemas.openxmlformats.org/drawingml/2006/main" noGrp="1"/>
          </p:cNvSpPr>
          <p:nvPr/>
        </p:nvSpPr>
        <p:spPr>
          <a:xfrm xmlns:a="http://schemas.openxmlformats.org/drawingml/2006/main">
            <a:off x="2476500" y="4743450"/>
            <a:ext cx="3714750" cy="209550"/>
          </a:xfrm>
          <a:prstGeom xmlns:a="http://schemas.openxmlformats.org/drawingml/2006/main" prst="roundRect">
            <a:avLst>
              <a:gd name="adj" fmla="val 50000"/>
            </a:avLst>
          </a:prstGeom>
          <a:solidFill xmlns:a="http://schemas.openxmlformats.org/drawingml/2006/main">
            <a:srgbClr val="FF8A5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798A143-CEB6-4BD8-9157-4623B544F6CA}"/>
              </a:ext>
            </a:extLst>
          </p:cNvPr>
          <p:cNvSpPr>
            <a:spLocks xmlns:a="http://schemas.openxmlformats.org/drawingml/2006/main" noGrp="1"/>
          </p:cNvSpPr>
          <p:nvPr/>
        </p:nvSpPr>
        <p:spPr>
          <a:xfrm xmlns:a="http://schemas.openxmlformats.org/drawingml/2006/main">
            <a:off x="10287000" y="4705350"/>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FF8A5B"/>
                </a:solidFill>
                <a:latin typeface="Arial"/>
                <a:ea typeface="Arial"/>
                <a:cs typeface="Arial"/>
              </a:defRPr>
            </a:pPr>
            <a:r>
              <a:rPr sz="1200" b="1">
                <a:solidFill>
                  <a:srgbClr val="FF8A5B"/>
                </a:solidFill>
                <a:latin typeface="Arial"/>
                <a:ea typeface="Arial"/>
                <a:cs typeface="Arial"/>
              </a:rPr>
              <a:t>low</a:t>
            </a:r>
          </a:p>
        </p:txBody>
      </p:sp>
      <p:sp>
        <p:nvSpPr>
          <p:cNvPr id="20" name="">
            <a:extLst xmlns:a="http://schemas.openxmlformats.org/drawingml/2006/main">
              <a:ext uri="{FF2B5EF4-FFF2-40B4-BE49-F238E27FC236}">
                <a16:creationId xmlns:a16="http://schemas.microsoft.com/office/drawing/2014/main" id="{FCCA1921-8753-428A-B7EF-F78F517630D5}"/>
              </a:ext>
            </a:extLst>
          </p:cNvPr>
          <p:cNvSpPr>
            <a:spLocks xmlns:a="http://schemas.openxmlformats.org/drawingml/2006/main" noGrp="1"/>
          </p:cNvSpPr>
          <p:nvPr/>
        </p:nvSpPr>
        <p:spPr>
          <a:xfrm xmlns:a="http://schemas.openxmlformats.org/drawingml/2006/main">
            <a:off x="685800" y="52959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17213A"/>
                </a:solidFill>
                <a:latin typeface="Arial"/>
                <a:ea typeface="Arial"/>
                <a:cs typeface="Arial"/>
              </a:defRPr>
            </a:pPr>
            <a:r>
              <a:rPr sz="1350" b="1">
                <a:solidFill>
                  <a:srgbClr val="17213A"/>
                </a:solidFill>
                <a:latin typeface="Arial"/>
                <a:ea typeface="Arial"/>
                <a:cs typeface="Arial"/>
              </a:rPr>
              <a:t>Object-only</a:t>
            </a:r>
          </a:p>
        </p:txBody>
      </p:sp>
      <p:sp>
        <p:nvSpPr>
          <p:cNvPr id="21" name="">
            <a:extLst xmlns:a="http://schemas.openxmlformats.org/drawingml/2006/main">
              <a:ext uri="{FF2B5EF4-FFF2-40B4-BE49-F238E27FC236}">
                <a16:creationId xmlns:a16="http://schemas.microsoft.com/office/drawing/2014/main" id="{EFA66586-DE98-4F92-859B-CCD01BBFA0BA}"/>
              </a:ext>
            </a:extLst>
          </p:cNvPr>
          <p:cNvSpPr>
            <a:spLocks xmlns:a="http://schemas.openxmlformats.org/drawingml/2006/main" noGrp="1"/>
          </p:cNvSpPr>
          <p:nvPr/>
        </p:nvSpPr>
        <p:spPr>
          <a:xfrm xmlns:a="http://schemas.openxmlformats.org/drawingml/2006/main">
            <a:off x="2476500" y="5334000"/>
            <a:ext cx="1143000" cy="209550"/>
          </a:xfrm>
          <a:prstGeom xmlns:a="http://schemas.openxmlformats.org/drawingml/2006/main" prst="roundRect">
            <a:avLst>
              <a:gd name="adj" fmla="val 50000"/>
            </a:avLst>
          </a:prstGeom>
          <a:solidFill xmlns:a="http://schemas.openxmlformats.org/drawingml/2006/main">
            <a:srgbClr val="2C67F2"/>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E22FA1E5-8562-4152-980C-ED3143C90CA4}"/>
              </a:ext>
            </a:extLst>
          </p:cNvPr>
          <p:cNvSpPr>
            <a:spLocks xmlns:a="http://schemas.openxmlformats.org/drawingml/2006/main" noGrp="1"/>
          </p:cNvSpPr>
          <p:nvPr/>
        </p:nvSpPr>
        <p:spPr>
          <a:xfrm xmlns:a="http://schemas.openxmlformats.org/drawingml/2006/main">
            <a:off x="10287000" y="5295900"/>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2C67F2"/>
                </a:solidFill>
                <a:latin typeface="Arial"/>
                <a:ea typeface="Arial"/>
                <a:cs typeface="Arial"/>
              </a:defRPr>
            </a:pPr>
            <a:r>
              <a:rPr sz="1200" b="1">
                <a:solidFill>
                  <a:srgbClr val="2C67F2"/>
                </a:solidFill>
                <a:latin typeface="Arial"/>
                <a:ea typeface="Arial"/>
                <a:cs typeface="Arial"/>
              </a:rPr>
              <a:t>zero</a:t>
            </a:r>
          </a:p>
        </p:txBody>
      </p:sp>
      <p:sp>
        <p:nvSpPr>
          <p:cNvPr id="23" name="">
            <a:extLst xmlns:a="http://schemas.openxmlformats.org/drawingml/2006/main">
              <a:ext uri="{FF2B5EF4-FFF2-40B4-BE49-F238E27FC236}">
                <a16:creationId xmlns:a16="http://schemas.microsoft.com/office/drawing/2014/main" id="{8E9DCA2F-468E-46B6-BCCE-461C941FB43E}"/>
              </a:ext>
            </a:extLst>
          </p:cNvPr>
          <p:cNvSpPr>
            <a:spLocks xmlns:a="http://schemas.openxmlformats.org/drawingml/2006/main" noGrp="1"/>
          </p:cNvSpPr>
          <p:nvPr/>
        </p:nvSpPr>
        <p:spPr>
          <a:xfrm xmlns:a="http://schemas.openxmlformats.org/drawingml/2006/main">
            <a:off x="685800" y="6019800"/>
            <a:ext cx="10858500" cy="342900"/>
          </a:xfrm>
          <a:prstGeom xmlns:a="http://schemas.openxmlformats.org/drawingml/2006/main" prst="rect">
            <a:avLst/>
          </a:prstGeom>
          <a:solidFill xmlns:a="http://schemas.openxmlformats.org/drawingml/2006/main">
            <a:srgbClr val="F6F8FC"/>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58FFB2DB-ED59-43F7-A5A7-FE65127D4361}"/>
              </a:ext>
            </a:extLst>
          </p:cNvPr>
          <p:cNvSpPr>
            <a:spLocks xmlns:a="http://schemas.openxmlformats.org/drawingml/2006/main" noGrp="1"/>
          </p:cNvSpPr>
          <p:nvPr/>
        </p:nvSpPr>
        <p:spPr>
          <a:xfrm xmlns:a="http://schemas.openxmlformats.org/drawingml/2006/main">
            <a:off x="857250" y="60579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417"/>
          </a:bodyPr>
          <a:lstStyle xmlns:a="http://schemas.openxmlformats.org/drawingml/2006/main"/>
          <a:p xmlns:a="http://schemas.openxmlformats.org/drawingml/2006/main">
            <a:pPr algn="l">
              <a:defRPr sz="1200" b="0">
                <a:solidFill>
                  <a:srgbClr val="62708D"/>
                </a:solidFill>
                <a:latin typeface="Arial"/>
                <a:ea typeface="Arial"/>
                <a:cs typeface="Arial"/>
              </a:defRPr>
            </a:pPr>
            <a:r>
              <a:rPr sz="1200" b="0">
                <a:solidFill>
                  <a:srgbClr val="62708D"/>
                </a:solidFill>
                <a:latin typeface="Arial"/>
                <a:ea typeface="Arial"/>
                <a:cs typeface="Arial"/>
              </a:rPr>
              <a:t>Wrist tracking defines the coordinate frame; the fixed-palm Allegro task does not treat wrist motion as a control variable.</a:t>
            </a:r>
          </a:p>
        </p:txBody>
      </p:sp>
      <p:sp>
        <p:nvSpPr>
          <p:cNvPr id="25" name="">
            <a:extLst xmlns:a="http://schemas.openxmlformats.org/drawingml/2006/main">
              <a:ext uri="{FF2B5EF4-FFF2-40B4-BE49-F238E27FC236}">
                <a16:creationId xmlns:a16="http://schemas.microsoft.com/office/drawing/2014/main" id="{12B2C872-3137-498E-A65A-11302204DBD7}"/>
              </a:ext>
            </a:extLst>
          </p:cNvPr>
          <p:cNvSpPr>
            <a:spLocks xmlns:a="http://schemas.openxmlformats.org/drawingml/2006/main" noGrp="1"/>
          </p:cNvSpPr>
          <p:nvPr/>
        </p:nvSpPr>
        <p:spPr>
          <a:xfrm xmlns:a="http://schemas.openxmlformats.org/drawingml/2006/main">
            <a:off x="609600" y="6496050"/>
            <a:ext cx="10382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a:solidFill>
                  <a:srgbClr val="62708D"/>
                </a:solidFill>
                <a:latin typeface="Arial"/>
                <a:ea typeface="Arial"/>
                <a:cs typeface="Arial"/>
              </a:defRPr>
            </a:pPr>
            <a:r>
              <a:rPr sz="825" b="0">
                <a:solidFill>
                  <a:srgbClr val="62708D"/>
                </a:solidFill>
                <a:latin typeface="Arial"/>
                <a:ea typeface="Arial"/>
                <a:cs typeface="Arial"/>
              </a:rPr>
              <a:t>Primary synergy setting: k = 4. A PCA-dimension ablation can test the compression-performance trade-off.</a:t>
            </a:r>
          </a:p>
        </p:txBody>
      </p:sp>
    </p:spTree>
    <p:extLst>
      <p:ext uri="{BB962C8B-B14F-4D97-AF65-F5344CB8AC3E}">
        <p14:creationId xmlns:p14="http://schemas.microsoft.com/office/powerpoint/2010/main" val="1181758861"/>
      </p:ext>
    </p:extLst>
  </p:cSld>
</p:sld>
</file>

<file path=ppt/slides/slide7.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AB928576-398E-4AB3-BCD5-9EAE890AA3B4}"/>
              </a:ext>
            </a:extLst>
          </p:cNvPr>
          <p:cNvSpPr>
            <a:spLocks xmlns:a="http://schemas.openxmlformats.org/drawingml/2006/main" noGrp="1"/>
          </p:cNvSpPr>
          <p:nvPr/>
        </p:nvSpPr>
        <p:spPr>
          <a:xfrm xmlns:a="http://schemas.openxmlformats.org/drawingml/2006/main">
            <a:off x="609600" y="4000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B1633"/>
                </a:solidFill>
                <a:latin typeface="Arial"/>
                <a:ea typeface="Arial"/>
                <a:cs typeface="Arial"/>
              </a:defRPr>
            </a:pPr>
            <a:r>
              <a:rPr sz="2550" b="1">
                <a:solidFill>
                  <a:srgbClr val="0B1633"/>
                </a:solidFill>
                <a:latin typeface="Arial"/>
                <a:ea typeface="Arial"/>
                <a:cs typeface="Arial"/>
              </a:rPr>
              <a:t>Evaluation separates final performance from learning speed</a:t>
            </a:r>
          </a:p>
        </p:txBody>
      </p:sp>
      <p:sp>
        <p:nvSpPr>
          <p:cNvPr id="2" name="">
            <a:extLst xmlns:a="http://schemas.openxmlformats.org/drawingml/2006/main">
              <a:ext uri="{FF2B5EF4-FFF2-40B4-BE49-F238E27FC236}">
                <a16:creationId xmlns:a16="http://schemas.microsoft.com/office/drawing/2014/main" id="{6F02AF53-4885-46D8-8013-2FB6F5A1491A}"/>
              </a:ext>
            </a:extLst>
          </p:cNvPr>
          <p:cNvSpPr>
            <a:spLocks xmlns:a="http://schemas.openxmlformats.org/drawingml/2006/main" noGrp="1"/>
          </p:cNvSpPr>
          <p:nvPr/>
        </p:nvSpPr>
        <p:spPr>
          <a:xfrm xmlns:a="http://schemas.openxmlformats.org/drawingml/2006/main">
            <a:off x="1104900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050" b="1">
                <a:solidFill>
                  <a:srgbClr val="2C67F2"/>
                </a:solidFill>
                <a:latin typeface="Arial"/>
                <a:ea typeface="Arial"/>
                <a:cs typeface="Arial"/>
              </a:defRPr>
            </a:pPr>
            <a:r>
              <a:rPr sz="1050" b="1">
                <a:solidFill>
                  <a:srgbClr val="2C67F2"/>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AD73B029-776C-455F-88F4-15764B385D73}"/>
              </a:ext>
            </a:extLst>
          </p:cNvPr>
          <p:cNvSpPr>
            <a:spLocks xmlns:a="http://schemas.openxmlformats.org/drawingml/2006/main" noGrp="1"/>
          </p:cNvSpPr>
          <p:nvPr/>
        </p:nvSpPr>
        <p:spPr>
          <a:xfrm xmlns:a="http://schemas.openxmlformats.org/drawingml/2006/main">
            <a:off x="685800" y="1381125"/>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28B78D"/>
                </a:solidFill>
                <a:latin typeface="Arial"/>
                <a:ea typeface="Arial"/>
                <a:cs typeface="Arial"/>
              </a:defRPr>
            </a:pPr>
            <a:r>
              <a:rPr sz="1500" b="1">
                <a:solidFill>
                  <a:srgbClr val="28B78D"/>
                </a:solidFill>
                <a:latin typeface="Arial"/>
                <a:ea typeface="Arial"/>
                <a:cs typeface="Arial"/>
              </a:rPr>
              <a:t>Success rate</a:t>
            </a:r>
          </a:p>
        </p:txBody>
      </p:sp>
      <p:sp>
        <p:nvSpPr>
          <p:cNvPr id="4" name="">
            <a:extLst xmlns:a="http://schemas.openxmlformats.org/drawingml/2006/main">
              <a:ext uri="{FF2B5EF4-FFF2-40B4-BE49-F238E27FC236}">
                <a16:creationId xmlns:a16="http://schemas.microsoft.com/office/drawing/2014/main" id="{2A486BD3-2281-4612-9100-EBA137E83D82}"/>
              </a:ext>
            </a:extLst>
          </p:cNvPr>
          <p:cNvSpPr>
            <a:spLocks xmlns:a="http://schemas.openxmlformats.org/drawingml/2006/main" noGrp="1"/>
          </p:cNvSpPr>
          <p:nvPr/>
        </p:nvSpPr>
        <p:spPr>
          <a:xfrm xmlns:a="http://schemas.openxmlformats.org/drawingml/2006/main">
            <a:off x="685800" y="1847850"/>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0B1633"/>
                </a:solidFill>
                <a:latin typeface="Arial"/>
                <a:ea typeface="Arial"/>
                <a:cs typeface="Arial"/>
              </a:defRPr>
            </a:pPr>
            <a:r>
              <a:rPr sz="2700" b="1">
                <a:solidFill>
                  <a:srgbClr val="0B1633"/>
                </a:solidFill>
                <a:latin typeface="Arial"/>
                <a:ea typeface="Arial"/>
                <a:cs typeface="Arial"/>
              </a:rPr>
              <a:t>SR</a:t>
            </a:r>
          </a:p>
        </p:txBody>
      </p:sp>
      <p:sp>
        <p:nvSpPr>
          <p:cNvPr id="5" name="">
            <a:extLst xmlns:a="http://schemas.openxmlformats.org/drawingml/2006/main">
              <a:ext uri="{FF2B5EF4-FFF2-40B4-BE49-F238E27FC236}">
                <a16:creationId xmlns:a16="http://schemas.microsoft.com/office/drawing/2014/main" id="{603E45F2-AC54-4AF5-85F3-26F833561952}"/>
              </a:ext>
            </a:extLst>
          </p:cNvPr>
          <p:cNvSpPr>
            <a:spLocks xmlns:a="http://schemas.openxmlformats.org/drawingml/2006/main" noGrp="1"/>
          </p:cNvSpPr>
          <p:nvPr/>
        </p:nvSpPr>
        <p:spPr>
          <a:xfrm xmlns:a="http://schemas.openxmlformats.org/drawingml/2006/main">
            <a:off x="685800" y="2647950"/>
            <a:ext cx="2857500" cy="19050"/>
          </a:xfrm>
          <a:prstGeom xmlns:a="http://schemas.openxmlformats.org/drawingml/2006/main" prst="rect">
            <a:avLst/>
          </a:prstGeom>
          <a:solidFill xmlns:a="http://schemas.openxmlformats.org/drawingml/2006/main">
            <a:srgbClr val="28B78D"/>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28A8926-700E-48D8-9F89-C9DE0522BF93}"/>
              </a:ext>
            </a:extLst>
          </p:cNvPr>
          <p:cNvSpPr>
            <a:spLocks xmlns:a="http://schemas.openxmlformats.org/drawingml/2006/main" noGrp="1"/>
          </p:cNvSpPr>
          <p:nvPr/>
        </p:nvSpPr>
        <p:spPr>
          <a:xfrm xmlns:a="http://schemas.openxmlformats.org/drawingml/2006/main">
            <a:off x="685800" y="2857500"/>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3A"/>
                </a:solidFill>
                <a:latin typeface="Arial"/>
                <a:ea typeface="Arial"/>
                <a:cs typeface="Arial"/>
              </a:defRPr>
            </a:pPr>
            <a:r>
              <a:rPr sz="1350" b="0">
                <a:solidFill>
                  <a:srgbClr val="17213A"/>
                </a:solidFill>
                <a:latin typeface="Arial"/>
                <a:ea typeface="Arial"/>
                <a:cs typeface="Arial"/>
              </a:rPr>
              <a:t>Final task completion across held-out episodes</a:t>
            </a:r>
          </a:p>
        </p:txBody>
      </p:sp>
      <p:sp>
        <p:nvSpPr>
          <p:cNvPr id="7" name="">
            <a:extLst xmlns:a="http://schemas.openxmlformats.org/drawingml/2006/main">
              <a:ext uri="{FF2B5EF4-FFF2-40B4-BE49-F238E27FC236}">
                <a16:creationId xmlns:a16="http://schemas.microsoft.com/office/drawing/2014/main" id="{ACBE308F-743F-4FA1-B274-A3A17BBC0ABA}"/>
              </a:ext>
            </a:extLst>
          </p:cNvPr>
          <p:cNvSpPr>
            <a:spLocks xmlns:a="http://schemas.openxmlformats.org/drawingml/2006/main" noGrp="1"/>
          </p:cNvSpPr>
          <p:nvPr/>
        </p:nvSpPr>
        <p:spPr>
          <a:xfrm xmlns:a="http://schemas.openxmlformats.org/drawingml/2006/main">
            <a:off x="4095750" y="1381125"/>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F8A5B"/>
                </a:solidFill>
                <a:latin typeface="Arial"/>
                <a:ea typeface="Arial"/>
                <a:cs typeface="Arial"/>
              </a:defRPr>
            </a:pPr>
            <a:r>
              <a:rPr sz="1500" b="1">
                <a:solidFill>
                  <a:srgbClr val="FF8A5B"/>
                </a:solidFill>
                <a:latin typeface="Arial"/>
                <a:ea typeface="Arial"/>
                <a:cs typeface="Arial"/>
              </a:rPr>
              <a:t>Sample efficiency</a:t>
            </a:r>
          </a:p>
        </p:txBody>
      </p:sp>
      <p:sp>
        <p:nvSpPr>
          <p:cNvPr id="8" name="">
            <a:extLst xmlns:a="http://schemas.openxmlformats.org/drawingml/2006/main">
              <a:ext uri="{FF2B5EF4-FFF2-40B4-BE49-F238E27FC236}">
                <a16:creationId xmlns:a16="http://schemas.microsoft.com/office/drawing/2014/main" id="{669B8B3A-FD9D-491E-B396-73C8FE0FB18E}"/>
              </a:ext>
            </a:extLst>
          </p:cNvPr>
          <p:cNvSpPr>
            <a:spLocks xmlns:a="http://schemas.openxmlformats.org/drawingml/2006/main" noGrp="1"/>
          </p:cNvSpPr>
          <p:nvPr/>
        </p:nvSpPr>
        <p:spPr>
          <a:xfrm xmlns:a="http://schemas.openxmlformats.org/drawingml/2006/main">
            <a:off x="4095750" y="1847850"/>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0B1633"/>
                </a:solidFill>
                <a:latin typeface="Arial"/>
                <a:ea typeface="Arial"/>
                <a:cs typeface="Arial"/>
              </a:defRPr>
            </a:pPr>
            <a:r>
              <a:rPr sz="2700" b="1">
                <a:solidFill>
                  <a:srgbClr val="0B1633"/>
                </a:solidFill>
                <a:latin typeface="Arial"/>
                <a:ea typeface="Arial"/>
                <a:cs typeface="Arial"/>
              </a:rPr>
              <a:t>N₈₀</a:t>
            </a:r>
          </a:p>
        </p:txBody>
      </p:sp>
      <p:sp>
        <p:nvSpPr>
          <p:cNvPr id="9" name="">
            <a:extLst xmlns:a="http://schemas.openxmlformats.org/drawingml/2006/main">
              <a:ext uri="{FF2B5EF4-FFF2-40B4-BE49-F238E27FC236}">
                <a16:creationId xmlns:a16="http://schemas.microsoft.com/office/drawing/2014/main" id="{DEE53BBE-309D-42EC-A96D-0A0D8EB531CC}"/>
              </a:ext>
            </a:extLst>
          </p:cNvPr>
          <p:cNvSpPr>
            <a:spLocks xmlns:a="http://schemas.openxmlformats.org/drawingml/2006/main" noGrp="1"/>
          </p:cNvSpPr>
          <p:nvPr/>
        </p:nvSpPr>
        <p:spPr>
          <a:xfrm xmlns:a="http://schemas.openxmlformats.org/drawingml/2006/main">
            <a:off x="4095750" y="2647950"/>
            <a:ext cx="2857500" cy="19050"/>
          </a:xfrm>
          <a:prstGeom xmlns:a="http://schemas.openxmlformats.org/drawingml/2006/main" prst="rect">
            <a:avLst/>
          </a:prstGeom>
          <a:solidFill xmlns:a="http://schemas.openxmlformats.org/drawingml/2006/main">
            <a:srgbClr val="FF8A5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A331ABA-4527-48FE-8050-EC3A05D95F10}"/>
              </a:ext>
            </a:extLst>
          </p:cNvPr>
          <p:cNvSpPr>
            <a:spLocks xmlns:a="http://schemas.openxmlformats.org/drawingml/2006/main" noGrp="1"/>
          </p:cNvSpPr>
          <p:nvPr/>
        </p:nvSpPr>
        <p:spPr>
          <a:xfrm xmlns:a="http://schemas.openxmlformats.org/drawingml/2006/main">
            <a:off x="4095750" y="2857500"/>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3A"/>
                </a:solidFill>
                <a:latin typeface="Arial"/>
                <a:ea typeface="Arial"/>
                <a:cs typeface="Arial"/>
              </a:defRPr>
            </a:pPr>
            <a:r>
              <a:rPr sz="1350" b="0">
                <a:solidFill>
                  <a:srgbClr val="17213A"/>
                </a:solidFill>
                <a:latin typeface="Arial"/>
                <a:ea typeface="Arial"/>
                <a:cs typeface="Arial"/>
              </a:rPr>
              <a:t>Steps required to reach 80% success</a:t>
            </a:r>
          </a:p>
        </p:txBody>
      </p:sp>
      <p:sp>
        <p:nvSpPr>
          <p:cNvPr id="11" name="">
            <a:extLst xmlns:a="http://schemas.openxmlformats.org/drawingml/2006/main">
              <a:ext uri="{FF2B5EF4-FFF2-40B4-BE49-F238E27FC236}">
                <a16:creationId xmlns:a16="http://schemas.microsoft.com/office/drawing/2014/main" id="{E3C271BF-841B-4EA1-BC7E-54A9FBE3239C}"/>
              </a:ext>
            </a:extLst>
          </p:cNvPr>
          <p:cNvSpPr>
            <a:spLocks xmlns:a="http://schemas.openxmlformats.org/drawingml/2006/main" noGrp="1"/>
          </p:cNvSpPr>
          <p:nvPr/>
        </p:nvSpPr>
        <p:spPr>
          <a:xfrm xmlns:a="http://schemas.openxmlformats.org/drawingml/2006/main">
            <a:off x="7505700" y="1381125"/>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2C67F2"/>
                </a:solidFill>
                <a:latin typeface="Arial"/>
                <a:ea typeface="Arial"/>
                <a:cs typeface="Arial"/>
              </a:defRPr>
            </a:pPr>
            <a:r>
              <a:rPr sz="1500" b="1">
                <a:solidFill>
                  <a:srgbClr val="2C67F2"/>
                </a:solidFill>
                <a:latin typeface="Arial"/>
                <a:ea typeface="Arial"/>
                <a:cs typeface="Arial"/>
              </a:rPr>
              <a:t>Learning-curve AUC</a:t>
            </a:r>
          </a:p>
        </p:txBody>
      </p:sp>
      <p:sp>
        <p:nvSpPr>
          <p:cNvPr id="12" name="">
            <a:extLst xmlns:a="http://schemas.openxmlformats.org/drawingml/2006/main">
              <a:ext uri="{FF2B5EF4-FFF2-40B4-BE49-F238E27FC236}">
                <a16:creationId xmlns:a16="http://schemas.microsoft.com/office/drawing/2014/main" id="{F85D292D-82C8-4B59-81E4-0CDB71A1F696}"/>
              </a:ext>
            </a:extLst>
          </p:cNvPr>
          <p:cNvSpPr>
            <a:spLocks xmlns:a="http://schemas.openxmlformats.org/drawingml/2006/main" noGrp="1"/>
          </p:cNvSpPr>
          <p:nvPr/>
        </p:nvSpPr>
        <p:spPr>
          <a:xfrm xmlns:a="http://schemas.openxmlformats.org/drawingml/2006/main">
            <a:off x="7505700" y="1847850"/>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196"/>
          </a:bodyPr>
          <a:lstStyle xmlns:a="http://schemas.openxmlformats.org/drawingml/2006/main"/>
          <a:p xmlns:a="http://schemas.openxmlformats.org/drawingml/2006/main">
            <a:pPr algn="l">
              <a:defRPr sz="2700" b="1">
                <a:solidFill>
                  <a:srgbClr val="0B1633"/>
                </a:solidFill>
                <a:latin typeface="Arial"/>
                <a:ea typeface="Arial"/>
                <a:cs typeface="Arial"/>
              </a:defRPr>
            </a:pPr>
            <a:r>
              <a:rPr sz="2700" b="1">
                <a:solidFill>
                  <a:srgbClr val="0B1633"/>
                </a:solidFill>
                <a:latin typeface="Arial"/>
                <a:ea typeface="Arial"/>
                <a:cs typeface="Arial"/>
              </a:rPr>
              <a:t>AUC = ∫ SR(n) dn</a:t>
            </a:r>
          </a:p>
        </p:txBody>
      </p:sp>
      <p:sp>
        <p:nvSpPr>
          <p:cNvPr id="13" name="">
            <a:extLst xmlns:a="http://schemas.openxmlformats.org/drawingml/2006/main">
              <a:ext uri="{FF2B5EF4-FFF2-40B4-BE49-F238E27FC236}">
                <a16:creationId xmlns:a16="http://schemas.microsoft.com/office/drawing/2014/main" id="{1823D0B5-5BF7-4079-BD07-5E4A927B82A3}"/>
              </a:ext>
            </a:extLst>
          </p:cNvPr>
          <p:cNvSpPr>
            <a:spLocks xmlns:a="http://schemas.openxmlformats.org/drawingml/2006/main" noGrp="1"/>
          </p:cNvSpPr>
          <p:nvPr/>
        </p:nvSpPr>
        <p:spPr>
          <a:xfrm xmlns:a="http://schemas.openxmlformats.org/drawingml/2006/main">
            <a:off x="7505700" y="2647950"/>
            <a:ext cx="2857500" cy="19050"/>
          </a:xfrm>
          <a:prstGeom xmlns:a="http://schemas.openxmlformats.org/drawingml/2006/main" prst="rect">
            <a:avLst/>
          </a:prstGeom>
          <a:solidFill xmlns:a="http://schemas.openxmlformats.org/drawingml/2006/main">
            <a:srgbClr val="2C67F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4ED3053-426E-4C35-8FC4-79EB5FECFF63}"/>
              </a:ext>
            </a:extLst>
          </p:cNvPr>
          <p:cNvSpPr>
            <a:spLocks xmlns:a="http://schemas.openxmlformats.org/drawingml/2006/main" noGrp="1"/>
          </p:cNvSpPr>
          <p:nvPr/>
        </p:nvSpPr>
        <p:spPr>
          <a:xfrm xmlns:a="http://schemas.openxmlformats.org/drawingml/2006/main">
            <a:off x="7505700" y="2857500"/>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3A"/>
                </a:solidFill>
                <a:latin typeface="Arial"/>
                <a:ea typeface="Arial"/>
                <a:cs typeface="Arial"/>
              </a:defRPr>
            </a:pPr>
            <a:r>
              <a:rPr sz="1350" b="0">
                <a:solidFill>
                  <a:srgbClr val="17213A"/>
                </a:solidFill>
                <a:latin typeface="Arial"/>
                <a:ea typeface="Arial"/>
                <a:cs typeface="Arial"/>
              </a:rPr>
              <a:t>Performance accumulated over the full training budget</a:t>
            </a:r>
          </a:p>
        </p:txBody>
      </p:sp>
      <p:sp>
        <p:nvSpPr>
          <p:cNvPr id="15" name="">
            <a:extLst xmlns:a="http://schemas.openxmlformats.org/drawingml/2006/main">
              <a:ext uri="{FF2B5EF4-FFF2-40B4-BE49-F238E27FC236}">
                <a16:creationId xmlns:a16="http://schemas.microsoft.com/office/drawing/2014/main" id="{D67E4D45-034E-43DC-87D2-28A3B5AE169C}"/>
              </a:ext>
            </a:extLst>
          </p:cNvPr>
          <p:cNvSpPr>
            <a:spLocks xmlns:a="http://schemas.openxmlformats.org/drawingml/2006/main" noGrp="1"/>
          </p:cNvSpPr>
          <p:nvPr/>
        </p:nvSpPr>
        <p:spPr>
          <a:xfrm xmlns:a="http://schemas.openxmlformats.org/drawingml/2006/main">
            <a:off x="685800" y="4000500"/>
            <a:ext cx="10858500" cy="9525"/>
          </a:xfrm>
          <a:prstGeom xmlns:a="http://schemas.openxmlformats.org/drawingml/2006/main" prst="rect">
            <a:avLst/>
          </a:prstGeom>
          <a:solidFill xmlns:a="http://schemas.openxmlformats.org/drawingml/2006/main">
            <a:srgbClr val="D9E0EC"/>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EBB711D-3EC9-4ABC-819D-576B7D480477}"/>
              </a:ext>
            </a:extLst>
          </p:cNvPr>
          <p:cNvSpPr>
            <a:spLocks xmlns:a="http://schemas.openxmlformats.org/drawingml/2006/main" noGrp="1"/>
          </p:cNvSpPr>
          <p:nvPr/>
        </p:nvSpPr>
        <p:spPr>
          <a:xfrm xmlns:a="http://schemas.openxmlformats.org/drawingml/2006/main">
            <a:off x="685800" y="43053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B1633"/>
                </a:solidFill>
                <a:latin typeface="Arial"/>
                <a:ea typeface="Arial"/>
                <a:cs typeface="Arial"/>
              </a:defRPr>
            </a:pPr>
            <a:r>
              <a:rPr sz="1575" b="1">
                <a:solidFill>
                  <a:srgbClr val="0B1633"/>
                </a:solidFill>
                <a:latin typeface="Arial"/>
                <a:ea typeface="Arial"/>
                <a:cs typeface="Arial"/>
              </a:rPr>
              <a:t>Experiment scale</a:t>
            </a:r>
          </a:p>
        </p:txBody>
      </p:sp>
      <p:sp>
        <p:nvSpPr>
          <p:cNvPr id="17" name="">
            <a:extLst xmlns:a="http://schemas.openxmlformats.org/drawingml/2006/main">
              <a:ext uri="{FF2B5EF4-FFF2-40B4-BE49-F238E27FC236}">
                <a16:creationId xmlns:a16="http://schemas.microsoft.com/office/drawing/2014/main" id="{0C8025B5-803B-4F23-BB3B-21B0287F2F6C}"/>
              </a:ext>
            </a:extLst>
          </p:cNvPr>
          <p:cNvSpPr>
            <a:spLocks xmlns:a="http://schemas.openxmlformats.org/drawingml/2006/main" noGrp="1"/>
          </p:cNvSpPr>
          <p:nvPr/>
        </p:nvSpPr>
        <p:spPr>
          <a:xfrm xmlns:a="http://schemas.openxmlformats.org/drawingml/2006/main">
            <a:off x="2857500" y="4171950"/>
            <a:ext cx="2095500" cy="685800"/>
          </a:xfrm>
          <a:prstGeom xmlns:a="http://schemas.openxmlformats.org/drawingml/2006/main" prst="roundRect">
            <a:avLst>
              <a:gd name="adj" fmla="val 19444"/>
            </a:avLst>
          </a:prstGeom>
          <a:solidFill xmlns:a="http://schemas.openxmlformats.org/drawingml/2006/main">
            <a:srgbClr val="FFFFFF"/>
          </a:solidFill>
          <a:ln xmlns:a="http://schemas.openxmlformats.org/drawingml/2006/main" w="9525">
            <a:solidFill>
              <a:srgbClr val="D9E0EC"/>
            </a:solidFill>
            <a:prstDash val="solid"/>
          </a:ln>
        </p:spPr>
      </p:sp>
      <p:sp>
        <p:nvSpPr>
          <p:cNvPr id="18" name="">
            <a:extLst xmlns:a="http://schemas.openxmlformats.org/drawingml/2006/main">
              <a:ext uri="{FF2B5EF4-FFF2-40B4-BE49-F238E27FC236}">
                <a16:creationId xmlns:a16="http://schemas.microsoft.com/office/drawing/2014/main" id="{38E69F28-6BEA-46CD-911E-AE6519086977}"/>
              </a:ext>
            </a:extLst>
          </p:cNvPr>
          <p:cNvSpPr>
            <a:spLocks xmlns:a="http://schemas.openxmlformats.org/drawingml/2006/main" noGrp="1"/>
          </p:cNvSpPr>
          <p:nvPr/>
        </p:nvSpPr>
        <p:spPr>
          <a:xfrm xmlns:a="http://schemas.openxmlformats.org/drawingml/2006/main">
            <a:off x="3000375" y="426720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1930"/>
          </a:bodyPr>
          <a:lstStyle xmlns:a="http://schemas.openxmlformats.org/drawingml/2006/main"/>
          <a:p xmlns:a="http://schemas.openxmlformats.org/drawingml/2006/main">
            <a:pPr algn="ctr">
              <a:defRPr sz="1425" b="1">
                <a:solidFill>
                  <a:srgbClr val="0B1633"/>
                </a:solidFill>
                <a:latin typeface="Arial"/>
                <a:ea typeface="Arial"/>
                <a:cs typeface="Arial"/>
              </a:defRPr>
            </a:pPr>
            <a:r>
              <a:rPr sz="1425" b="1">
                <a:solidFill>
                  <a:srgbClr val="0B1633"/>
                </a:solidFill>
                <a:latin typeface="Arial"/>
                <a:ea typeface="Arial"/>
                <a:cs typeface="Arial"/>
              </a:rPr>
              <a:t>1 seed</a:t>
            </a:r>
          </a:p>
        </p:txBody>
      </p:sp>
      <p:sp>
        <p:nvSpPr>
          <p:cNvPr id="19" name="">
            <a:extLst xmlns:a="http://schemas.openxmlformats.org/drawingml/2006/main">
              <a:ext uri="{FF2B5EF4-FFF2-40B4-BE49-F238E27FC236}">
                <a16:creationId xmlns:a16="http://schemas.microsoft.com/office/drawing/2014/main" id="{8778E10D-8E59-4D42-84B6-AD7992475351}"/>
              </a:ext>
            </a:extLst>
          </p:cNvPr>
          <p:cNvSpPr>
            <a:spLocks xmlns:a="http://schemas.openxmlformats.org/drawingml/2006/main" noGrp="1"/>
          </p:cNvSpPr>
          <p:nvPr/>
        </p:nvSpPr>
        <p:spPr>
          <a:xfrm xmlns:a="http://schemas.openxmlformats.org/drawingml/2006/main">
            <a:off x="3000375" y="45529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8889"/>
          </a:bodyPr>
          <a:lstStyle xmlns:a="http://schemas.openxmlformats.org/drawingml/2006/main"/>
          <a:p xmlns:a="http://schemas.openxmlformats.org/drawingml/2006/main">
            <a:pPr algn="ctr">
              <a:defRPr sz="1125" b="0">
                <a:solidFill>
                  <a:srgbClr val="62708D"/>
                </a:solidFill>
                <a:latin typeface="Arial"/>
                <a:ea typeface="Arial"/>
                <a:cs typeface="Arial"/>
              </a:defRPr>
            </a:pPr>
            <a:r>
              <a:rPr sz="1125" b="0">
                <a:solidFill>
                  <a:srgbClr val="62708D"/>
                </a:solidFill>
                <a:latin typeface="Arial"/>
                <a:ea typeface="Arial"/>
                <a:cs typeface="Arial"/>
              </a:rPr>
              <a:t>debugging</a:t>
            </a:r>
          </a:p>
        </p:txBody>
      </p:sp>
      <p:sp>
        <p:nvSpPr>
          <p:cNvPr id="20" name="">
            <a:extLst xmlns:a="http://schemas.openxmlformats.org/drawingml/2006/main">
              <a:ext uri="{FF2B5EF4-FFF2-40B4-BE49-F238E27FC236}">
                <a16:creationId xmlns:a16="http://schemas.microsoft.com/office/drawing/2014/main" id="{D11A0878-2BAD-4C4E-B4C4-5A6A02B33180}"/>
              </a:ext>
            </a:extLst>
          </p:cNvPr>
          <p:cNvSpPr>
            <a:spLocks xmlns:a="http://schemas.openxmlformats.org/drawingml/2006/main" noGrp="1"/>
          </p:cNvSpPr>
          <p:nvPr/>
        </p:nvSpPr>
        <p:spPr>
          <a:xfrm xmlns:a="http://schemas.openxmlformats.org/drawingml/2006/main">
            <a:off x="5334000" y="4171950"/>
            <a:ext cx="2095500" cy="685800"/>
          </a:xfrm>
          <a:prstGeom xmlns:a="http://schemas.openxmlformats.org/drawingml/2006/main" prst="roundRect">
            <a:avLst>
              <a:gd name="adj" fmla="val 19444"/>
            </a:avLst>
          </a:prstGeom>
          <a:solidFill xmlns:a="http://schemas.openxmlformats.org/drawingml/2006/main">
            <a:srgbClr val="FFFFFF"/>
          </a:solidFill>
          <a:ln xmlns:a="http://schemas.openxmlformats.org/drawingml/2006/main" w="9525">
            <a:solidFill>
              <a:srgbClr val="D9E0EC"/>
            </a:solidFill>
            <a:prstDash val="solid"/>
          </a:ln>
        </p:spPr>
      </p:sp>
      <p:sp>
        <p:nvSpPr>
          <p:cNvPr id="21" name="">
            <a:extLst xmlns:a="http://schemas.openxmlformats.org/drawingml/2006/main">
              <a:ext uri="{FF2B5EF4-FFF2-40B4-BE49-F238E27FC236}">
                <a16:creationId xmlns:a16="http://schemas.microsoft.com/office/drawing/2014/main" id="{09B0FE85-E378-452A-87C6-946A51D64A07}"/>
              </a:ext>
            </a:extLst>
          </p:cNvPr>
          <p:cNvSpPr>
            <a:spLocks xmlns:a="http://schemas.openxmlformats.org/drawingml/2006/main" noGrp="1"/>
          </p:cNvSpPr>
          <p:nvPr/>
        </p:nvSpPr>
        <p:spPr>
          <a:xfrm xmlns:a="http://schemas.openxmlformats.org/drawingml/2006/main">
            <a:off x="5476875" y="426720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1930"/>
          </a:bodyPr>
          <a:lstStyle xmlns:a="http://schemas.openxmlformats.org/drawingml/2006/main"/>
          <a:p xmlns:a="http://schemas.openxmlformats.org/drawingml/2006/main">
            <a:pPr algn="ctr">
              <a:defRPr sz="1425" b="1">
                <a:solidFill>
                  <a:srgbClr val="0B1633"/>
                </a:solidFill>
                <a:latin typeface="Arial"/>
                <a:ea typeface="Arial"/>
                <a:cs typeface="Arial"/>
              </a:defRPr>
            </a:pPr>
            <a:r>
              <a:rPr sz="1425" b="1">
                <a:solidFill>
                  <a:srgbClr val="0B1633"/>
                </a:solidFill>
                <a:latin typeface="Arial"/>
                <a:ea typeface="Arial"/>
                <a:cs typeface="Arial"/>
              </a:rPr>
              <a:t>3 seeds</a:t>
            </a:r>
          </a:p>
        </p:txBody>
      </p:sp>
      <p:sp>
        <p:nvSpPr>
          <p:cNvPr id="22" name="">
            <a:extLst xmlns:a="http://schemas.openxmlformats.org/drawingml/2006/main">
              <a:ext uri="{FF2B5EF4-FFF2-40B4-BE49-F238E27FC236}">
                <a16:creationId xmlns:a16="http://schemas.microsoft.com/office/drawing/2014/main" id="{8B1F368B-E561-4C8F-954A-3718D128D185}"/>
              </a:ext>
            </a:extLst>
          </p:cNvPr>
          <p:cNvSpPr>
            <a:spLocks xmlns:a="http://schemas.openxmlformats.org/drawingml/2006/main" noGrp="1"/>
          </p:cNvSpPr>
          <p:nvPr/>
        </p:nvSpPr>
        <p:spPr>
          <a:xfrm xmlns:a="http://schemas.openxmlformats.org/drawingml/2006/main">
            <a:off x="5476875" y="45529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8889"/>
          </a:bodyPr>
          <a:lstStyle xmlns:a="http://schemas.openxmlformats.org/drawingml/2006/main"/>
          <a:p xmlns:a="http://schemas.openxmlformats.org/drawingml/2006/main">
            <a:pPr algn="ctr">
              <a:defRPr sz="1125" b="0">
                <a:solidFill>
                  <a:srgbClr val="62708D"/>
                </a:solidFill>
                <a:latin typeface="Arial"/>
                <a:ea typeface="Arial"/>
                <a:cs typeface="Arial"/>
              </a:defRPr>
            </a:pPr>
            <a:r>
              <a:rPr sz="1125" b="0">
                <a:solidFill>
                  <a:srgbClr val="62708D"/>
                </a:solidFill>
                <a:latin typeface="Arial"/>
                <a:ea typeface="Arial"/>
                <a:cs typeface="Arial"/>
              </a:rPr>
              <a:t>pilot</a:t>
            </a:r>
          </a:p>
        </p:txBody>
      </p:sp>
      <p:sp>
        <p:nvSpPr>
          <p:cNvPr id="23" name="">
            <a:extLst xmlns:a="http://schemas.openxmlformats.org/drawingml/2006/main">
              <a:ext uri="{FF2B5EF4-FFF2-40B4-BE49-F238E27FC236}">
                <a16:creationId xmlns:a16="http://schemas.microsoft.com/office/drawing/2014/main" id="{7731448F-889A-48AA-97C9-2C710E02F5BA}"/>
              </a:ext>
            </a:extLst>
          </p:cNvPr>
          <p:cNvSpPr>
            <a:spLocks xmlns:a="http://schemas.openxmlformats.org/drawingml/2006/main" noGrp="1"/>
          </p:cNvSpPr>
          <p:nvPr/>
        </p:nvSpPr>
        <p:spPr>
          <a:xfrm xmlns:a="http://schemas.openxmlformats.org/drawingml/2006/main">
            <a:off x="7810500" y="4171950"/>
            <a:ext cx="2095500" cy="685800"/>
          </a:xfrm>
          <a:prstGeom xmlns:a="http://schemas.openxmlformats.org/drawingml/2006/main" prst="roundRect">
            <a:avLst>
              <a:gd name="adj" fmla="val 19444"/>
            </a:avLst>
          </a:prstGeom>
          <a:solidFill xmlns:a="http://schemas.openxmlformats.org/drawingml/2006/main">
            <a:srgbClr val="0B1633"/>
          </a:solidFill>
          <a:ln xmlns:a="http://schemas.openxmlformats.org/drawingml/2006/main" w="9525">
            <a:solidFill>
              <a:srgbClr val="0B1633"/>
            </a:solidFill>
            <a:prstDash val="solid"/>
          </a:ln>
        </p:spPr>
      </p:sp>
      <p:sp>
        <p:nvSpPr>
          <p:cNvPr id="24" name="">
            <a:extLst xmlns:a="http://schemas.openxmlformats.org/drawingml/2006/main">
              <a:ext uri="{FF2B5EF4-FFF2-40B4-BE49-F238E27FC236}">
                <a16:creationId xmlns:a16="http://schemas.microsoft.com/office/drawing/2014/main" id="{6E70C30D-EEBF-4392-A73C-2DB4F41239CF}"/>
              </a:ext>
            </a:extLst>
          </p:cNvPr>
          <p:cNvSpPr>
            <a:spLocks xmlns:a="http://schemas.openxmlformats.org/drawingml/2006/main" noGrp="1"/>
          </p:cNvSpPr>
          <p:nvPr/>
        </p:nvSpPr>
        <p:spPr>
          <a:xfrm xmlns:a="http://schemas.openxmlformats.org/drawingml/2006/main">
            <a:off x="7953375" y="426720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193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5 seeds</a:t>
            </a:r>
          </a:p>
        </p:txBody>
      </p:sp>
      <p:sp>
        <p:nvSpPr>
          <p:cNvPr id="25" name="">
            <a:extLst xmlns:a="http://schemas.openxmlformats.org/drawingml/2006/main">
              <a:ext uri="{FF2B5EF4-FFF2-40B4-BE49-F238E27FC236}">
                <a16:creationId xmlns:a16="http://schemas.microsoft.com/office/drawing/2014/main" id="{8E2FFE98-191E-41F0-9674-5843067B6DF3}"/>
              </a:ext>
            </a:extLst>
          </p:cNvPr>
          <p:cNvSpPr>
            <a:spLocks xmlns:a="http://schemas.openxmlformats.org/drawingml/2006/main" noGrp="1"/>
          </p:cNvSpPr>
          <p:nvPr/>
        </p:nvSpPr>
        <p:spPr>
          <a:xfrm xmlns:a="http://schemas.openxmlformats.org/drawingml/2006/main">
            <a:off x="7953375" y="45529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8889"/>
          </a:bodyPr>
          <a:lstStyle xmlns:a="http://schemas.openxmlformats.org/drawingml/2006/main"/>
          <a:p xmlns:a="http://schemas.openxmlformats.org/drawingml/2006/main">
            <a:pPr algn="ctr">
              <a:defRPr sz="1125" b="0">
                <a:solidFill>
                  <a:srgbClr val="34D5E5"/>
                </a:solidFill>
                <a:latin typeface="Arial"/>
                <a:ea typeface="Arial"/>
                <a:cs typeface="Arial"/>
              </a:defRPr>
            </a:pPr>
            <a:r>
              <a:rPr sz="1125" b="0">
                <a:solidFill>
                  <a:srgbClr val="34D5E5"/>
                </a:solidFill>
                <a:latin typeface="Arial"/>
                <a:ea typeface="Arial"/>
                <a:cs typeface="Arial"/>
              </a:rPr>
              <a:t>final</a:t>
            </a:r>
          </a:p>
        </p:txBody>
      </p:sp>
      <p:sp>
        <p:nvSpPr>
          <p:cNvPr id="26" name="">
            <a:extLst xmlns:a="http://schemas.openxmlformats.org/drawingml/2006/main">
              <a:ext uri="{FF2B5EF4-FFF2-40B4-BE49-F238E27FC236}">
                <a16:creationId xmlns:a16="http://schemas.microsoft.com/office/drawing/2014/main" id="{9D06F012-4F3D-4903-B010-C22BDAFE7BD3}"/>
              </a:ext>
            </a:extLst>
          </p:cNvPr>
          <p:cNvSpPr>
            <a:spLocks xmlns:a="http://schemas.openxmlformats.org/drawingml/2006/main" noGrp="1"/>
          </p:cNvSpPr>
          <p:nvPr/>
        </p:nvSpPr>
        <p:spPr>
          <a:xfrm xmlns:a="http://schemas.openxmlformats.org/drawingml/2006/main">
            <a:off x="685800" y="5334000"/>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lgn="l">
              <a:defRPr sz="1350" b="1">
                <a:solidFill>
                  <a:srgbClr val="2C67F2"/>
                </a:solidFill>
                <a:latin typeface="Arial"/>
                <a:ea typeface="Arial"/>
                <a:cs typeface="Arial"/>
              </a:defRPr>
            </a:pPr>
            <a:r>
              <a:rPr sz="1350" b="1">
                <a:solidFill>
                  <a:srgbClr val="2C67F2"/>
                </a:solidFill>
                <a:latin typeface="Arial"/>
                <a:ea typeface="Arial"/>
                <a:cs typeface="Arial"/>
              </a:rPr>
              <a:t>Secondary checks</a:t>
            </a:r>
          </a:p>
        </p:txBody>
      </p:sp>
      <p:sp>
        <p:nvSpPr>
          <p:cNvPr id="27" name="">
            <a:extLst xmlns:a="http://schemas.openxmlformats.org/drawingml/2006/main">
              <a:ext uri="{FF2B5EF4-FFF2-40B4-BE49-F238E27FC236}">
                <a16:creationId xmlns:a16="http://schemas.microsoft.com/office/drawing/2014/main" id="{0EB1AD1E-FF5A-4061-8FC4-A70D762E7C9A}"/>
              </a:ext>
            </a:extLst>
          </p:cNvPr>
          <p:cNvSpPr>
            <a:spLocks xmlns:a="http://schemas.openxmlformats.org/drawingml/2006/main" noGrp="1"/>
          </p:cNvSpPr>
          <p:nvPr/>
        </p:nvSpPr>
        <p:spPr>
          <a:xfrm xmlns:a="http://schemas.openxmlformats.org/drawingml/2006/main">
            <a:off x="2781300" y="5276850"/>
            <a:ext cx="8477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17213A"/>
                </a:solidFill>
                <a:latin typeface="Arial"/>
                <a:ea typeface="Arial"/>
                <a:cs typeface="Arial"/>
              </a:defRPr>
            </a:pPr>
            <a:r>
              <a:rPr sz="1350" b="1">
                <a:solidFill>
                  <a:srgbClr val="17213A"/>
                </a:solidFill>
                <a:latin typeface="Arial"/>
                <a:ea typeface="Arial"/>
                <a:cs typeface="Arial"/>
              </a:rPr>
              <a:t>final orientation error   /   robustness to tracking noise   /   representation dimension</a:t>
            </a:r>
          </a:p>
        </p:txBody>
      </p:sp>
      <p:sp>
        <p:nvSpPr>
          <p:cNvPr id="28" name="">
            <a:extLst xmlns:a="http://schemas.openxmlformats.org/drawingml/2006/main">
              <a:ext uri="{FF2B5EF4-FFF2-40B4-BE49-F238E27FC236}">
                <a16:creationId xmlns:a16="http://schemas.microsoft.com/office/drawing/2014/main" id="{C1ABEF2A-139E-4080-B8DD-D5575EF3513B}"/>
              </a:ext>
            </a:extLst>
          </p:cNvPr>
          <p:cNvSpPr>
            <a:spLocks xmlns:a="http://schemas.openxmlformats.org/drawingml/2006/main" noGrp="1"/>
          </p:cNvSpPr>
          <p:nvPr/>
        </p:nvSpPr>
        <p:spPr>
          <a:xfrm xmlns:a="http://schemas.openxmlformats.org/drawingml/2006/main">
            <a:off x="609600" y="6496050"/>
            <a:ext cx="10382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a:solidFill>
                  <a:srgbClr val="62708D"/>
                </a:solidFill>
                <a:latin typeface="Arial"/>
                <a:ea typeface="Arial"/>
                <a:cs typeface="Arial"/>
              </a:defRPr>
            </a:pPr>
            <a:r>
              <a:rPr sz="825" b="0">
                <a:solidFill>
                  <a:srgbClr val="62708D"/>
                </a:solidFill>
                <a:latin typeface="Arial"/>
                <a:ea typeface="Arial"/>
                <a:cs typeface="Arial"/>
              </a:rPr>
              <a:t>Report mean and uncertainty across seeds; use identical evaluation episodes for all conditions.</a:t>
            </a:r>
          </a:p>
        </p:txBody>
      </p:sp>
    </p:spTree>
    <p:extLst>
      <p:ext uri="{BB962C8B-B14F-4D97-AF65-F5344CB8AC3E}">
        <p14:creationId xmlns:p14="http://schemas.microsoft.com/office/powerpoint/2010/main" val="188791838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07DFCF63-883B-4AF3-954A-07C6F21223FD}"/>
              </a:ext>
            </a:extLst>
          </p:cNvPr>
          <p:cNvSpPr>
            <a:spLocks xmlns:a="http://schemas.openxmlformats.org/drawingml/2006/main" noGrp="1"/>
          </p:cNvSpPr>
          <p:nvPr/>
        </p:nvSpPr>
        <p:spPr>
          <a:xfrm xmlns:a="http://schemas.openxmlformats.org/drawingml/2006/main">
            <a:off x="609600" y="4000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B1633"/>
                </a:solidFill>
                <a:latin typeface="Arial"/>
                <a:ea typeface="Arial"/>
                <a:cs typeface="Arial"/>
              </a:defRPr>
            </a:pPr>
            <a:r>
              <a:rPr sz="2550" b="1">
                <a:solidFill>
                  <a:srgbClr val="0B1633"/>
                </a:solidFill>
                <a:latin typeface="Arial"/>
                <a:ea typeface="Arial"/>
                <a:cs typeface="Arial"/>
              </a:rPr>
              <a:t>Twelve-week execution plan and expected contribution</a:t>
            </a:r>
          </a:p>
        </p:txBody>
      </p:sp>
      <p:sp>
        <p:nvSpPr>
          <p:cNvPr id="2" name="">
            <a:extLst xmlns:a="http://schemas.openxmlformats.org/drawingml/2006/main">
              <a:ext uri="{FF2B5EF4-FFF2-40B4-BE49-F238E27FC236}">
                <a16:creationId xmlns:a16="http://schemas.microsoft.com/office/drawing/2014/main" id="{7145EE8C-F738-4A21-B802-B44A75E51849}"/>
              </a:ext>
            </a:extLst>
          </p:cNvPr>
          <p:cNvSpPr>
            <a:spLocks xmlns:a="http://schemas.openxmlformats.org/drawingml/2006/main" noGrp="1"/>
          </p:cNvSpPr>
          <p:nvPr/>
        </p:nvSpPr>
        <p:spPr>
          <a:xfrm xmlns:a="http://schemas.openxmlformats.org/drawingml/2006/main">
            <a:off x="1104900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050" b="1">
                <a:solidFill>
                  <a:srgbClr val="2C67F2"/>
                </a:solidFill>
                <a:latin typeface="Arial"/>
                <a:ea typeface="Arial"/>
                <a:cs typeface="Arial"/>
              </a:defRPr>
            </a:pPr>
            <a:r>
              <a:rPr sz="1050" b="1">
                <a:solidFill>
                  <a:srgbClr val="2C67F2"/>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4EB883B3-4AE3-4442-8DFD-B9C9A84C24BF}"/>
              </a:ext>
            </a:extLst>
          </p:cNvPr>
          <p:cNvSpPr>
            <a:spLocks xmlns:a="http://schemas.openxmlformats.org/drawingml/2006/main" noGrp="1"/>
          </p:cNvSpPr>
          <p:nvPr/>
        </p:nvSpPr>
        <p:spPr>
          <a:xfrm xmlns:a="http://schemas.openxmlformats.org/drawingml/2006/main">
            <a:off x="685800" y="1219200"/>
            <a:ext cx="857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2C67F2"/>
                </a:solidFill>
                <a:latin typeface="Arial"/>
                <a:ea typeface="Arial"/>
                <a:cs typeface="Arial"/>
              </a:defRPr>
            </a:pPr>
            <a:r>
              <a:rPr sz="1875" b="1">
                <a:solidFill>
                  <a:srgbClr val="2C67F2"/>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6BE2712B-2B41-4952-841F-3CE6AF993C70}"/>
              </a:ext>
            </a:extLst>
          </p:cNvPr>
          <p:cNvSpPr>
            <a:spLocks xmlns:a="http://schemas.openxmlformats.org/drawingml/2006/main" noGrp="1"/>
          </p:cNvSpPr>
          <p:nvPr/>
        </p:nvSpPr>
        <p:spPr>
          <a:xfrm xmlns:a="http://schemas.openxmlformats.org/drawingml/2006/main">
            <a:off x="1666875" y="1295400"/>
            <a:ext cx="114300" cy="400050"/>
          </a:xfrm>
          <a:prstGeom xmlns:a="http://schemas.openxmlformats.org/drawingml/2006/main" prst="roundRect">
            <a:avLst>
              <a:gd name="adj" fmla="val 50000"/>
            </a:avLst>
          </a:prstGeom>
          <a:solidFill xmlns:a="http://schemas.openxmlformats.org/drawingml/2006/main">
            <a:srgbClr val="2C67F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6936E92-F84C-4549-85BA-8F59BAB7E89C}"/>
              </a:ext>
            </a:extLst>
          </p:cNvPr>
          <p:cNvSpPr>
            <a:spLocks xmlns:a="http://schemas.openxmlformats.org/drawingml/2006/main" noGrp="1"/>
          </p:cNvSpPr>
          <p:nvPr/>
        </p:nvSpPr>
        <p:spPr>
          <a:xfrm xmlns:a="http://schemas.openxmlformats.org/drawingml/2006/main">
            <a:off x="2047875" y="121920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lgn="l">
              <a:defRPr sz="1500" b="1">
                <a:solidFill>
                  <a:srgbClr val="0B1633"/>
                </a:solidFill>
                <a:latin typeface="Arial"/>
                <a:ea typeface="Arial"/>
                <a:cs typeface="Arial"/>
              </a:defRPr>
            </a:pPr>
            <a:r>
              <a:rPr sz="1500" b="1">
                <a:solidFill>
                  <a:srgbClr val="0B1633"/>
                </a:solidFill>
                <a:latin typeface="Arial"/>
                <a:ea typeface="Arial"/>
                <a:cs typeface="Arial"/>
              </a:rPr>
              <a:t>Build baseline</a:t>
            </a:r>
          </a:p>
        </p:txBody>
      </p:sp>
      <p:sp>
        <p:nvSpPr>
          <p:cNvPr id="6" name="">
            <a:extLst xmlns:a="http://schemas.openxmlformats.org/drawingml/2006/main">
              <a:ext uri="{FF2B5EF4-FFF2-40B4-BE49-F238E27FC236}">
                <a16:creationId xmlns:a16="http://schemas.microsoft.com/office/drawing/2014/main" id="{990851EE-46BF-4874-A3B9-7C87AF724F9D}"/>
              </a:ext>
            </a:extLst>
          </p:cNvPr>
          <p:cNvSpPr>
            <a:spLocks xmlns:a="http://schemas.openxmlformats.org/drawingml/2006/main" noGrp="1"/>
          </p:cNvSpPr>
          <p:nvPr/>
        </p:nvSpPr>
        <p:spPr>
          <a:xfrm xmlns:a="http://schemas.openxmlformats.org/drawingml/2006/main">
            <a:off x="4476750" y="1219200"/>
            <a:ext cx="676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3A"/>
                </a:solidFill>
                <a:latin typeface="Arial"/>
                <a:ea typeface="Arial"/>
                <a:cs typeface="Arial"/>
              </a:defRPr>
            </a:pPr>
            <a:r>
              <a:rPr sz="1350" b="0">
                <a:solidFill>
                  <a:srgbClr val="17213A"/>
                </a:solidFill>
                <a:latin typeface="Arial"/>
                <a:ea typeface="Arial"/>
                <a:cs typeface="Arial"/>
              </a:rPr>
              <a:t>RL/PPO, Isaac Lab, Allegro task, object-only</a:t>
            </a:r>
          </a:p>
        </p:txBody>
      </p:sp>
      <p:sp>
        <p:nvSpPr>
          <p:cNvPr id="7" name="">
            <a:extLst xmlns:a="http://schemas.openxmlformats.org/drawingml/2006/main">
              <a:ext uri="{FF2B5EF4-FFF2-40B4-BE49-F238E27FC236}">
                <a16:creationId xmlns:a16="http://schemas.microsoft.com/office/drawing/2014/main" id="{A358EB18-82C8-416C-A9CD-12BFC880CA6C}"/>
              </a:ext>
            </a:extLst>
          </p:cNvPr>
          <p:cNvSpPr>
            <a:spLocks xmlns:a="http://schemas.openxmlformats.org/drawingml/2006/main" noGrp="1"/>
          </p:cNvSpPr>
          <p:nvPr/>
        </p:nvSpPr>
        <p:spPr>
          <a:xfrm xmlns:a="http://schemas.openxmlformats.org/drawingml/2006/main">
            <a:off x="685800" y="2076450"/>
            <a:ext cx="857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2C67F2"/>
                </a:solidFill>
                <a:latin typeface="Arial"/>
                <a:ea typeface="Arial"/>
                <a:cs typeface="Arial"/>
              </a:defRPr>
            </a:pPr>
            <a:r>
              <a:rPr sz="1875" b="1">
                <a:solidFill>
                  <a:srgbClr val="2C67F2"/>
                </a:solidFill>
                <a:latin typeface="Arial"/>
                <a:ea typeface="Arial"/>
                <a:cs typeface="Arial"/>
              </a:rPr>
              <a:t>4–6</a:t>
            </a:r>
          </a:p>
        </p:txBody>
      </p:sp>
      <p:sp>
        <p:nvSpPr>
          <p:cNvPr id="8" name="">
            <a:extLst xmlns:a="http://schemas.openxmlformats.org/drawingml/2006/main">
              <a:ext uri="{FF2B5EF4-FFF2-40B4-BE49-F238E27FC236}">
                <a16:creationId xmlns:a16="http://schemas.microsoft.com/office/drawing/2014/main" id="{A2B331FD-007A-493C-AC90-953E17C0885B}"/>
              </a:ext>
            </a:extLst>
          </p:cNvPr>
          <p:cNvSpPr>
            <a:spLocks xmlns:a="http://schemas.openxmlformats.org/drawingml/2006/main" noGrp="1"/>
          </p:cNvSpPr>
          <p:nvPr/>
        </p:nvSpPr>
        <p:spPr>
          <a:xfrm xmlns:a="http://schemas.openxmlformats.org/drawingml/2006/main">
            <a:off x="1666875" y="2152650"/>
            <a:ext cx="114300" cy="400050"/>
          </a:xfrm>
          <a:prstGeom xmlns:a="http://schemas.openxmlformats.org/drawingml/2006/main" prst="roundRect">
            <a:avLst>
              <a:gd name="adj" fmla="val 50000"/>
            </a:avLst>
          </a:prstGeom>
          <a:solidFill xmlns:a="http://schemas.openxmlformats.org/drawingml/2006/main">
            <a:srgbClr val="2C67F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2655645-D2FB-485F-B85A-9093DA83D3BA}"/>
              </a:ext>
            </a:extLst>
          </p:cNvPr>
          <p:cNvSpPr>
            <a:spLocks xmlns:a="http://schemas.openxmlformats.org/drawingml/2006/main" noGrp="1"/>
          </p:cNvSpPr>
          <p:nvPr/>
        </p:nvSpPr>
        <p:spPr>
          <a:xfrm xmlns:a="http://schemas.openxmlformats.org/drawingml/2006/main">
            <a:off x="2047875" y="20764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lgn="l">
              <a:defRPr sz="1500" b="1">
                <a:solidFill>
                  <a:srgbClr val="0B1633"/>
                </a:solidFill>
                <a:latin typeface="Arial"/>
                <a:ea typeface="Arial"/>
                <a:cs typeface="Arial"/>
              </a:defRPr>
            </a:pPr>
            <a:r>
              <a:rPr sz="1500" b="1">
                <a:solidFill>
                  <a:srgbClr val="0B1633"/>
                </a:solidFill>
                <a:latin typeface="Arial"/>
                <a:ea typeface="Arial"/>
                <a:cs typeface="Arial"/>
              </a:rPr>
              <a:t>Add intent</a:t>
            </a:r>
          </a:p>
        </p:txBody>
      </p:sp>
      <p:sp>
        <p:nvSpPr>
          <p:cNvPr id="10" name="">
            <a:extLst xmlns:a="http://schemas.openxmlformats.org/drawingml/2006/main">
              <a:ext uri="{FF2B5EF4-FFF2-40B4-BE49-F238E27FC236}">
                <a16:creationId xmlns:a16="http://schemas.microsoft.com/office/drawing/2014/main" id="{66D3BE88-8F2E-479C-8007-3DF7389DFB65}"/>
              </a:ext>
            </a:extLst>
          </p:cNvPr>
          <p:cNvSpPr>
            <a:spLocks xmlns:a="http://schemas.openxmlformats.org/drawingml/2006/main" noGrp="1"/>
          </p:cNvSpPr>
          <p:nvPr/>
        </p:nvSpPr>
        <p:spPr>
          <a:xfrm xmlns:a="http://schemas.openxmlformats.org/drawingml/2006/main">
            <a:off x="4476750" y="2076450"/>
            <a:ext cx="676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3A"/>
                </a:solidFill>
                <a:latin typeface="Arial"/>
                <a:ea typeface="Arial"/>
                <a:cs typeface="Arial"/>
              </a:defRPr>
            </a:pPr>
            <a:r>
              <a:rPr sz="1350" b="0">
                <a:solidFill>
                  <a:srgbClr val="17213A"/>
                </a:solidFill>
                <a:latin typeface="Arial"/>
                <a:ea typeface="Arial"/>
                <a:cs typeface="Arial"/>
              </a:rPr>
              <a:t>Quest preprocessing, fingertips, PCA synergy</a:t>
            </a:r>
          </a:p>
        </p:txBody>
      </p:sp>
      <p:sp>
        <p:nvSpPr>
          <p:cNvPr id="11" name="">
            <a:extLst xmlns:a="http://schemas.openxmlformats.org/drawingml/2006/main">
              <a:ext uri="{FF2B5EF4-FFF2-40B4-BE49-F238E27FC236}">
                <a16:creationId xmlns:a16="http://schemas.microsoft.com/office/drawing/2014/main" id="{8A2A131B-EAC4-45F6-85FA-84786567A1FE}"/>
              </a:ext>
            </a:extLst>
          </p:cNvPr>
          <p:cNvSpPr>
            <a:spLocks xmlns:a="http://schemas.openxmlformats.org/drawingml/2006/main" noGrp="1"/>
          </p:cNvSpPr>
          <p:nvPr/>
        </p:nvSpPr>
        <p:spPr>
          <a:xfrm xmlns:a="http://schemas.openxmlformats.org/drawingml/2006/main">
            <a:off x="685800" y="2933700"/>
            <a:ext cx="857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8A5B"/>
                </a:solidFill>
                <a:latin typeface="Arial"/>
                <a:ea typeface="Arial"/>
                <a:cs typeface="Arial"/>
              </a:defRPr>
            </a:pPr>
            <a:r>
              <a:rPr sz="1875" b="1">
                <a:solidFill>
                  <a:srgbClr val="FF8A5B"/>
                </a:solidFill>
                <a:latin typeface="Arial"/>
                <a:ea typeface="Arial"/>
                <a:cs typeface="Arial"/>
              </a:rPr>
              <a:t>7–10</a:t>
            </a:r>
          </a:p>
        </p:txBody>
      </p:sp>
      <p:sp>
        <p:nvSpPr>
          <p:cNvPr id="12" name="">
            <a:extLst xmlns:a="http://schemas.openxmlformats.org/drawingml/2006/main">
              <a:ext uri="{FF2B5EF4-FFF2-40B4-BE49-F238E27FC236}">
                <a16:creationId xmlns:a16="http://schemas.microsoft.com/office/drawing/2014/main" id="{F6B4BA96-D3B6-4327-9590-CCFAA30D01F3}"/>
              </a:ext>
            </a:extLst>
          </p:cNvPr>
          <p:cNvSpPr>
            <a:spLocks xmlns:a="http://schemas.openxmlformats.org/drawingml/2006/main" noGrp="1"/>
          </p:cNvSpPr>
          <p:nvPr/>
        </p:nvSpPr>
        <p:spPr>
          <a:xfrm xmlns:a="http://schemas.openxmlformats.org/drawingml/2006/main">
            <a:off x="1666875" y="3009900"/>
            <a:ext cx="114300" cy="400050"/>
          </a:xfrm>
          <a:prstGeom xmlns:a="http://schemas.openxmlformats.org/drawingml/2006/main" prst="roundRect">
            <a:avLst>
              <a:gd name="adj" fmla="val 50000"/>
            </a:avLst>
          </a:prstGeom>
          <a:solidFill xmlns:a="http://schemas.openxmlformats.org/drawingml/2006/main">
            <a:srgbClr val="FF8A5B"/>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5C29C1F-F862-4D0B-B3A3-BAA25481940F}"/>
              </a:ext>
            </a:extLst>
          </p:cNvPr>
          <p:cNvSpPr>
            <a:spLocks xmlns:a="http://schemas.openxmlformats.org/drawingml/2006/main" noGrp="1"/>
          </p:cNvSpPr>
          <p:nvPr/>
        </p:nvSpPr>
        <p:spPr>
          <a:xfrm xmlns:a="http://schemas.openxmlformats.org/drawingml/2006/main">
            <a:off x="2047875" y="293370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lgn="l">
              <a:defRPr sz="1500" b="1">
                <a:solidFill>
                  <a:srgbClr val="0B1633"/>
                </a:solidFill>
                <a:latin typeface="Arial"/>
                <a:ea typeface="Arial"/>
                <a:cs typeface="Arial"/>
              </a:defRPr>
            </a:pPr>
            <a:r>
              <a:rPr sz="1500" b="1">
                <a:solidFill>
                  <a:srgbClr val="0B1633"/>
                </a:solidFill>
                <a:latin typeface="Arial"/>
                <a:ea typeface="Arial"/>
                <a:cs typeface="Arial"/>
              </a:rPr>
              <a:t>Run study</a:t>
            </a:r>
          </a:p>
        </p:txBody>
      </p:sp>
      <p:sp>
        <p:nvSpPr>
          <p:cNvPr id="14" name="">
            <a:extLst xmlns:a="http://schemas.openxmlformats.org/drawingml/2006/main">
              <a:ext uri="{FF2B5EF4-FFF2-40B4-BE49-F238E27FC236}">
                <a16:creationId xmlns:a16="http://schemas.microsoft.com/office/drawing/2014/main" id="{4AF656EA-FD27-491D-A783-261D0E05DF2C}"/>
              </a:ext>
            </a:extLst>
          </p:cNvPr>
          <p:cNvSpPr>
            <a:spLocks xmlns:a="http://schemas.openxmlformats.org/drawingml/2006/main" noGrp="1"/>
          </p:cNvSpPr>
          <p:nvPr/>
        </p:nvSpPr>
        <p:spPr>
          <a:xfrm xmlns:a="http://schemas.openxmlformats.org/drawingml/2006/main">
            <a:off x="4476750" y="2933700"/>
            <a:ext cx="676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3A"/>
                </a:solidFill>
                <a:latin typeface="Arial"/>
                <a:ea typeface="Arial"/>
                <a:cs typeface="Arial"/>
              </a:defRPr>
            </a:pPr>
            <a:r>
              <a:rPr sz="1350" b="0">
                <a:solidFill>
                  <a:srgbClr val="17213A"/>
                </a:solidFill>
                <a:latin typeface="Arial"/>
                <a:ea typeface="Arial"/>
                <a:cs typeface="Arial"/>
              </a:rPr>
              <a:t>Freeze setup, full-hand baseline, multi-seed runs, ablation</a:t>
            </a:r>
          </a:p>
        </p:txBody>
      </p:sp>
      <p:sp>
        <p:nvSpPr>
          <p:cNvPr id="15" name="">
            <a:extLst xmlns:a="http://schemas.openxmlformats.org/drawingml/2006/main">
              <a:ext uri="{FF2B5EF4-FFF2-40B4-BE49-F238E27FC236}">
                <a16:creationId xmlns:a16="http://schemas.microsoft.com/office/drawing/2014/main" id="{CF0FFF12-961C-40D8-911D-1D446152EDF9}"/>
              </a:ext>
            </a:extLst>
          </p:cNvPr>
          <p:cNvSpPr>
            <a:spLocks xmlns:a="http://schemas.openxmlformats.org/drawingml/2006/main" noGrp="1"/>
          </p:cNvSpPr>
          <p:nvPr/>
        </p:nvSpPr>
        <p:spPr>
          <a:xfrm xmlns:a="http://schemas.openxmlformats.org/drawingml/2006/main">
            <a:off x="685800" y="3790950"/>
            <a:ext cx="857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2C67F2"/>
                </a:solidFill>
                <a:latin typeface="Arial"/>
                <a:ea typeface="Arial"/>
                <a:cs typeface="Arial"/>
              </a:defRPr>
            </a:pPr>
            <a:r>
              <a:rPr sz="1875" b="1">
                <a:solidFill>
                  <a:srgbClr val="2C67F2"/>
                </a:solidFill>
                <a:latin typeface="Arial"/>
                <a:ea typeface="Arial"/>
                <a:cs typeface="Arial"/>
              </a:rPr>
              <a:t>11–12</a:t>
            </a:r>
          </a:p>
        </p:txBody>
      </p:sp>
      <p:sp>
        <p:nvSpPr>
          <p:cNvPr id="16" name="">
            <a:extLst xmlns:a="http://schemas.openxmlformats.org/drawingml/2006/main">
              <a:ext uri="{FF2B5EF4-FFF2-40B4-BE49-F238E27FC236}">
                <a16:creationId xmlns:a16="http://schemas.microsoft.com/office/drawing/2014/main" id="{041C6C1A-339A-4A46-ACC4-8F607844131E}"/>
              </a:ext>
            </a:extLst>
          </p:cNvPr>
          <p:cNvSpPr>
            <a:spLocks xmlns:a="http://schemas.openxmlformats.org/drawingml/2006/main" noGrp="1"/>
          </p:cNvSpPr>
          <p:nvPr/>
        </p:nvSpPr>
        <p:spPr>
          <a:xfrm xmlns:a="http://schemas.openxmlformats.org/drawingml/2006/main">
            <a:off x="1666875" y="3867150"/>
            <a:ext cx="114300" cy="400050"/>
          </a:xfrm>
          <a:prstGeom xmlns:a="http://schemas.openxmlformats.org/drawingml/2006/main" prst="roundRect">
            <a:avLst>
              <a:gd name="adj" fmla="val 50000"/>
            </a:avLst>
          </a:prstGeom>
          <a:solidFill xmlns:a="http://schemas.openxmlformats.org/drawingml/2006/main">
            <a:srgbClr val="2C67F2"/>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AC37FD0-A356-497D-ABFA-8E8FD240887C}"/>
              </a:ext>
            </a:extLst>
          </p:cNvPr>
          <p:cNvSpPr>
            <a:spLocks xmlns:a="http://schemas.openxmlformats.org/drawingml/2006/main" noGrp="1"/>
          </p:cNvSpPr>
          <p:nvPr/>
        </p:nvSpPr>
        <p:spPr>
          <a:xfrm xmlns:a="http://schemas.openxmlformats.org/drawingml/2006/main">
            <a:off x="2047875" y="37909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lgn="l">
              <a:defRPr sz="1500" b="1">
                <a:solidFill>
                  <a:srgbClr val="0B1633"/>
                </a:solidFill>
                <a:latin typeface="Arial"/>
                <a:ea typeface="Arial"/>
                <a:cs typeface="Arial"/>
              </a:defRPr>
            </a:pPr>
            <a:r>
              <a:rPr sz="1500" b="1">
                <a:solidFill>
                  <a:srgbClr val="0B1633"/>
                </a:solidFill>
                <a:latin typeface="Arial"/>
                <a:ea typeface="Arial"/>
                <a:cs typeface="Arial"/>
              </a:rPr>
              <a:t>Validate and report</a:t>
            </a:r>
          </a:p>
        </p:txBody>
      </p:sp>
      <p:sp>
        <p:nvSpPr>
          <p:cNvPr id="18" name="">
            <a:extLst xmlns:a="http://schemas.openxmlformats.org/drawingml/2006/main">
              <a:ext uri="{FF2B5EF4-FFF2-40B4-BE49-F238E27FC236}">
                <a16:creationId xmlns:a16="http://schemas.microsoft.com/office/drawing/2014/main" id="{6C54C167-83E7-49F4-B8A4-8E3CBD6E268F}"/>
              </a:ext>
            </a:extLst>
          </p:cNvPr>
          <p:cNvSpPr>
            <a:spLocks xmlns:a="http://schemas.openxmlformats.org/drawingml/2006/main" noGrp="1"/>
          </p:cNvSpPr>
          <p:nvPr/>
        </p:nvSpPr>
        <p:spPr>
          <a:xfrm xmlns:a="http://schemas.openxmlformats.org/drawingml/2006/main">
            <a:off x="4476750" y="3790950"/>
            <a:ext cx="676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3A"/>
                </a:solidFill>
                <a:latin typeface="Arial"/>
                <a:ea typeface="Arial"/>
                <a:cs typeface="Arial"/>
              </a:defRPr>
            </a:pPr>
            <a:r>
              <a:rPr sz="1350" b="0">
                <a:solidFill>
                  <a:srgbClr val="17213A"/>
                </a:solidFill>
                <a:latin typeface="Arial"/>
                <a:ea typeface="Arial"/>
                <a:cs typeface="Arial"/>
              </a:rPr>
              <a:t>Real-data replay or demo, analysis, presentation</a:t>
            </a:r>
          </a:p>
        </p:txBody>
      </p:sp>
      <p:sp>
        <p:nvSpPr>
          <p:cNvPr id="19" name="">
            <a:extLst xmlns:a="http://schemas.openxmlformats.org/drawingml/2006/main">
              <a:ext uri="{FF2B5EF4-FFF2-40B4-BE49-F238E27FC236}">
                <a16:creationId xmlns:a16="http://schemas.microsoft.com/office/drawing/2014/main" id="{00075855-A18D-4A27-A1E6-1544287294A1}"/>
              </a:ext>
            </a:extLst>
          </p:cNvPr>
          <p:cNvSpPr>
            <a:spLocks xmlns:a="http://schemas.openxmlformats.org/drawingml/2006/main" noGrp="1"/>
          </p:cNvSpPr>
          <p:nvPr/>
        </p:nvSpPr>
        <p:spPr>
          <a:xfrm xmlns:a="http://schemas.openxmlformats.org/drawingml/2006/main">
            <a:off x="685800" y="4762500"/>
            <a:ext cx="10858500" cy="9525"/>
          </a:xfrm>
          <a:prstGeom xmlns:a="http://schemas.openxmlformats.org/drawingml/2006/main" prst="rect">
            <a:avLst/>
          </a:prstGeom>
          <a:solidFill xmlns:a="http://schemas.openxmlformats.org/drawingml/2006/main">
            <a:srgbClr val="D9E0EC"/>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3A15667A-192D-4E78-9901-68F839A28C23}"/>
              </a:ext>
            </a:extLst>
          </p:cNvPr>
          <p:cNvSpPr>
            <a:spLocks xmlns:a="http://schemas.openxmlformats.org/drawingml/2006/main" noGrp="1"/>
          </p:cNvSpPr>
          <p:nvPr/>
        </p:nvSpPr>
        <p:spPr>
          <a:xfrm xmlns:a="http://schemas.openxmlformats.org/drawingml/2006/main">
            <a:off x="685800" y="5029200"/>
            <a:ext cx="266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0B1633"/>
                </a:solidFill>
                <a:latin typeface="Arial"/>
                <a:ea typeface="Arial"/>
                <a:cs typeface="Arial"/>
              </a:defRPr>
            </a:pPr>
            <a:r>
              <a:rPr sz="1650" b="1">
                <a:solidFill>
                  <a:srgbClr val="0B1633"/>
                </a:solidFill>
                <a:latin typeface="Arial"/>
                <a:ea typeface="Arial"/>
                <a:cs typeface="Arial"/>
              </a:rPr>
              <a:t>Expected contribution</a:t>
            </a:r>
          </a:p>
        </p:txBody>
      </p:sp>
      <p:sp>
        <p:nvSpPr>
          <p:cNvPr id="21" name="">
            <a:extLst xmlns:a="http://schemas.openxmlformats.org/drawingml/2006/main">
              <a:ext uri="{FF2B5EF4-FFF2-40B4-BE49-F238E27FC236}">
                <a16:creationId xmlns:a16="http://schemas.microsoft.com/office/drawing/2014/main" id="{CE283971-655D-43A4-BCD0-DB4216309487}"/>
              </a:ext>
            </a:extLst>
          </p:cNvPr>
          <p:cNvSpPr>
            <a:spLocks xmlns:a="http://schemas.openxmlformats.org/drawingml/2006/main" noGrp="1"/>
          </p:cNvSpPr>
          <p:nvPr/>
        </p:nvSpPr>
        <p:spPr>
          <a:xfrm xmlns:a="http://schemas.openxmlformats.org/drawingml/2006/main">
            <a:off x="3667125" y="4991100"/>
            <a:ext cx="342900" cy="342900"/>
          </a:xfrm>
          <a:prstGeom xmlns:a="http://schemas.openxmlformats.org/drawingml/2006/main" prst="roundRect">
            <a:avLst>
              <a:gd name="adj" fmla="val 50000"/>
            </a:avLst>
          </a:prstGeom>
          <a:solidFill xmlns:a="http://schemas.openxmlformats.org/drawingml/2006/main">
            <a:srgbClr val="2C67F2"/>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A4BD93AF-F1B5-4C81-B8AF-001DF1821838}"/>
              </a:ext>
            </a:extLst>
          </p:cNvPr>
          <p:cNvSpPr>
            <a:spLocks xmlns:a="http://schemas.openxmlformats.org/drawingml/2006/main" noGrp="1"/>
          </p:cNvSpPr>
          <p:nvPr/>
        </p:nvSpPr>
        <p:spPr>
          <a:xfrm xmlns:a="http://schemas.openxmlformats.org/drawingml/2006/main">
            <a:off x="3667125" y="49911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1</a:t>
            </a:r>
          </a:p>
        </p:txBody>
      </p:sp>
      <p:sp>
        <p:nvSpPr>
          <p:cNvPr id="23" name="">
            <a:extLst xmlns:a="http://schemas.openxmlformats.org/drawingml/2006/main">
              <a:ext uri="{FF2B5EF4-FFF2-40B4-BE49-F238E27FC236}">
                <a16:creationId xmlns:a16="http://schemas.microsoft.com/office/drawing/2014/main" id="{E791D822-12E8-45D3-9098-8836DA06E7F2}"/>
              </a:ext>
            </a:extLst>
          </p:cNvPr>
          <p:cNvSpPr>
            <a:spLocks xmlns:a="http://schemas.openxmlformats.org/drawingml/2006/main" noGrp="1"/>
          </p:cNvSpPr>
          <p:nvPr/>
        </p:nvSpPr>
        <p:spPr>
          <a:xfrm xmlns:a="http://schemas.openxmlformats.org/drawingml/2006/main">
            <a:off x="3667125" y="5391150"/>
            <a:ext cx="2238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693"/>
          </a:bodyPr>
          <a:lstStyle xmlns:a="http://schemas.openxmlformats.org/drawingml/2006/main"/>
          <a:p xmlns:a="http://schemas.openxmlformats.org/drawingml/2006/main">
            <a:pPr algn="ctr">
              <a:defRPr sz="1275" b="1">
                <a:solidFill>
                  <a:srgbClr val="17213A"/>
                </a:solidFill>
                <a:latin typeface="Arial"/>
                <a:ea typeface="Arial"/>
                <a:cs typeface="Arial"/>
              </a:defRPr>
            </a:pPr>
            <a:r>
              <a:rPr sz="1275" b="1">
                <a:solidFill>
                  <a:srgbClr val="17213A"/>
                </a:solidFill>
                <a:latin typeface="Arial"/>
                <a:ea typeface="Arial"/>
                <a:cs typeface="Arial"/>
              </a:rPr>
              <a:t>Controlled evidence on the value of intermediate manipulation intent</a:t>
            </a:r>
          </a:p>
        </p:txBody>
      </p:sp>
      <p:sp>
        <p:nvSpPr>
          <p:cNvPr id="24" name="">
            <a:extLst xmlns:a="http://schemas.openxmlformats.org/drawingml/2006/main">
              <a:ext uri="{FF2B5EF4-FFF2-40B4-BE49-F238E27FC236}">
                <a16:creationId xmlns:a16="http://schemas.microsoft.com/office/drawing/2014/main" id="{2B25C4DD-4CFB-4E36-86AA-FEBD6A04C7AC}"/>
              </a:ext>
            </a:extLst>
          </p:cNvPr>
          <p:cNvSpPr>
            <a:spLocks xmlns:a="http://schemas.openxmlformats.org/drawingml/2006/main" noGrp="1"/>
          </p:cNvSpPr>
          <p:nvPr/>
        </p:nvSpPr>
        <p:spPr>
          <a:xfrm xmlns:a="http://schemas.openxmlformats.org/drawingml/2006/main">
            <a:off x="6219825" y="4991100"/>
            <a:ext cx="342900" cy="342900"/>
          </a:xfrm>
          <a:prstGeom xmlns:a="http://schemas.openxmlformats.org/drawingml/2006/main" prst="roundRect">
            <a:avLst>
              <a:gd name="adj" fmla="val 50000"/>
            </a:avLst>
          </a:prstGeom>
          <a:solidFill xmlns:a="http://schemas.openxmlformats.org/drawingml/2006/main">
            <a:srgbClr val="FF8A5B"/>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D7E834EF-5876-4392-A469-38C23F4AFA23}"/>
              </a:ext>
            </a:extLst>
          </p:cNvPr>
          <p:cNvSpPr>
            <a:spLocks xmlns:a="http://schemas.openxmlformats.org/drawingml/2006/main" noGrp="1"/>
          </p:cNvSpPr>
          <p:nvPr/>
        </p:nvSpPr>
        <p:spPr>
          <a:xfrm xmlns:a="http://schemas.openxmlformats.org/drawingml/2006/main">
            <a:off x="6219825" y="49911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2</a:t>
            </a:r>
          </a:p>
        </p:txBody>
      </p:sp>
      <p:sp>
        <p:nvSpPr>
          <p:cNvPr id="26" name="">
            <a:extLst xmlns:a="http://schemas.openxmlformats.org/drawingml/2006/main">
              <a:ext uri="{FF2B5EF4-FFF2-40B4-BE49-F238E27FC236}">
                <a16:creationId xmlns:a16="http://schemas.microsoft.com/office/drawing/2014/main" id="{1B7FD01D-7402-4CFF-919E-D8CBED97C818}"/>
              </a:ext>
            </a:extLst>
          </p:cNvPr>
          <p:cNvSpPr>
            <a:spLocks xmlns:a="http://schemas.openxmlformats.org/drawingml/2006/main" noGrp="1"/>
          </p:cNvSpPr>
          <p:nvPr/>
        </p:nvSpPr>
        <p:spPr>
          <a:xfrm xmlns:a="http://schemas.openxmlformats.org/drawingml/2006/main">
            <a:off x="6219825" y="5391150"/>
            <a:ext cx="2238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693"/>
          </a:bodyPr>
          <a:lstStyle xmlns:a="http://schemas.openxmlformats.org/drawingml/2006/main"/>
          <a:p xmlns:a="http://schemas.openxmlformats.org/drawingml/2006/main">
            <a:pPr algn="ctr">
              <a:defRPr sz="1275" b="1">
                <a:solidFill>
                  <a:srgbClr val="17213A"/>
                </a:solidFill>
                <a:latin typeface="Arial"/>
                <a:ea typeface="Arial"/>
                <a:cs typeface="Arial"/>
              </a:defRPr>
            </a:pPr>
            <a:r>
              <a:rPr sz="1275" b="1">
                <a:solidFill>
                  <a:srgbClr val="17213A"/>
                </a:solidFill>
                <a:latin typeface="Arial"/>
                <a:ea typeface="Arial"/>
                <a:cs typeface="Arial"/>
              </a:rPr>
              <a:t>A compression test for low-dimensional hand synergies</a:t>
            </a:r>
          </a:p>
        </p:txBody>
      </p:sp>
      <p:sp>
        <p:nvSpPr>
          <p:cNvPr id="27" name="">
            <a:extLst xmlns:a="http://schemas.openxmlformats.org/drawingml/2006/main">
              <a:ext uri="{FF2B5EF4-FFF2-40B4-BE49-F238E27FC236}">
                <a16:creationId xmlns:a16="http://schemas.microsoft.com/office/drawing/2014/main" id="{A59B4920-1478-440C-8CF5-A0A483F5B992}"/>
              </a:ext>
            </a:extLst>
          </p:cNvPr>
          <p:cNvSpPr>
            <a:spLocks xmlns:a="http://schemas.openxmlformats.org/drawingml/2006/main" noGrp="1"/>
          </p:cNvSpPr>
          <p:nvPr/>
        </p:nvSpPr>
        <p:spPr>
          <a:xfrm xmlns:a="http://schemas.openxmlformats.org/drawingml/2006/main">
            <a:off x="8772525" y="4991100"/>
            <a:ext cx="342900" cy="342900"/>
          </a:xfrm>
          <a:prstGeom xmlns:a="http://schemas.openxmlformats.org/drawingml/2006/main" prst="roundRect">
            <a:avLst>
              <a:gd name="adj" fmla="val 50000"/>
            </a:avLst>
          </a:prstGeom>
          <a:solidFill xmlns:a="http://schemas.openxmlformats.org/drawingml/2006/main">
            <a:srgbClr val="28B78D"/>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313ECB1B-96DD-42EE-A159-77522771E475}"/>
              </a:ext>
            </a:extLst>
          </p:cNvPr>
          <p:cNvSpPr>
            <a:spLocks xmlns:a="http://schemas.openxmlformats.org/drawingml/2006/main" noGrp="1"/>
          </p:cNvSpPr>
          <p:nvPr/>
        </p:nvSpPr>
        <p:spPr>
          <a:xfrm xmlns:a="http://schemas.openxmlformats.org/drawingml/2006/main">
            <a:off x="8772525" y="49911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3</a:t>
            </a:r>
          </a:p>
        </p:txBody>
      </p:sp>
      <p:sp>
        <p:nvSpPr>
          <p:cNvPr id="29" name="">
            <a:extLst xmlns:a="http://schemas.openxmlformats.org/drawingml/2006/main">
              <a:ext uri="{FF2B5EF4-FFF2-40B4-BE49-F238E27FC236}">
                <a16:creationId xmlns:a16="http://schemas.microsoft.com/office/drawing/2014/main" id="{693367CE-3BF0-4FFC-851A-A3E94C65E1CA}"/>
              </a:ext>
            </a:extLst>
          </p:cNvPr>
          <p:cNvSpPr>
            <a:spLocks xmlns:a="http://schemas.openxmlformats.org/drawingml/2006/main" noGrp="1"/>
          </p:cNvSpPr>
          <p:nvPr/>
        </p:nvSpPr>
        <p:spPr>
          <a:xfrm xmlns:a="http://schemas.openxmlformats.org/drawingml/2006/main">
            <a:off x="8772525" y="5391150"/>
            <a:ext cx="2238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650"/>
          </a:bodyPr>
          <a:lstStyle xmlns:a="http://schemas.openxmlformats.org/drawingml/2006/main"/>
          <a:p xmlns:a="http://schemas.openxmlformats.org/drawingml/2006/main">
            <a:pPr algn="ctr">
              <a:defRPr sz="1275" b="1">
                <a:solidFill>
                  <a:srgbClr val="17213A"/>
                </a:solidFill>
                <a:latin typeface="Arial"/>
                <a:ea typeface="Arial"/>
                <a:cs typeface="Arial"/>
              </a:defRPr>
            </a:pPr>
            <a:r>
              <a:rPr sz="1275" b="1">
                <a:solidFill>
                  <a:srgbClr val="17213A"/>
                </a:solidFill>
                <a:latin typeface="Arial"/>
                <a:ea typeface="Arial"/>
                <a:cs typeface="Arial"/>
              </a:rPr>
              <a:t>A candidate interface between task-level language and high-dimensional control</a:t>
            </a:r>
          </a:p>
        </p:txBody>
      </p:sp>
      <p:sp>
        <p:nvSpPr>
          <p:cNvPr id="30" name="">
            <a:extLst xmlns:a="http://schemas.openxmlformats.org/drawingml/2006/main">
              <a:ext uri="{FF2B5EF4-FFF2-40B4-BE49-F238E27FC236}">
                <a16:creationId xmlns:a16="http://schemas.microsoft.com/office/drawing/2014/main" id="{9FC56CBA-0C9C-469D-8211-16E3F1167C14}"/>
              </a:ext>
            </a:extLst>
          </p:cNvPr>
          <p:cNvSpPr>
            <a:spLocks xmlns:a="http://schemas.openxmlformats.org/drawingml/2006/main" noGrp="1"/>
          </p:cNvSpPr>
          <p:nvPr/>
        </p:nvSpPr>
        <p:spPr>
          <a:xfrm xmlns:a="http://schemas.openxmlformats.org/drawingml/2006/main">
            <a:off x="609600" y="6496050"/>
            <a:ext cx="10382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a:solidFill>
                  <a:srgbClr val="62708D"/>
                </a:solidFill>
                <a:latin typeface="Arial"/>
                <a:ea typeface="Arial"/>
                <a:cs typeface="Arial"/>
              </a:defRPr>
            </a:pPr>
            <a:r>
              <a:rPr sz="825" b="0">
                <a:solidFill>
                  <a:srgbClr val="62708D"/>
                </a:solidFill>
                <a:latin typeface="Arial"/>
                <a:ea typeface="Arial"/>
                <a:cs typeface="Arial"/>
              </a:rPr>
              <a:t>Primary cluster window: weeks 7–10. Local GPU work covers setup, debugging and single-seed pilots.</a:t>
            </a:r>
          </a:p>
        </p:txBody>
      </p:sp>
    </p:spTree>
    <p:extLst>
      <p:ext uri="{BB962C8B-B14F-4D97-AF65-F5344CB8AC3E}">
        <p14:creationId xmlns:p14="http://schemas.microsoft.com/office/powerpoint/2010/main" val="16408818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2026-09-19T03:42:44.6900000Z</dcterms:created>
  <dcterms:modified xsi:type="dcterms:W3CDTF">2026-09-19T03:42:44.6900000Z</dcterms:modified>
</coreProperties>
</file>